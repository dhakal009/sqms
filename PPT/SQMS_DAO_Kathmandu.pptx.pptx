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37.png" ContentType="image/png"/>
  <Override PartName="/ppt/media/image15.png" ContentType="image/png"/>
  <Override PartName="/ppt/media/image6.png" ContentType="image/png"/>
  <Override PartName="/ppt/media/image38.png" ContentType="image/png"/>
  <Override PartName="/ppt/media/image1.png" ContentType="image/png"/>
  <Override PartName="/ppt/media/image33.png" ContentType="image/png"/>
  <Override PartName="/ppt/media/image10.png" ContentType="image/png"/>
  <Override PartName="/ppt/media/image47.png" ContentType="image/png"/>
  <Override PartName="/ppt/media/image16.png" ContentType="image/png"/>
  <Override PartName="/ppt/media/image7.png" ContentType="image/png"/>
  <Override PartName="/ppt/media/image39.png" ContentType="image/png"/>
  <Override PartName="/ppt/media/image2.png" ContentType="image/png"/>
  <Override PartName="/ppt/media/image34.png" ContentType="image/png"/>
  <Override PartName="/ppt/media/image11.png" ContentType="image/png"/>
  <Override PartName="/ppt/media/image48.png" ContentType="image/png"/>
  <Override PartName="/ppt/media/image45.png" ContentType="image/png"/>
  <Override PartName="/ppt/media/image46.png" ContentType="image/png"/>
  <Override PartName="/ppt/media/image50.png" ContentType="image/png"/>
  <Override PartName="/ppt/media/image13.png" ContentType="image/png"/>
  <Override PartName="/ppt/media/image51.png" ContentType="image/png"/>
  <Override PartName="/ppt/media/image52.png" ContentType="image/png"/>
  <Override PartName="/ppt/media/image41.png" ContentType="image/png"/>
  <Override PartName="/ppt/media/image53.png" ContentType="image/png"/>
  <Override PartName="/ppt/media/image42.png" ContentType="image/png"/>
  <Override PartName="/ppt/media/image54.png" ContentType="image/png"/>
  <Override PartName="/ppt/media/image8.png" ContentType="image/png"/>
  <Override PartName="/ppt/media/image17.png" ContentType="image/png"/>
  <Override PartName="/ppt/media/image43.png" ContentType="image/png"/>
  <Override PartName="/ppt/media/image55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44.png" ContentType="image/png"/>
  <Override PartName="/ppt/media/image56.png" ContentType="image/png"/>
  <Override PartName="/ppt/media/image40.png" ContentType="image/png"/>
  <Override PartName="/ppt/media/image32.png" ContentType="image/png"/>
  <Override PartName="/ppt/media/image31.png" ContentType="image/png"/>
  <Override PartName="/ppt/media/image30.png" ContentType="image/png"/>
  <Override PartName="/ppt/media/image4.png" ContentType="image/png"/>
  <Override PartName="/ppt/media/image36.png" ContentType="image/png"/>
  <Override PartName="/ppt/media/image49.png" ContentType="image/png"/>
  <Override PartName="/ppt/media/image12.png" ContentType="image/png"/>
  <Override PartName="/ppt/media/image3.png" ContentType="image/png"/>
  <Override PartName="/ppt/media/image35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</p:sldIdLst>
  <p:sldSz cx="18288000" cy="10287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02972B6-C87F-4374-B8BF-B2D2C46F9EF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589" name="PlaceHolder 2"/>
          <p:cNvSpPr>
            <a:spLocks noGrp="1"/>
          </p:cNvSpPr>
          <p:nvPr>
            <p:ph type="dt" idx="37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5"/>
          <p:cNvSpPr>
            <a:spLocks noGrp="1"/>
          </p:cNvSpPr>
          <p:nvPr>
            <p:ph type="ftr" idx="38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PlaceHolder 6"/>
          <p:cNvSpPr>
            <a:spLocks noGrp="1"/>
          </p:cNvSpPr>
          <p:nvPr>
            <p:ph type="sldNum" idx="39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595" name="PlaceHolder 2"/>
          <p:cNvSpPr>
            <a:spLocks noGrp="1"/>
          </p:cNvSpPr>
          <p:nvPr>
            <p:ph type="dt" idx="40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5"/>
          <p:cNvSpPr>
            <a:spLocks noGrp="1"/>
          </p:cNvSpPr>
          <p:nvPr>
            <p:ph type="ftr" idx="41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PlaceHolder 6"/>
          <p:cNvSpPr>
            <a:spLocks noGrp="1"/>
          </p:cNvSpPr>
          <p:nvPr>
            <p:ph type="sldNum" idx="42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 type="dt" idx="43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 type="ftr" idx="44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PlaceHolder 6"/>
          <p:cNvSpPr>
            <a:spLocks noGrp="1"/>
          </p:cNvSpPr>
          <p:nvPr>
            <p:ph type="sldNum" idx="45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07" name="PlaceHolder 2"/>
          <p:cNvSpPr>
            <a:spLocks noGrp="1"/>
          </p:cNvSpPr>
          <p:nvPr>
            <p:ph type="dt" idx="46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5"/>
          <p:cNvSpPr>
            <a:spLocks noGrp="1"/>
          </p:cNvSpPr>
          <p:nvPr>
            <p:ph type="ftr" idx="47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PlaceHolder 6"/>
          <p:cNvSpPr>
            <a:spLocks noGrp="1"/>
          </p:cNvSpPr>
          <p:nvPr>
            <p:ph type="sldNum" idx="48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dt" idx="49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ftr" idx="50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PlaceHolder 6"/>
          <p:cNvSpPr>
            <a:spLocks noGrp="1"/>
          </p:cNvSpPr>
          <p:nvPr>
            <p:ph type="sldNum" idx="51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19" name="PlaceHolder 2"/>
          <p:cNvSpPr>
            <a:spLocks noGrp="1"/>
          </p:cNvSpPr>
          <p:nvPr>
            <p:ph type="dt" idx="52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5"/>
          <p:cNvSpPr>
            <a:spLocks noGrp="1"/>
          </p:cNvSpPr>
          <p:nvPr>
            <p:ph type="ftr" idx="53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PlaceHolder 6"/>
          <p:cNvSpPr>
            <a:spLocks noGrp="1"/>
          </p:cNvSpPr>
          <p:nvPr>
            <p:ph type="sldNum" idx="54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 type="dt" idx="55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 type="ftr" idx="56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 type="sldNum" idx="57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 type="dt" idx="58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5"/>
          <p:cNvSpPr>
            <a:spLocks noGrp="1"/>
          </p:cNvSpPr>
          <p:nvPr>
            <p:ph type="ftr" idx="59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PlaceHolder 6"/>
          <p:cNvSpPr>
            <a:spLocks noGrp="1"/>
          </p:cNvSpPr>
          <p:nvPr>
            <p:ph type="sldNum" idx="60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 type="dt" idx="61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5"/>
          <p:cNvSpPr>
            <a:spLocks noGrp="1"/>
          </p:cNvSpPr>
          <p:nvPr>
            <p:ph type="ftr" idx="62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PlaceHolder 6"/>
          <p:cNvSpPr>
            <a:spLocks noGrp="1"/>
          </p:cNvSpPr>
          <p:nvPr>
            <p:ph type="sldNum" idx="63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43" name="PlaceHolder 2"/>
          <p:cNvSpPr>
            <a:spLocks noGrp="1"/>
          </p:cNvSpPr>
          <p:nvPr>
            <p:ph type="dt" idx="64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5"/>
          <p:cNvSpPr>
            <a:spLocks noGrp="1"/>
          </p:cNvSpPr>
          <p:nvPr>
            <p:ph type="ftr" idx="65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PlaceHolder 6"/>
          <p:cNvSpPr>
            <a:spLocks noGrp="1"/>
          </p:cNvSpPr>
          <p:nvPr>
            <p:ph type="sldNum" idx="66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200" spc="-1" strike="noStrike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 type="dt" idx="67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1.7.2013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5"/>
          <p:cNvSpPr>
            <a:spLocks noGrp="1"/>
          </p:cNvSpPr>
          <p:nvPr>
            <p:ph type="ftr" idx="68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PlaceHolder 6"/>
          <p:cNvSpPr>
            <a:spLocks noGrp="1"/>
          </p:cNvSpPr>
          <p:nvPr>
            <p:ph type="sldNum" idx="69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cs-CZ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‹</a:t>
            </a:r>
            <a:r>
              <a:rPr b="0" lang="cs-CZ" sz="1200" spc="-1" strike="noStrike">
                <a:solidFill>
                  <a:srgbClr val="000000"/>
                </a:solidFill>
                <a:latin typeface="Times New Roman"/>
              </a:rPr>
              <a:t>#›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EF0BA7-9BC9-4E71-83D9-C9EC408E78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DB3EE8A-9A01-499F-B606-64A7AF67B7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E18D87B-B1E5-4487-B52D-8EF4A9F724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8AC5B56-8FF8-4ED3-9864-DA16656F54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D5EF15B-0BF7-47F6-85DC-7AABA632D1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70E599C1-05C4-4F9B-8AE9-28272AB340A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AAF817B9-6E4F-4DD3-A09F-8F9E97F3D9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0BE0CD7-9A96-4338-84DF-A900FE8FD1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96C381C-D963-4698-A3B8-E49E1EEDB2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A57639A1-6A59-4E6C-B301-83373AE0303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8089D93-EFF5-48A0-9875-B76F36877FE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6F5A22-F8FD-4221-8CD2-51DC15A362C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46EEE1-E785-45EB-BB76-203E827DB0E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3C1631-9088-4F66-BA08-A112D04A6E4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BE32B2-681C-460E-A666-0EB16912A7D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523C61-3478-4976-A57E-1C0BD1384A0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2F29D6-0721-4E94-8592-2981A9438F1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EB5E17-E88E-40F4-AAD0-74A622ACE63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79C14F-D4B1-4D06-A432-1A4F751604B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B96D4A-A48A-4849-9E6B-4EB8BAB648C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ED1DBC-2993-4D9A-AF44-4F6BE724A1C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11CC5D-969A-43A9-8C0D-3B0A3B1BA4D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9.png"/><Relationship Id="rId10" Type="http://schemas.openxmlformats.org/officeDocument/2006/relationships/slideLayout" Target="../slideLayouts/slideLayout9.xml"/><Relationship Id="rId11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4.png"/><Relationship Id="rId10" Type="http://schemas.openxmlformats.org/officeDocument/2006/relationships/image" Target="../media/image16.png"/><Relationship Id="rId11" Type="http://schemas.openxmlformats.org/officeDocument/2006/relationships/image" Target="../media/image14.png"/><Relationship Id="rId12" Type="http://schemas.openxmlformats.org/officeDocument/2006/relationships/slideLayout" Target="../slideLayouts/slideLayout9.xml"/><Relationship Id="rId1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8.png"/><Relationship Id="rId9" Type="http://schemas.openxmlformats.org/officeDocument/2006/relationships/image" Target="../media/image21.png"/><Relationship Id="rId10" Type="http://schemas.openxmlformats.org/officeDocument/2006/relationships/image" Target="../media/image18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slideLayout" Target="../slideLayouts/slideLayout9.xml"/><Relationship Id="rId1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28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30.png"/><Relationship Id="rId12" Type="http://schemas.openxmlformats.org/officeDocument/2006/relationships/slideLayout" Target="../slideLayouts/slideLayout9.xml"/><Relationship Id="rId1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28.png"/><Relationship Id="rId5" Type="http://schemas.openxmlformats.org/officeDocument/2006/relationships/image" Target="../media/image32.png"/><Relationship Id="rId6" Type="http://schemas.openxmlformats.org/officeDocument/2006/relationships/image" Target="../media/image28.png"/><Relationship Id="rId7" Type="http://schemas.openxmlformats.org/officeDocument/2006/relationships/image" Target="../media/image33.png"/><Relationship Id="rId8" Type="http://schemas.openxmlformats.org/officeDocument/2006/relationships/image" Target="../media/image28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34.png"/><Relationship Id="rId12" Type="http://schemas.openxmlformats.org/officeDocument/2006/relationships/slideLayout" Target="../slideLayouts/slideLayout9.xml"/><Relationship Id="rId1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8.png"/><Relationship Id="rId5" Type="http://schemas.openxmlformats.org/officeDocument/2006/relationships/image" Target="../media/image37.png"/><Relationship Id="rId6" Type="http://schemas.openxmlformats.org/officeDocument/2006/relationships/image" Target="../media/image28.png"/><Relationship Id="rId7" Type="http://schemas.openxmlformats.org/officeDocument/2006/relationships/image" Target="../media/image38.png"/><Relationship Id="rId8" Type="http://schemas.openxmlformats.org/officeDocument/2006/relationships/image" Target="../media/image28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39.png"/><Relationship Id="rId12" Type="http://schemas.openxmlformats.org/officeDocument/2006/relationships/slideLayout" Target="../slideLayouts/slideLayout9.xml"/><Relationship Id="rId1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5.png"/><Relationship Id="rId3" Type="http://schemas.openxmlformats.org/officeDocument/2006/relationships/image" Target="../media/image40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Relationship Id="rId6" Type="http://schemas.openxmlformats.org/officeDocument/2006/relationships/image" Target="../media/image28.png"/><Relationship Id="rId7" Type="http://schemas.openxmlformats.org/officeDocument/2006/relationships/image" Target="../media/image42.png"/><Relationship Id="rId8" Type="http://schemas.openxmlformats.org/officeDocument/2006/relationships/image" Target="../media/image28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43.png"/><Relationship Id="rId12" Type="http://schemas.openxmlformats.org/officeDocument/2006/relationships/slideLayout" Target="../slideLayouts/slideLayout9.xml"/><Relationship Id="rId1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5.png"/><Relationship Id="rId3" Type="http://schemas.openxmlformats.org/officeDocument/2006/relationships/image" Target="../media/image44.png"/><Relationship Id="rId4" Type="http://schemas.openxmlformats.org/officeDocument/2006/relationships/image" Target="../media/image28.png"/><Relationship Id="rId5" Type="http://schemas.openxmlformats.org/officeDocument/2006/relationships/image" Target="../media/image45.png"/><Relationship Id="rId6" Type="http://schemas.openxmlformats.org/officeDocument/2006/relationships/image" Target="../media/image28.png"/><Relationship Id="rId7" Type="http://schemas.openxmlformats.org/officeDocument/2006/relationships/image" Target="../media/image46.png"/><Relationship Id="rId8" Type="http://schemas.openxmlformats.org/officeDocument/2006/relationships/image" Target="../media/image28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47.png"/><Relationship Id="rId12" Type="http://schemas.openxmlformats.org/officeDocument/2006/relationships/slideLayout" Target="../slideLayouts/slideLayout9.xml"/><Relationship Id="rId1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9.png"/><Relationship Id="rId3" Type="http://schemas.openxmlformats.org/officeDocument/2006/relationships/image" Target="../media/image49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slideLayout" Target="../slideLayouts/slideLayout9.xml"/><Relationship Id="rId9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4.png"/><Relationship Id="rId6" Type="http://schemas.openxmlformats.org/officeDocument/2006/relationships/image" Target="../media/image56.png"/><Relationship Id="rId7" Type="http://schemas.openxmlformats.org/officeDocument/2006/relationships/image" Target="../media/image54.png"/><Relationship Id="rId8" Type="http://schemas.openxmlformats.org/officeDocument/2006/relationships/slideLayout" Target="../slideLayouts/slideLayout9.xml"/><Relationship Id="rId9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2"/>
          <p:cNvGrpSpPr/>
          <p:nvPr/>
        </p:nvGrpSpPr>
        <p:grpSpPr>
          <a:xfrm>
            <a:off x="1090080" y="952920"/>
            <a:ext cx="3991680" cy="480240"/>
            <a:chOff x="1090080" y="952920"/>
            <a:chExt cx="3991680" cy="480240"/>
          </a:xfrm>
        </p:grpSpPr>
        <p:sp>
          <p:nvSpPr>
            <p:cNvPr id="74" name="Freeform 3"/>
            <p:cNvSpPr/>
            <p:nvPr/>
          </p:nvSpPr>
          <p:spPr>
            <a:xfrm>
              <a:off x="1090080" y="952920"/>
              <a:ext cx="3991680" cy="480240"/>
            </a:xfrm>
            <a:custGeom>
              <a:avLst/>
              <a:gdLst>
                <a:gd name="textAreaLeft" fmla="*/ 0 w 3991680"/>
                <a:gd name="textAreaRight" fmla="*/ 3992040 w 399168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5322570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5002149" y="0"/>
                  </a:lnTo>
                  <a:cubicBezTo>
                    <a:pt x="5179060" y="0"/>
                    <a:pt x="5322570" y="143510"/>
                    <a:pt x="5322570" y="320421"/>
                  </a:cubicBezTo>
                  <a:cubicBezTo>
                    <a:pt x="5322570" y="497332"/>
                    <a:pt x="5179060" y="640842"/>
                    <a:pt x="5002149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5" name="Group 4"/>
          <p:cNvGrpSpPr/>
          <p:nvPr/>
        </p:nvGrpSpPr>
        <p:grpSpPr>
          <a:xfrm>
            <a:off x="1097280" y="938520"/>
            <a:ext cx="3977280" cy="487440"/>
            <a:chOff x="1097280" y="938520"/>
            <a:chExt cx="3977280" cy="487440"/>
          </a:xfrm>
        </p:grpSpPr>
        <p:sp>
          <p:nvSpPr>
            <p:cNvPr id="76" name="Freeform 5"/>
            <p:cNvSpPr/>
            <p:nvPr/>
          </p:nvSpPr>
          <p:spPr>
            <a:xfrm>
              <a:off x="1097280" y="960120"/>
              <a:ext cx="3977280" cy="465840"/>
            </a:xfrm>
            <a:custGeom>
              <a:avLst/>
              <a:gdLst>
                <a:gd name="textAreaLeft" fmla="*/ 0 w 3977280"/>
                <a:gd name="textAreaRight" fmla="*/ 3977640 w 397728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5303520" h="621792">
                  <a:moveTo>
                    <a:pt x="0" y="0"/>
                  </a:moveTo>
                  <a:lnTo>
                    <a:pt x="5303520" y="0"/>
                  </a:lnTo>
                  <a:lnTo>
                    <a:pt x="5303520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" name="TextBox 6"/>
            <p:cNvSpPr/>
            <p:nvPr/>
          </p:nvSpPr>
          <p:spPr>
            <a:xfrm>
              <a:off x="1097280" y="938520"/>
              <a:ext cx="3977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2dd4bf"/>
                  </a:solidFill>
                  <a:latin typeface="Calibri (MS) Bold"/>
                  <a:ea typeface="Calibri (MS) Bold"/>
                </a:rPr>
                <a:t>DIGITAL NEPAL INITIATIVE</a:t>
              </a:r>
              <a:endParaRPr b="0" lang="en-US" sz="165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78" name="TextBox 7"/>
          <p:cNvSpPr/>
          <p:nvPr/>
        </p:nvSpPr>
        <p:spPr>
          <a:xfrm>
            <a:off x="1097280" y="1914480"/>
            <a:ext cx="9875160" cy="32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640"/>
              </a:lnSpc>
            </a:pPr>
            <a:r>
              <a:rPr b="1" lang="en-US" sz="720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Smart Queue</a:t>
            </a:r>
            <a:endParaRPr b="0" lang="en-US" sz="7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8640"/>
              </a:lnSpc>
            </a:pPr>
            <a:r>
              <a:rPr b="1" lang="en-US" sz="720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Management System</a:t>
            </a:r>
            <a:endParaRPr b="0" lang="en-US" sz="7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8640"/>
              </a:lnSpc>
            </a:pPr>
            <a:r>
              <a:rPr b="1" lang="en-US" sz="7200" spc="-1" strike="noStrike">
                <a:solidFill>
                  <a:srgbClr val="2dd4bf"/>
                </a:solidFill>
                <a:latin typeface="Calibri (MS) Bold"/>
                <a:ea typeface="Calibri (MS) Bold"/>
              </a:rPr>
              <a:t>(SQMS)</a:t>
            </a:r>
            <a:endParaRPr b="0" lang="en-US" sz="7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Box 8"/>
          <p:cNvSpPr/>
          <p:nvPr/>
        </p:nvSpPr>
        <p:spPr>
          <a:xfrm>
            <a:off x="1097280" y="5840640"/>
            <a:ext cx="9052200" cy="82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0"/>
              </a:lnSpc>
            </a:pPr>
            <a:r>
              <a:rPr b="0" lang="en-US" sz="2700" spc="-1" strike="noStrike">
                <a:solidFill>
                  <a:srgbClr val="cbd5e1"/>
                </a:solidFill>
                <a:latin typeface="Calibri (MS)"/>
                <a:ea typeface="Calibri (MS)"/>
              </a:rPr>
              <a:t>Modernizing Citizen Service Delivery &amp; Counter Operations at DAO Kathmandu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1097280" y="7103880"/>
            <a:ext cx="54860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981"/>
              </a:lnSpc>
            </a:pPr>
            <a:r>
              <a:rPr b="1" lang="en-US" sz="1650" spc="296" strike="noStrike">
                <a:solidFill>
                  <a:srgbClr val="2dd4bf"/>
                </a:solidFill>
                <a:latin typeface="Calibri (MS) Bold"/>
                <a:ea typeface="Calibri (MS) Bold"/>
              </a:rPr>
              <a:t>PRESENTED BY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1097280" y="7614360"/>
            <a:ext cx="429444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674"/>
              </a:lnSpc>
            </a:pPr>
            <a:r>
              <a:rPr b="1" lang="en-US" sz="306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Bikash Dhakal</a:t>
            </a:r>
            <a:endParaRPr b="0" lang="en-US" sz="306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40"/>
              </a:lnSpc>
            </a:pPr>
            <a:r>
              <a:rPr b="1" lang="en-US" sz="2450" spc="-1" strike="noStrike">
                <a:solidFill>
                  <a:srgbClr val="94a3b8"/>
                </a:solidFill>
                <a:latin typeface="Calibri (MS) Bold"/>
                <a:ea typeface="Calibri (MS) Bold"/>
              </a:rPr>
              <a:t>HCE080CSIT13</a:t>
            </a:r>
            <a:endParaRPr b="0" lang="en-US" sz="2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11"/>
          <p:cNvSpPr/>
          <p:nvPr/>
        </p:nvSpPr>
        <p:spPr>
          <a:xfrm>
            <a:off x="4457880" y="7623720"/>
            <a:ext cx="4011840" cy="78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33"/>
              </a:lnSpc>
            </a:pPr>
            <a:r>
              <a:rPr b="1" lang="en-US" sz="286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Manjil Chhetri</a:t>
            </a:r>
            <a:endParaRPr b="0" lang="en-US" sz="286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747"/>
              </a:lnSpc>
            </a:pPr>
            <a:r>
              <a:rPr b="1" lang="en-US" sz="2290" spc="-1" strike="noStrike">
                <a:solidFill>
                  <a:srgbClr val="94a3b8"/>
                </a:solidFill>
                <a:latin typeface="Calibri (MS) Bold"/>
                <a:ea typeface="Calibri (MS) Bold"/>
              </a:rPr>
              <a:t>HCE080CSIT20</a:t>
            </a:r>
            <a:endParaRPr b="0" lang="en-US" sz="22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12"/>
          <p:cNvSpPr/>
          <p:nvPr/>
        </p:nvSpPr>
        <p:spPr>
          <a:xfrm>
            <a:off x="7818120" y="7633440"/>
            <a:ext cx="3970080" cy="7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99"/>
              </a:lnSpc>
            </a:pPr>
            <a:r>
              <a:rPr b="1" lang="en-US" sz="283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Deepak Singh</a:t>
            </a:r>
            <a:endParaRPr b="0" lang="en-US" sz="283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718"/>
              </a:lnSpc>
            </a:pPr>
            <a:r>
              <a:rPr b="0" lang="en-US" sz="2260" spc="-1" strike="noStrike">
                <a:solidFill>
                  <a:srgbClr val="94a3b8"/>
                </a:solidFill>
                <a:latin typeface="Calibri (MS)"/>
                <a:ea typeface="Calibri (MS)"/>
              </a:rPr>
              <a:t>[HCE080CSIT16</a:t>
            </a:r>
            <a:endParaRPr b="0" lang="en-US" sz="226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4" name="Group 13"/>
          <p:cNvGrpSpPr/>
          <p:nvPr/>
        </p:nvGrpSpPr>
        <p:grpSpPr>
          <a:xfrm>
            <a:off x="12335040" y="1362240"/>
            <a:ext cx="5367960" cy="6465240"/>
            <a:chOff x="12335040" y="1362240"/>
            <a:chExt cx="5367960" cy="6465240"/>
          </a:xfrm>
        </p:grpSpPr>
        <p:sp>
          <p:nvSpPr>
            <p:cNvPr id="85" name="Freeform 14"/>
            <p:cNvSpPr/>
            <p:nvPr/>
          </p:nvSpPr>
          <p:spPr>
            <a:xfrm>
              <a:off x="12335040" y="1362240"/>
              <a:ext cx="5367960" cy="6465240"/>
            </a:xfrm>
            <a:custGeom>
              <a:avLst/>
              <a:gdLst>
                <a:gd name="textAreaLeft" fmla="*/ 0 w 5367960"/>
                <a:gd name="textAreaRight" fmla="*/ 5368320 w 5367960"/>
                <a:gd name="textAreaTop" fmla="*/ 0 h 6465240"/>
                <a:gd name="textAreaBottom" fmla="*/ 6465600 h 6465240"/>
              </a:gdLst>
              <a:ahLst/>
              <a:rect l="textAreaLeft" t="textAreaTop" r="textAreaRight" b="textAreaBottom"/>
              <a:pathLst>
                <a:path w="7157720" h="8620760">
                  <a:moveTo>
                    <a:pt x="0" y="367030"/>
                  </a:moveTo>
                  <a:cubicBezTo>
                    <a:pt x="0" y="164338"/>
                    <a:pt x="164338" y="0"/>
                    <a:pt x="367030" y="0"/>
                  </a:cubicBezTo>
                  <a:lnTo>
                    <a:pt x="6790690" y="0"/>
                  </a:lnTo>
                  <a:cubicBezTo>
                    <a:pt x="6993382" y="0"/>
                    <a:pt x="7157720" y="164338"/>
                    <a:pt x="7157720" y="367030"/>
                  </a:cubicBezTo>
                  <a:lnTo>
                    <a:pt x="7157720" y="8253730"/>
                  </a:lnTo>
                  <a:cubicBezTo>
                    <a:pt x="7157720" y="8456422"/>
                    <a:pt x="6993382" y="8620760"/>
                    <a:pt x="6790690" y="8620760"/>
                  </a:cubicBezTo>
                  <a:lnTo>
                    <a:pt x="367030" y="8620760"/>
                  </a:lnTo>
                  <a:cubicBezTo>
                    <a:pt x="164338" y="8620760"/>
                    <a:pt x="0" y="8456422"/>
                    <a:pt x="0" y="8253730"/>
                  </a:cubicBezTo>
                  <a:close/>
                </a:path>
              </a:pathLst>
            </a:custGeom>
            <a:solidFill>
              <a:srgbClr val="1e293b"/>
            </a:solidFill>
            <a:ln cap="sq" w="19050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86" name="Group 15"/>
          <p:cNvGrpSpPr/>
          <p:nvPr/>
        </p:nvGrpSpPr>
        <p:grpSpPr>
          <a:xfrm>
            <a:off x="11788560" y="1913040"/>
            <a:ext cx="5363280" cy="6460560"/>
            <a:chOff x="11788560" y="1913040"/>
            <a:chExt cx="5363280" cy="6460560"/>
          </a:xfrm>
        </p:grpSpPr>
        <p:sp>
          <p:nvSpPr>
            <p:cNvPr id="87" name="Freeform 16"/>
            <p:cNvSpPr/>
            <p:nvPr/>
          </p:nvSpPr>
          <p:spPr>
            <a:xfrm>
              <a:off x="11788560" y="1913040"/>
              <a:ext cx="5363280" cy="6460560"/>
            </a:xfrm>
            <a:custGeom>
              <a:avLst/>
              <a:gdLst>
                <a:gd name="textAreaLeft" fmla="*/ 0 w 5363280"/>
                <a:gd name="textAreaRight" fmla="*/ 5363640 w 5363280"/>
                <a:gd name="textAreaTop" fmla="*/ 0 h 6460560"/>
                <a:gd name="textAreaBottom" fmla="*/ 6460920 h 6460560"/>
              </a:gdLst>
              <a:ahLst/>
              <a:rect l="textAreaLeft" t="textAreaTop" r="textAreaRight" b="textAreaBottom"/>
              <a:pathLst>
                <a:path w="7151370" h="8614410">
                  <a:moveTo>
                    <a:pt x="0" y="366776"/>
                  </a:moveTo>
                  <a:cubicBezTo>
                    <a:pt x="0" y="164211"/>
                    <a:pt x="164211" y="0"/>
                    <a:pt x="366776" y="0"/>
                  </a:cubicBezTo>
                  <a:lnTo>
                    <a:pt x="6784594" y="0"/>
                  </a:lnTo>
                  <a:cubicBezTo>
                    <a:pt x="6987159" y="0"/>
                    <a:pt x="7151370" y="164211"/>
                    <a:pt x="7151370" y="366776"/>
                  </a:cubicBezTo>
                  <a:lnTo>
                    <a:pt x="7151370" y="8247634"/>
                  </a:lnTo>
                  <a:cubicBezTo>
                    <a:pt x="7151370" y="8450199"/>
                    <a:pt x="6987159" y="8614410"/>
                    <a:pt x="6784594" y="8614410"/>
                  </a:cubicBezTo>
                  <a:lnTo>
                    <a:pt x="366776" y="8614410"/>
                  </a:lnTo>
                  <a:cubicBezTo>
                    <a:pt x="164211" y="8614410"/>
                    <a:pt x="0" y="8450199"/>
                    <a:pt x="0" y="8247634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8" name="TextBox 17"/>
          <p:cNvSpPr/>
          <p:nvPr/>
        </p:nvSpPr>
        <p:spPr>
          <a:xfrm>
            <a:off x="12276000" y="2362320"/>
            <a:ext cx="43887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60"/>
              </a:lnSpc>
            </a:pPr>
            <a:r>
              <a:rPr b="1" lang="en-US" sz="1800" spc="299" strike="noStrike">
                <a:solidFill>
                  <a:srgbClr val="0f766e"/>
                </a:solidFill>
                <a:latin typeface="Calibri (MS) Bold"/>
                <a:ea typeface="Calibri (MS) Bold"/>
              </a:rPr>
              <a:t>NOW SERVING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Box 18"/>
          <p:cNvSpPr/>
          <p:nvPr/>
        </p:nvSpPr>
        <p:spPr>
          <a:xfrm>
            <a:off x="12276000" y="2670840"/>
            <a:ext cx="4388760" cy="15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880"/>
              </a:lnSpc>
            </a:pPr>
            <a:r>
              <a:rPr b="1" lang="en-US" sz="99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A-042</a:t>
            </a:r>
            <a:endParaRPr b="0" lang="en-US" sz="9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19"/>
          <p:cNvSpPr/>
          <p:nvPr/>
        </p:nvSpPr>
        <p:spPr>
          <a:xfrm>
            <a:off x="12276000" y="4488120"/>
            <a:ext cx="43887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80"/>
              </a:lnSpc>
            </a:pPr>
            <a:r>
              <a:rPr b="0" lang="en-US" sz="2400" spc="-1" strike="noStrike">
                <a:solidFill>
                  <a:srgbClr val="475569"/>
                </a:solidFill>
                <a:latin typeface="Calibri (MS)"/>
                <a:ea typeface="Calibri (MS)"/>
              </a:rPr>
              <a:t>Counter 3  ·  Room 2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Box 20"/>
          <p:cNvSpPr/>
          <p:nvPr/>
        </p:nvSpPr>
        <p:spPr>
          <a:xfrm>
            <a:off x="12276000" y="5457960"/>
            <a:ext cx="43887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981"/>
              </a:lnSpc>
            </a:pPr>
            <a:r>
              <a:rPr b="1" lang="en-US" sz="1650" spc="296" strike="noStrike">
                <a:solidFill>
                  <a:srgbClr val="475569"/>
                </a:solidFill>
                <a:latin typeface="Calibri (MS) Bold"/>
                <a:ea typeface="Calibri (MS) Bold"/>
              </a:rPr>
              <a:t>CROWD ADVISORY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2" name="Group 21"/>
          <p:cNvGrpSpPr/>
          <p:nvPr/>
        </p:nvGrpSpPr>
        <p:grpSpPr>
          <a:xfrm>
            <a:off x="12266280" y="5997960"/>
            <a:ext cx="978840" cy="238320"/>
            <a:chOff x="12266280" y="5997960"/>
            <a:chExt cx="978840" cy="238320"/>
          </a:xfrm>
        </p:grpSpPr>
        <p:sp>
          <p:nvSpPr>
            <p:cNvPr id="93" name="Freeform 22"/>
            <p:cNvSpPr/>
            <p:nvPr/>
          </p:nvSpPr>
          <p:spPr>
            <a:xfrm>
              <a:off x="12266280" y="5997960"/>
              <a:ext cx="978840" cy="238320"/>
            </a:xfrm>
            <a:custGeom>
              <a:avLst/>
              <a:gdLst>
                <a:gd name="textAreaLeft" fmla="*/ 0 w 978840"/>
                <a:gd name="textAreaRight" fmla="*/ 979200 w 978840"/>
                <a:gd name="textAreaTop" fmla="*/ 0 h 238320"/>
                <a:gd name="textAreaBottom" fmla="*/ 238680 h 238320"/>
              </a:gdLst>
              <a:ahLst/>
              <a:rect l="textAreaLeft" t="textAreaTop" r="textAreaRight" b="textAreaBottom"/>
              <a:pathLst>
                <a:path w="1305560" h="318008">
                  <a:moveTo>
                    <a:pt x="0" y="159004"/>
                  </a:moveTo>
                  <a:cubicBezTo>
                    <a:pt x="0" y="71247"/>
                    <a:pt x="71247" y="0"/>
                    <a:pt x="159004" y="0"/>
                  </a:cubicBezTo>
                  <a:lnTo>
                    <a:pt x="1146556" y="0"/>
                  </a:lnTo>
                  <a:cubicBezTo>
                    <a:pt x="1234313" y="0"/>
                    <a:pt x="1305560" y="71247"/>
                    <a:pt x="1305560" y="159004"/>
                  </a:cubicBezTo>
                  <a:cubicBezTo>
                    <a:pt x="1305560" y="246761"/>
                    <a:pt x="1234313" y="318008"/>
                    <a:pt x="1146556" y="318008"/>
                  </a:cubicBezTo>
                  <a:lnTo>
                    <a:pt x="159004" y="318008"/>
                  </a:lnTo>
                  <a:cubicBezTo>
                    <a:pt x="71247" y="318008"/>
                    <a:pt x="0" y="246761"/>
                    <a:pt x="0" y="159004"/>
                  </a:cubicBezTo>
                  <a:close/>
                </a:path>
              </a:pathLst>
            </a:custGeom>
            <a:solidFill>
              <a:srgbClr val="0d9488"/>
            </a:solidFill>
            <a:ln cap="sq" w="19050">
              <a:solidFill>
                <a:srgbClr val="0d948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4" name="Group 23"/>
          <p:cNvGrpSpPr/>
          <p:nvPr/>
        </p:nvGrpSpPr>
        <p:grpSpPr>
          <a:xfrm>
            <a:off x="13363560" y="5997960"/>
            <a:ext cx="978840" cy="238320"/>
            <a:chOff x="13363560" y="5997960"/>
            <a:chExt cx="978840" cy="238320"/>
          </a:xfrm>
        </p:grpSpPr>
        <p:sp>
          <p:nvSpPr>
            <p:cNvPr id="95" name="Freeform 24"/>
            <p:cNvSpPr/>
            <p:nvPr/>
          </p:nvSpPr>
          <p:spPr>
            <a:xfrm>
              <a:off x="13363560" y="5997960"/>
              <a:ext cx="978840" cy="238320"/>
            </a:xfrm>
            <a:custGeom>
              <a:avLst/>
              <a:gdLst>
                <a:gd name="textAreaLeft" fmla="*/ 0 w 978840"/>
                <a:gd name="textAreaRight" fmla="*/ 979200 w 978840"/>
                <a:gd name="textAreaTop" fmla="*/ 0 h 238320"/>
                <a:gd name="textAreaBottom" fmla="*/ 238680 h 238320"/>
              </a:gdLst>
              <a:ahLst/>
              <a:rect l="textAreaLeft" t="textAreaTop" r="textAreaRight" b="textAreaBottom"/>
              <a:pathLst>
                <a:path w="1305560" h="318008">
                  <a:moveTo>
                    <a:pt x="0" y="159004"/>
                  </a:moveTo>
                  <a:cubicBezTo>
                    <a:pt x="0" y="71247"/>
                    <a:pt x="71247" y="0"/>
                    <a:pt x="159004" y="0"/>
                  </a:cubicBezTo>
                  <a:lnTo>
                    <a:pt x="1146556" y="0"/>
                  </a:lnTo>
                  <a:cubicBezTo>
                    <a:pt x="1234313" y="0"/>
                    <a:pt x="1305560" y="71247"/>
                    <a:pt x="1305560" y="159004"/>
                  </a:cubicBezTo>
                  <a:cubicBezTo>
                    <a:pt x="1305560" y="246761"/>
                    <a:pt x="1234313" y="318008"/>
                    <a:pt x="1146556" y="318008"/>
                  </a:cubicBezTo>
                  <a:lnTo>
                    <a:pt x="159004" y="318008"/>
                  </a:lnTo>
                  <a:cubicBezTo>
                    <a:pt x="71247" y="318008"/>
                    <a:pt x="0" y="246761"/>
                    <a:pt x="0" y="159004"/>
                  </a:cubicBezTo>
                  <a:close/>
                </a:path>
              </a:pathLst>
            </a:custGeom>
            <a:solidFill>
              <a:srgbClr val="2dd4bf"/>
            </a:solidFill>
            <a:ln cap="sq" w="19050">
              <a:solidFill>
                <a:srgbClr val="2dd4b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6" name="Group 25"/>
          <p:cNvGrpSpPr/>
          <p:nvPr/>
        </p:nvGrpSpPr>
        <p:grpSpPr>
          <a:xfrm>
            <a:off x="14460840" y="5997960"/>
            <a:ext cx="978840" cy="238320"/>
            <a:chOff x="14460840" y="5997960"/>
            <a:chExt cx="978840" cy="238320"/>
          </a:xfrm>
        </p:grpSpPr>
        <p:sp>
          <p:nvSpPr>
            <p:cNvPr id="97" name="Freeform 26"/>
            <p:cNvSpPr/>
            <p:nvPr/>
          </p:nvSpPr>
          <p:spPr>
            <a:xfrm>
              <a:off x="14460840" y="5997960"/>
              <a:ext cx="978840" cy="238320"/>
            </a:xfrm>
            <a:custGeom>
              <a:avLst/>
              <a:gdLst>
                <a:gd name="textAreaLeft" fmla="*/ 0 w 978840"/>
                <a:gd name="textAreaRight" fmla="*/ 979200 w 978840"/>
                <a:gd name="textAreaTop" fmla="*/ 0 h 238320"/>
                <a:gd name="textAreaBottom" fmla="*/ 238680 h 238320"/>
              </a:gdLst>
              <a:ahLst/>
              <a:rect l="textAreaLeft" t="textAreaTop" r="textAreaRight" b="textAreaBottom"/>
              <a:pathLst>
                <a:path w="1305560" h="318008">
                  <a:moveTo>
                    <a:pt x="0" y="159004"/>
                  </a:moveTo>
                  <a:cubicBezTo>
                    <a:pt x="0" y="71247"/>
                    <a:pt x="71247" y="0"/>
                    <a:pt x="159004" y="0"/>
                  </a:cubicBezTo>
                  <a:lnTo>
                    <a:pt x="1146556" y="0"/>
                  </a:lnTo>
                  <a:cubicBezTo>
                    <a:pt x="1234313" y="0"/>
                    <a:pt x="1305560" y="71247"/>
                    <a:pt x="1305560" y="159004"/>
                  </a:cubicBezTo>
                  <a:cubicBezTo>
                    <a:pt x="1305560" y="246761"/>
                    <a:pt x="1234313" y="318008"/>
                    <a:pt x="1146556" y="318008"/>
                  </a:cubicBezTo>
                  <a:lnTo>
                    <a:pt x="159004" y="318008"/>
                  </a:lnTo>
                  <a:cubicBezTo>
                    <a:pt x="71247" y="318008"/>
                    <a:pt x="0" y="246761"/>
                    <a:pt x="0" y="159004"/>
                  </a:cubicBezTo>
                  <a:close/>
                </a:path>
              </a:pathLst>
            </a:custGeom>
            <a:solidFill>
              <a:srgbClr val="f59e0b"/>
            </a:solidFill>
            <a:ln cap="sq" w="19050">
              <a:solidFill>
                <a:srgbClr val="f59e0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8" name="Group 27"/>
          <p:cNvGrpSpPr/>
          <p:nvPr/>
        </p:nvGrpSpPr>
        <p:grpSpPr>
          <a:xfrm>
            <a:off x="15558120" y="5997960"/>
            <a:ext cx="978840" cy="238320"/>
            <a:chOff x="15558120" y="5997960"/>
            <a:chExt cx="978840" cy="238320"/>
          </a:xfrm>
        </p:grpSpPr>
        <p:sp>
          <p:nvSpPr>
            <p:cNvPr id="99" name="Freeform 28"/>
            <p:cNvSpPr/>
            <p:nvPr/>
          </p:nvSpPr>
          <p:spPr>
            <a:xfrm>
              <a:off x="15558120" y="5997960"/>
              <a:ext cx="978840" cy="238320"/>
            </a:xfrm>
            <a:custGeom>
              <a:avLst/>
              <a:gdLst>
                <a:gd name="textAreaLeft" fmla="*/ 0 w 978840"/>
                <a:gd name="textAreaRight" fmla="*/ 979200 w 978840"/>
                <a:gd name="textAreaTop" fmla="*/ 0 h 238320"/>
                <a:gd name="textAreaBottom" fmla="*/ 238680 h 238320"/>
              </a:gdLst>
              <a:ahLst/>
              <a:rect l="textAreaLeft" t="textAreaTop" r="textAreaRight" b="textAreaBottom"/>
              <a:pathLst>
                <a:path w="1305560" h="318008">
                  <a:moveTo>
                    <a:pt x="0" y="159004"/>
                  </a:moveTo>
                  <a:cubicBezTo>
                    <a:pt x="0" y="71247"/>
                    <a:pt x="71247" y="0"/>
                    <a:pt x="159004" y="0"/>
                  </a:cubicBezTo>
                  <a:lnTo>
                    <a:pt x="1146556" y="0"/>
                  </a:lnTo>
                  <a:cubicBezTo>
                    <a:pt x="1234313" y="0"/>
                    <a:pt x="1305560" y="71247"/>
                    <a:pt x="1305560" y="159004"/>
                  </a:cubicBezTo>
                  <a:cubicBezTo>
                    <a:pt x="1305560" y="246761"/>
                    <a:pt x="1234313" y="318008"/>
                    <a:pt x="1146556" y="318008"/>
                  </a:cubicBezTo>
                  <a:lnTo>
                    <a:pt x="159004" y="318008"/>
                  </a:lnTo>
                  <a:cubicBezTo>
                    <a:pt x="71247" y="318008"/>
                    <a:pt x="0" y="246761"/>
                    <a:pt x="0" y="159004"/>
                  </a:cubicBezTo>
                  <a:close/>
                </a:path>
              </a:pathLst>
            </a:custGeom>
            <a:solidFill>
              <a:srgbClr val="e2e8f0"/>
            </a:solidFill>
            <a:ln cap="sq" w="19050">
              <a:solidFill>
                <a:srgbClr val="e2e8f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00" name="TextBox 29"/>
          <p:cNvSpPr/>
          <p:nvPr/>
        </p:nvSpPr>
        <p:spPr>
          <a:xfrm>
            <a:off x="12276000" y="6399000"/>
            <a:ext cx="452592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1" lang="en-US" sz="2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Moderate</a:t>
            </a:r>
            <a:r>
              <a:rPr b="0" lang="en-US" sz="2100" spc="-1" strike="noStrike">
                <a:solidFill>
                  <a:srgbClr val="475569"/>
                </a:solidFill>
                <a:latin typeface="Calibri (MS)"/>
                <a:ea typeface="Calibri (MS)"/>
              </a:rPr>
              <a:t>   ·   est. wait ~12 min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Box 30"/>
          <p:cNvSpPr/>
          <p:nvPr/>
        </p:nvSpPr>
        <p:spPr>
          <a:xfrm>
            <a:off x="12276000" y="7574400"/>
            <a:ext cx="438876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94a3b8"/>
                </a:solidFill>
                <a:latin typeface="Calibri (MS)"/>
                <a:ea typeface="Calibri (MS)"/>
              </a:rPr>
              <a:t>Illustrative token card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2"/>
          <p:cNvGrpSpPr/>
          <p:nvPr/>
        </p:nvGrpSpPr>
        <p:grpSpPr>
          <a:xfrm>
            <a:off x="822960" y="9572760"/>
            <a:ext cx="8229240" cy="439560"/>
            <a:chOff x="822960" y="9572760"/>
            <a:chExt cx="8229240" cy="439560"/>
          </a:xfrm>
        </p:grpSpPr>
        <p:sp>
          <p:nvSpPr>
            <p:cNvPr id="103" name="Freeform 3"/>
            <p:cNvSpPr/>
            <p:nvPr/>
          </p:nvSpPr>
          <p:spPr>
            <a:xfrm>
              <a:off x="822960" y="9601200"/>
              <a:ext cx="8229240" cy="411120"/>
            </a:xfrm>
            <a:custGeom>
              <a:avLst/>
              <a:gdLst>
                <a:gd name="textAreaLeft" fmla="*/ 0 w 8229240"/>
                <a:gd name="textAreaRight" fmla="*/ 8229600 w 822924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4" name="TextBox 4"/>
            <p:cNvSpPr/>
            <p:nvPr/>
          </p:nvSpPr>
          <p:spPr>
            <a:xfrm>
              <a:off x="822960" y="9572760"/>
              <a:ext cx="8229240" cy="43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800"/>
                </a:lnSpc>
              </a:pPr>
              <a:r>
                <a:rPr b="0" lang="en-US" sz="1500" spc="-1" strike="noStrike">
                  <a:solidFill>
                    <a:srgbClr val="64748b"/>
                  </a:solidFill>
                  <a:latin typeface="Calibri (MS)"/>
                  <a:ea typeface="Calibri (MS)"/>
                </a:rPr>
                <a:t>SQMS  ·  DAO Kathmandu</a:t>
              </a:r>
              <a:endParaRPr b="0" lang="en-US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5" name="Group 5"/>
          <p:cNvGrpSpPr/>
          <p:nvPr/>
        </p:nvGrpSpPr>
        <p:grpSpPr>
          <a:xfrm>
            <a:off x="815760" y="678600"/>
            <a:ext cx="2757240" cy="480240"/>
            <a:chOff x="815760" y="678600"/>
            <a:chExt cx="2757240" cy="480240"/>
          </a:xfrm>
        </p:grpSpPr>
        <p:sp>
          <p:nvSpPr>
            <p:cNvPr id="106" name="Freeform 6"/>
            <p:cNvSpPr/>
            <p:nvPr/>
          </p:nvSpPr>
          <p:spPr>
            <a:xfrm>
              <a:off x="815760" y="678600"/>
              <a:ext cx="2757240" cy="480240"/>
            </a:xfrm>
            <a:custGeom>
              <a:avLst/>
              <a:gdLst>
                <a:gd name="textAreaLeft" fmla="*/ 0 w 2757240"/>
                <a:gd name="textAreaRight" fmla="*/ 2757600 w 275724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3676650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3356229" y="0"/>
                  </a:lnTo>
                  <a:cubicBezTo>
                    <a:pt x="3533140" y="0"/>
                    <a:pt x="3676650" y="143510"/>
                    <a:pt x="3676650" y="320421"/>
                  </a:cubicBezTo>
                  <a:cubicBezTo>
                    <a:pt x="3676650" y="497332"/>
                    <a:pt x="3533140" y="640842"/>
                    <a:pt x="3356229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ffe4e6"/>
            </a:solidFill>
            <a:ln cap="sq" w="14288">
              <a:solidFill>
                <a:srgbClr val="ffe4e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7" name="Group 7"/>
          <p:cNvGrpSpPr/>
          <p:nvPr/>
        </p:nvGrpSpPr>
        <p:grpSpPr>
          <a:xfrm>
            <a:off x="822960" y="664200"/>
            <a:ext cx="2742840" cy="487440"/>
            <a:chOff x="822960" y="664200"/>
            <a:chExt cx="2742840" cy="487440"/>
          </a:xfrm>
        </p:grpSpPr>
        <p:sp>
          <p:nvSpPr>
            <p:cNvPr id="108" name="Freeform 8"/>
            <p:cNvSpPr/>
            <p:nvPr/>
          </p:nvSpPr>
          <p:spPr>
            <a:xfrm>
              <a:off x="822960" y="685800"/>
              <a:ext cx="2742840" cy="465840"/>
            </a:xfrm>
            <a:custGeom>
              <a:avLst/>
              <a:gdLst>
                <a:gd name="textAreaLeft" fmla="*/ 0 w 2742840"/>
                <a:gd name="textAreaRight" fmla="*/ 2743200 w 274284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3657600" h="621792">
                  <a:moveTo>
                    <a:pt x="0" y="0"/>
                  </a:moveTo>
                  <a:lnTo>
                    <a:pt x="3657600" y="0"/>
                  </a:lnTo>
                  <a:lnTo>
                    <a:pt x="3657600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" name="TextBox 9"/>
            <p:cNvSpPr/>
            <p:nvPr/>
          </p:nvSpPr>
          <p:spPr>
            <a:xfrm>
              <a:off x="822960" y="664200"/>
              <a:ext cx="274284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be123c"/>
                  </a:solidFill>
                  <a:latin typeface="Calibri (MS) Bold"/>
                  <a:ea typeface="Calibri (MS) Bold"/>
                </a:rPr>
                <a:t>CONTEXT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10" name="TextBox 10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The Problem &amp; Our Vision</a:t>
            </a:r>
            <a:endParaRPr b="0" lang="en-US" sz="5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1" name="Group 11"/>
          <p:cNvGrpSpPr/>
          <p:nvPr/>
        </p:nvGrpSpPr>
        <p:grpSpPr>
          <a:xfrm>
            <a:off x="815760" y="2667600"/>
            <a:ext cx="4128840" cy="3031560"/>
            <a:chOff x="815760" y="2667600"/>
            <a:chExt cx="4128840" cy="3031560"/>
          </a:xfrm>
        </p:grpSpPr>
        <p:sp>
          <p:nvSpPr>
            <p:cNvPr id="112" name="Freeform 12"/>
            <p:cNvSpPr/>
            <p:nvPr/>
          </p:nvSpPr>
          <p:spPr>
            <a:xfrm>
              <a:off x="815760" y="2667600"/>
              <a:ext cx="4128840" cy="3031560"/>
            </a:xfrm>
            <a:custGeom>
              <a:avLst/>
              <a:gdLst>
                <a:gd name="textAreaLeft" fmla="*/ 0 w 4128840"/>
                <a:gd name="textAreaRight" fmla="*/ 4129200 w 4128840"/>
                <a:gd name="textAreaTop" fmla="*/ 0 h 3031560"/>
                <a:gd name="textAreaBottom" fmla="*/ 3031920 h 3031560"/>
              </a:gdLst>
              <a:ahLst/>
              <a:rect l="textAreaLeft" t="textAreaTop" r="textAreaRight" b="textAreaBottom"/>
              <a:pathLst>
                <a:path w="5505450" h="4042410">
                  <a:moveTo>
                    <a:pt x="0" y="257302"/>
                  </a:moveTo>
                  <a:cubicBezTo>
                    <a:pt x="0" y="115189"/>
                    <a:pt x="115189" y="0"/>
                    <a:pt x="257302" y="0"/>
                  </a:cubicBezTo>
                  <a:lnTo>
                    <a:pt x="5248148" y="0"/>
                  </a:lnTo>
                  <a:cubicBezTo>
                    <a:pt x="5390261" y="0"/>
                    <a:pt x="5505450" y="115189"/>
                    <a:pt x="5505450" y="257302"/>
                  </a:cubicBezTo>
                  <a:lnTo>
                    <a:pt x="5505450" y="3785108"/>
                  </a:lnTo>
                  <a:cubicBezTo>
                    <a:pt x="5505450" y="3927221"/>
                    <a:pt x="5390261" y="4042410"/>
                    <a:pt x="5248148" y="4042410"/>
                  </a:cubicBezTo>
                  <a:lnTo>
                    <a:pt x="257302" y="4042410"/>
                  </a:lnTo>
                  <a:cubicBezTo>
                    <a:pt x="115189" y="4042410"/>
                    <a:pt x="0" y="3927221"/>
                    <a:pt x="0" y="3785108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3" name="Group 13"/>
          <p:cNvGrpSpPr/>
          <p:nvPr/>
        </p:nvGrpSpPr>
        <p:grpSpPr>
          <a:xfrm>
            <a:off x="1161000" y="3012840"/>
            <a:ext cx="831960" cy="831960"/>
            <a:chOff x="1161000" y="3012840"/>
            <a:chExt cx="831960" cy="831960"/>
          </a:xfrm>
        </p:grpSpPr>
        <p:sp>
          <p:nvSpPr>
            <p:cNvPr id="114" name="Freeform 14"/>
            <p:cNvSpPr/>
            <p:nvPr/>
          </p:nvSpPr>
          <p:spPr>
            <a:xfrm>
              <a:off x="1161000" y="301284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ffe4e6"/>
            </a:solidFill>
            <a:ln cap="sq" w="9525">
              <a:solidFill>
                <a:srgbClr val="ffe4e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5" name="Group 15"/>
          <p:cNvGrpSpPr/>
          <p:nvPr/>
        </p:nvGrpSpPr>
        <p:grpSpPr>
          <a:xfrm>
            <a:off x="1371600" y="3223440"/>
            <a:ext cx="411120" cy="411120"/>
            <a:chOff x="1371600" y="3223440"/>
            <a:chExt cx="411120" cy="411120"/>
          </a:xfrm>
        </p:grpSpPr>
        <p:sp>
          <p:nvSpPr>
            <p:cNvPr id="116" name="Freeform 16"/>
            <p:cNvSpPr/>
            <p:nvPr/>
          </p:nvSpPr>
          <p:spPr>
            <a:xfrm>
              <a:off x="1371600" y="322344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17" name="TextBox 17"/>
          <p:cNvSpPr/>
          <p:nvPr/>
        </p:nvSpPr>
        <p:spPr>
          <a:xfrm>
            <a:off x="1166040" y="4008240"/>
            <a:ext cx="35658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80"/>
              </a:lnSpc>
            </a:pPr>
            <a:r>
              <a:rPr b="1" lang="en-US" sz="24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Crowded waiting halls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18"/>
          <p:cNvSpPr/>
          <p:nvPr/>
        </p:nvSpPr>
        <p:spPr>
          <a:xfrm>
            <a:off x="1166040" y="4547160"/>
            <a:ext cx="356580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475569"/>
                </a:solidFill>
                <a:latin typeface="Calibri (MS)"/>
                <a:ea typeface="Calibri (MS)"/>
              </a:rPr>
              <a:t>Citizens queue physically for hours.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9" name="Group 19"/>
          <p:cNvGrpSpPr/>
          <p:nvPr/>
        </p:nvGrpSpPr>
        <p:grpSpPr>
          <a:xfrm>
            <a:off x="5204880" y="2667600"/>
            <a:ext cx="4128840" cy="3031560"/>
            <a:chOff x="5204880" y="2667600"/>
            <a:chExt cx="4128840" cy="3031560"/>
          </a:xfrm>
        </p:grpSpPr>
        <p:sp>
          <p:nvSpPr>
            <p:cNvPr id="120" name="Freeform 20"/>
            <p:cNvSpPr/>
            <p:nvPr/>
          </p:nvSpPr>
          <p:spPr>
            <a:xfrm>
              <a:off x="5204880" y="2667600"/>
              <a:ext cx="4128840" cy="3031560"/>
            </a:xfrm>
            <a:custGeom>
              <a:avLst/>
              <a:gdLst>
                <a:gd name="textAreaLeft" fmla="*/ 0 w 4128840"/>
                <a:gd name="textAreaRight" fmla="*/ 4129200 w 4128840"/>
                <a:gd name="textAreaTop" fmla="*/ 0 h 3031560"/>
                <a:gd name="textAreaBottom" fmla="*/ 3031920 h 3031560"/>
              </a:gdLst>
              <a:ahLst/>
              <a:rect l="textAreaLeft" t="textAreaTop" r="textAreaRight" b="textAreaBottom"/>
              <a:pathLst>
                <a:path w="5505450" h="4042410">
                  <a:moveTo>
                    <a:pt x="0" y="257302"/>
                  </a:moveTo>
                  <a:cubicBezTo>
                    <a:pt x="0" y="115189"/>
                    <a:pt x="115189" y="0"/>
                    <a:pt x="257302" y="0"/>
                  </a:cubicBezTo>
                  <a:lnTo>
                    <a:pt x="5248148" y="0"/>
                  </a:lnTo>
                  <a:cubicBezTo>
                    <a:pt x="5390261" y="0"/>
                    <a:pt x="5505450" y="115189"/>
                    <a:pt x="5505450" y="257302"/>
                  </a:cubicBezTo>
                  <a:lnTo>
                    <a:pt x="5505450" y="3785108"/>
                  </a:lnTo>
                  <a:cubicBezTo>
                    <a:pt x="5505450" y="3927221"/>
                    <a:pt x="5390261" y="4042410"/>
                    <a:pt x="5248148" y="4042410"/>
                  </a:cubicBezTo>
                  <a:lnTo>
                    <a:pt x="257302" y="4042410"/>
                  </a:lnTo>
                  <a:cubicBezTo>
                    <a:pt x="115189" y="4042410"/>
                    <a:pt x="0" y="3927221"/>
                    <a:pt x="0" y="3785108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1" name="Group 21"/>
          <p:cNvGrpSpPr/>
          <p:nvPr/>
        </p:nvGrpSpPr>
        <p:grpSpPr>
          <a:xfrm>
            <a:off x="5550120" y="3012840"/>
            <a:ext cx="831960" cy="831960"/>
            <a:chOff x="5550120" y="3012840"/>
            <a:chExt cx="831960" cy="831960"/>
          </a:xfrm>
        </p:grpSpPr>
        <p:sp>
          <p:nvSpPr>
            <p:cNvPr id="122" name="Freeform 22"/>
            <p:cNvSpPr/>
            <p:nvPr/>
          </p:nvSpPr>
          <p:spPr>
            <a:xfrm>
              <a:off x="5550120" y="301284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ffe4e6"/>
            </a:solidFill>
            <a:ln cap="sq" w="9525">
              <a:solidFill>
                <a:srgbClr val="ffe4e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3" name="Group 23"/>
          <p:cNvGrpSpPr/>
          <p:nvPr/>
        </p:nvGrpSpPr>
        <p:grpSpPr>
          <a:xfrm>
            <a:off x="5760720" y="3223440"/>
            <a:ext cx="411120" cy="411120"/>
            <a:chOff x="5760720" y="3223440"/>
            <a:chExt cx="411120" cy="411120"/>
          </a:xfrm>
        </p:grpSpPr>
        <p:sp>
          <p:nvSpPr>
            <p:cNvPr id="124" name="Freeform 24"/>
            <p:cNvSpPr/>
            <p:nvPr/>
          </p:nvSpPr>
          <p:spPr>
            <a:xfrm>
              <a:off x="5760720" y="322344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25" name="TextBox 25"/>
          <p:cNvSpPr/>
          <p:nvPr/>
        </p:nvSpPr>
        <p:spPr>
          <a:xfrm>
            <a:off x="5555160" y="4008240"/>
            <a:ext cx="35658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80"/>
              </a:lnSpc>
            </a:pPr>
            <a:r>
              <a:rPr b="1" lang="en-US" sz="24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No live transparency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26"/>
          <p:cNvSpPr/>
          <p:nvPr/>
        </p:nvSpPr>
        <p:spPr>
          <a:xfrm>
            <a:off x="5555160" y="4547160"/>
            <a:ext cx="356580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475569"/>
                </a:solidFill>
                <a:latin typeface="Calibri (MS)"/>
                <a:ea typeface="Calibri (MS)"/>
              </a:rPr>
              <a:t>No public view of who is being served.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7" name="Group 27"/>
          <p:cNvGrpSpPr/>
          <p:nvPr/>
        </p:nvGrpSpPr>
        <p:grpSpPr>
          <a:xfrm>
            <a:off x="815760" y="5959440"/>
            <a:ext cx="4128840" cy="3031560"/>
            <a:chOff x="815760" y="5959440"/>
            <a:chExt cx="4128840" cy="3031560"/>
          </a:xfrm>
        </p:grpSpPr>
        <p:sp>
          <p:nvSpPr>
            <p:cNvPr id="128" name="Freeform 28"/>
            <p:cNvSpPr/>
            <p:nvPr/>
          </p:nvSpPr>
          <p:spPr>
            <a:xfrm>
              <a:off x="815760" y="5959440"/>
              <a:ext cx="4128840" cy="3031560"/>
            </a:xfrm>
            <a:custGeom>
              <a:avLst/>
              <a:gdLst>
                <a:gd name="textAreaLeft" fmla="*/ 0 w 4128840"/>
                <a:gd name="textAreaRight" fmla="*/ 4129200 w 4128840"/>
                <a:gd name="textAreaTop" fmla="*/ 0 h 3031560"/>
                <a:gd name="textAreaBottom" fmla="*/ 3031920 h 3031560"/>
              </a:gdLst>
              <a:ahLst/>
              <a:rect l="textAreaLeft" t="textAreaTop" r="textAreaRight" b="textAreaBottom"/>
              <a:pathLst>
                <a:path w="5505450" h="4042410">
                  <a:moveTo>
                    <a:pt x="0" y="257302"/>
                  </a:moveTo>
                  <a:cubicBezTo>
                    <a:pt x="0" y="115189"/>
                    <a:pt x="115189" y="0"/>
                    <a:pt x="257302" y="0"/>
                  </a:cubicBezTo>
                  <a:lnTo>
                    <a:pt x="5248148" y="0"/>
                  </a:lnTo>
                  <a:cubicBezTo>
                    <a:pt x="5390261" y="0"/>
                    <a:pt x="5505450" y="115189"/>
                    <a:pt x="5505450" y="257302"/>
                  </a:cubicBezTo>
                  <a:lnTo>
                    <a:pt x="5505450" y="3785108"/>
                  </a:lnTo>
                  <a:cubicBezTo>
                    <a:pt x="5505450" y="3927221"/>
                    <a:pt x="5390261" y="4042410"/>
                    <a:pt x="5248148" y="4042410"/>
                  </a:cubicBezTo>
                  <a:lnTo>
                    <a:pt x="257302" y="4042410"/>
                  </a:lnTo>
                  <a:cubicBezTo>
                    <a:pt x="115189" y="4042410"/>
                    <a:pt x="0" y="3927221"/>
                    <a:pt x="0" y="3785108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9" name="Group 29"/>
          <p:cNvGrpSpPr/>
          <p:nvPr/>
        </p:nvGrpSpPr>
        <p:grpSpPr>
          <a:xfrm>
            <a:off x="1161000" y="6304680"/>
            <a:ext cx="831960" cy="831960"/>
            <a:chOff x="1161000" y="6304680"/>
            <a:chExt cx="831960" cy="831960"/>
          </a:xfrm>
        </p:grpSpPr>
        <p:sp>
          <p:nvSpPr>
            <p:cNvPr id="130" name="Freeform 30"/>
            <p:cNvSpPr/>
            <p:nvPr/>
          </p:nvSpPr>
          <p:spPr>
            <a:xfrm>
              <a:off x="1161000" y="630468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ffe4e6"/>
            </a:solidFill>
            <a:ln cap="sq" w="9525">
              <a:solidFill>
                <a:srgbClr val="ffe4e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1" name="Group 31"/>
          <p:cNvGrpSpPr/>
          <p:nvPr/>
        </p:nvGrpSpPr>
        <p:grpSpPr>
          <a:xfrm>
            <a:off x="1371600" y="6515280"/>
            <a:ext cx="411120" cy="411120"/>
            <a:chOff x="1371600" y="6515280"/>
            <a:chExt cx="411120" cy="411120"/>
          </a:xfrm>
        </p:grpSpPr>
        <p:sp>
          <p:nvSpPr>
            <p:cNvPr id="132" name="Freeform 32"/>
            <p:cNvSpPr/>
            <p:nvPr/>
          </p:nvSpPr>
          <p:spPr>
            <a:xfrm>
              <a:off x="1371600" y="651528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33" name="TextBox 33"/>
          <p:cNvSpPr/>
          <p:nvPr/>
        </p:nvSpPr>
        <p:spPr>
          <a:xfrm>
            <a:off x="1166040" y="7300080"/>
            <a:ext cx="35658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80"/>
              </a:lnSpc>
            </a:pPr>
            <a:r>
              <a:rPr b="1" lang="en-US" sz="24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Unclear checklists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34"/>
          <p:cNvSpPr/>
          <p:nvPr/>
        </p:nvSpPr>
        <p:spPr>
          <a:xfrm>
            <a:off x="1166040" y="7839000"/>
            <a:ext cx="356580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475569"/>
                </a:solidFill>
                <a:latin typeface="Calibri (MS)"/>
                <a:ea typeface="Calibri (MS)"/>
              </a:rPr>
              <a:t>Citizens arrive missing documents.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5" name="Group 35"/>
          <p:cNvGrpSpPr/>
          <p:nvPr/>
        </p:nvGrpSpPr>
        <p:grpSpPr>
          <a:xfrm>
            <a:off x="5204880" y="5959440"/>
            <a:ext cx="4128840" cy="3031560"/>
            <a:chOff x="5204880" y="5959440"/>
            <a:chExt cx="4128840" cy="3031560"/>
          </a:xfrm>
        </p:grpSpPr>
        <p:sp>
          <p:nvSpPr>
            <p:cNvPr id="136" name="Freeform 36"/>
            <p:cNvSpPr/>
            <p:nvPr/>
          </p:nvSpPr>
          <p:spPr>
            <a:xfrm>
              <a:off x="5204880" y="5959440"/>
              <a:ext cx="4128840" cy="3031560"/>
            </a:xfrm>
            <a:custGeom>
              <a:avLst/>
              <a:gdLst>
                <a:gd name="textAreaLeft" fmla="*/ 0 w 4128840"/>
                <a:gd name="textAreaRight" fmla="*/ 4129200 w 4128840"/>
                <a:gd name="textAreaTop" fmla="*/ 0 h 3031560"/>
                <a:gd name="textAreaBottom" fmla="*/ 3031920 h 3031560"/>
              </a:gdLst>
              <a:ahLst/>
              <a:rect l="textAreaLeft" t="textAreaTop" r="textAreaRight" b="textAreaBottom"/>
              <a:pathLst>
                <a:path w="5505450" h="4042410">
                  <a:moveTo>
                    <a:pt x="0" y="257302"/>
                  </a:moveTo>
                  <a:cubicBezTo>
                    <a:pt x="0" y="115189"/>
                    <a:pt x="115189" y="0"/>
                    <a:pt x="257302" y="0"/>
                  </a:cubicBezTo>
                  <a:lnTo>
                    <a:pt x="5248148" y="0"/>
                  </a:lnTo>
                  <a:cubicBezTo>
                    <a:pt x="5390261" y="0"/>
                    <a:pt x="5505450" y="115189"/>
                    <a:pt x="5505450" y="257302"/>
                  </a:cubicBezTo>
                  <a:lnTo>
                    <a:pt x="5505450" y="3785108"/>
                  </a:lnTo>
                  <a:cubicBezTo>
                    <a:pt x="5505450" y="3927221"/>
                    <a:pt x="5390261" y="4042410"/>
                    <a:pt x="5248148" y="4042410"/>
                  </a:cubicBezTo>
                  <a:lnTo>
                    <a:pt x="257302" y="4042410"/>
                  </a:lnTo>
                  <a:cubicBezTo>
                    <a:pt x="115189" y="4042410"/>
                    <a:pt x="0" y="3927221"/>
                    <a:pt x="0" y="3785108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7" name="Group 37"/>
          <p:cNvGrpSpPr/>
          <p:nvPr/>
        </p:nvGrpSpPr>
        <p:grpSpPr>
          <a:xfrm>
            <a:off x="5550120" y="6304680"/>
            <a:ext cx="831960" cy="831960"/>
            <a:chOff x="5550120" y="6304680"/>
            <a:chExt cx="831960" cy="831960"/>
          </a:xfrm>
        </p:grpSpPr>
        <p:sp>
          <p:nvSpPr>
            <p:cNvPr id="138" name="Freeform 38"/>
            <p:cNvSpPr/>
            <p:nvPr/>
          </p:nvSpPr>
          <p:spPr>
            <a:xfrm>
              <a:off x="5550120" y="630468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ffe4e6"/>
            </a:solidFill>
            <a:ln cap="sq" w="9525">
              <a:solidFill>
                <a:srgbClr val="ffe4e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9" name="Group 39"/>
          <p:cNvGrpSpPr/>
          <p:nvPr/>
        </p:nvGrpSpPr>
        <p:grpSpPr>
          <a:xfrm>
            <a:off x="5760720" y="6515280"/>
            <a:ext cx="411120" cy="411120"/>
            <a:chOff x="5760720" y="6515280"/>
            <a:chExt cx="411120" cy="411120"/>
          </a:xfrm>
        </p:grpSpPr>
        <p:sp>
          <p:nvSpPr>
            <p:cNvPr id="140" name="Freeform 40"/>
            <p:cNvSpPr/>
            <p:nvPr/>
          </p:nvSpPr>
          <p:spPr>
            <a:xfrm>
              <a:off x="5760720" y="651528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41" name="TextBox 41"/>
          <p:cNvSpPr/>
          <p:nvPr/>
        </p:nvSpPr>
        <p:spPr>
          <a:xfrm>
            <a:off x="5555160" y="7300080"/>
            <a:ext cx="35658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80"/>
              </a:lnSpc>
            </a:pPr>
            <a:r>
              <a:rPr b="1" lang="en-US" sz="24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Manual load balancing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42"/>
          <p:cNvSpPr/>
          <p:nvPr/>
        </p:nvSpPr>
        <p:spPr>
          <a:xfrm>
            <a:off x="5555160" y="7839000"/>
            <a:ext cx="356580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475569"/>
                </a:solidFill>
                <a:latin typeface="Calibri (MS)"/>
                <a:ea typeface="Calibri (MS)"/>
              </a:rPr>
              <a:t>Staff shift work between desks by hand.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43" name="Group 43"/>
          <p:cNvGrpSpPr/>
          <p:nvPr/>
        </p:nvGrpSpPr>
        <p:grpSpPr>
          <a:xfrm>
            <a:off x="9875520" y="2674800"/>
            <a:ext cx="7584480" cy="6309000"/>
            <a:chOff x="9875520" y="2674800"/>
            <a:chExt cx="7584480" cy="6309000"/>
          </a:xfrm>
        </p:grpSpPr>
        <p:sp>
          <p:nvSpPr>
            <p:cNvPr id="144" name="Freeform 44"/>
            <p:cNvSpPr/>
            <p:nvPr/>
          </p:nvSpPr>
          <p:spPr>
            <a:xfrm>
              <a:off x="9875520" y="2674800"/>
              <a:ext cx="7584480" cy="6309000"/>
            </a:xfrm>
            <a:custGeom>
              <a:avLst/>
              <a:gdLst>
                <a:gd name="textAreaLeft" fmla="*/ 0 w 7584480"/>
                <a:gd name="textAreaRight" fmla="*/ 7584840 w 7584480"/>
                <a:gd name="textAreaTop" fmla="*/ 0 h 6309000"/>
                <a:gd name="textAreaBottom" fmla="*/ 6309360 h 6309000"/>
              </a:gdLst>
              <a:ahLst/>
              <a:rect l="textAreaLeft" t="textAreaTop" r="textAreaRight" b="textAreaBottom"/>
              <a:pathLst>
                <a:path w="10113263" h="8412480">
                  <a:moveTo>
                    <a:pt x="0" y="256032"/>
                  </a:moveTo>
                  <a:cubicBezTo>
                    <a:pt x="0" y="114554"/>
                    <a:pt x="114554" y="0"/>
                    <a:pt x="256032" y="0"/>
                  </a:cubicBezTo>
                  <a:lnTo>
                    <a:pt x="9857232" y="0"/>
                  </a:lnTo>
                  <a:cubicBezTo>
                    <a:pt x="9998583" y="0"/>
                    <a:pt x="10113263" y="114554"/>
                    <a:pt x="10113263" y="256032"/>
                  </a:cubicBezTo>
                  <a:lnTo>
                    <a:pt x="10113263" y="8156448"/>
                  </a:lnTo>
                  <a:cubicBezTo>
                    <a:pt x="10113263" y="8297799"/>
                    <a:pt x="9998710" y="8412480"/>
                    <a:pt x="9857232" y="8412480"/>
                  </a:cubicBezTo>
                  <a:lnTo>
                    <a:pt x="256032" y="8412480"/>
                  </a:lnTo>
                  <a:cubicBezTo>
                    <a:pt x="114554" y="8412480"/>
                    <a:pt x="0" y="8297926"/>
                    <a:pt x="0" y="8156448"/>
                  </a:cubicBezTo>
                  <a:close/>
                </a:path>
              </a:pathLst>
            </a:custGeom>
            <a:solidFill>
              <a:srgbClr val="0f172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5" name="Group 45"/>
          <p:cNvGrpSpPr/>
          <p:nvPr/>
        </p:nvGrpSpPr>
        <p:grpSpPr>
          <a:xfrm>
            <a:off x="10416960" y="3147480"/>
            <a:ext cx="2620080" cy="480240"/>
            <a:chOff x="10416960" y="3147480"/>
            <a:chExt cx="2620080" cy="480240"/>
          </a:xfrm>
        </p:grpSpPr>
        <p:sp>
          <p:nvSpPr>
            <p:cNvPr id="146" name="Freeform 46"/>
            <p:cNvSpPr/>
            <p:nvPr/>
          </p:nvSpPr>
          <p:spPr>
            <a:xfrm>
              <a:off x="10416960" y="3147480"/>
              <a:ext cx="2620080" cy="480240"/>
            </a:xfrm>
            <a:custGeom>
              <a:avLst/>
              <a:gdLst>
                <a:gd name="textAreaLeft" fmla="*/ 0 w 2620080"/>
                <a:gd name="textAreaRight" fmla="*/ 2620440 w 262008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3493770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3173349" y="0"/>
                  </a:lnTo>
                  <a:cubicBezTo>
                    <a:pt x="3350260" y="0"/>
                    <a:pt x="3493770" y="143510"/>
                    <a:pt x="3493770" y="320421"/>
                  </a:cubicBezTo>
                  <a:cubicBezTo>
                    <a:pt x="3493770" y="497332"/>
                    <a:pt x="3350260" y="640842"/>
                    <a:pt x="3173349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7" name="Group 47"/>
          <p:cNvGrpSpPr/>
          <p:nvPr/>
        </p:nvGrpSpPr>
        <p:grpSpPr>
          <a:xfrm>
            <a:off x="10424160" y="3133080"/>
            <a:ext cx="2605680" cy="487440"/>
            <a:chOff x="10424160" y="3133080"/>
            <a:chExt cx="2605680" cy="487440"/>
          </a:xfrm>
        </p:grpSpPr>
        <p:sp>
          <p:nvSpPr>
            <p:cNvPr id="148" name="Freeform 48"/>
            <p:cNvSpPr/>
            <p:nvPr/>
          </p:nvSpPr>
          <p:spPr>
            <a:xfrm>
              <a:off x="10424160" y="3154680"/>
              <a:ext cx="2605680" cy="465840"/>
            </a:xfrm>
            <a:custGeom>
              <a:avLst/>
              <a:gdLst>
                <a:gd name="textAreaLeft" fmla="*/ 0 w 2605680"/>
                <a:gd name="textAreaRight" fmla="*/ 2606040 w 260568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3474720" h="621792">
                  <a:moveTo>
                    <a:pt x="0" y="0"/>
                  </a:moveTo>
                  <a:lnTo>
                    <a:pt x="3474720" y="0"/>
                  </a:lnTo>
                  <a:lnTo>
                    <a:pt x="3474720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9" name="TextBox 49"/>
            <p:cNvSpPr/>
            <p:nvPr/>
          </p:nvSpPr>
          <p:spPr>
            <a:xfrm>
              <a:off x="10424160" y="3133080"/>
              <a:ext cx="26056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2dd4bf"/>
                  </a:solidFill>
                  <a:latin typeface="Calibri (MS) Bold"/>
                  <a:ea typeface="Calibri (MS) Bold"/>
                </a:rPr>
                <a:t>OUR SOLUTION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0" name="TextBox 50"/>
          <p:cNvSpPr/>
          <p:nvPr/>
        </p:nvSpPr>
        <p:spPr>
          <a:xfrm>
            <a:off x="10424160" y="3842280"/>
            <a:ext cx="6446160" cy="15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b="1" lang="en-US" sz="330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One synchronized ecosystem that eliminates queues and streamlines service delivery.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1" name="Group 51"/>
          <p:cNvGrpSpPr/>
          <p:nvPr/>
        </p:nvGrpSpPr>
        <p:grpSpPr>
          <a:xfrm>
            <a:off x="10416960" y="6027840"/>
            <a:ext cx="6501600" cy="1110960"/>
            <a:chOff x="10416960" y="6027840"/>
            <a:chExt cx="6501600" cy="1110960"/>
          </a:xfrm>
        </p:grpSpPr>
        <p:sp>
          <p:nvSpPr>
            <p:cNvPr id="152" name="Freeform 52"/>
            <p:cNvSpPr/>
            <p:nvPr/>
          </p:nvSpPr>
          <p:spPr>
            <a:xfrm>
              <a:off x="10416960" y="6027840"/>
              <a:ext cx="6501600" cy="1110960"/>
            </a:xfrm>
            <a:custGeom>
              <a:avLst/>
              <a:gdLst>
                <a:gd name="textAreaLeft" fmla="*/ 0 w 6501600"/>
                <a:gd name="textAreaRight" fmla="*/ 6501960 w 6501600"/>
                <a:gd name="textAreaTop" fmla="*/ 0 h 1110960"/>
                <a:gd name="textAreaBottom" fmla="*/ 1111320 h 1110960"/>
              </a:gdLst>
              <a:ahLst/>
              <a:rect l="textAreaLeft" t="textAreaTop" r="textAreaRight" b="textAreaBottom"/>
              <a:pathLst>
                <a:path w="8669274" h="1481963">
                  <a:moveTo>
                    <a:pt x="0" y="222250"/>
                  </a:moveTo>
                  <a:cubicBezTo>
                    <a:pt x="0" y="99568"/>
                    <a:pt x="99568" y="0"/>
                    <a:pt x="222250" y="0"/>
                  </a:cubicBezTo>
                  <a:lnTo>
                    <a:pt x="8447024" y="0"/>
                  </a:lnTo>
                  <a:cubicBezTo>
                    <a:pt x="8569833" y="0"/>
                    <a:pt x="8669274" y="99568"/>
                    <a:pt x="8669274" y="222250"/>
                  </a:cubicBezTo>
                  <a:lnTo>
                    <a:pt x="8669274" y="1259713"/>
                  </a:lnTo>
                  <a:cubicBezTo>
                    <a:pt x="8669274" y="1382522"/>
                    <a:pt x="8569706" y="1481963"/>
                    <a:pt x="8447024" y="1481963"/>
                  </a:cubicBezTo>
                  <a:lnTo>
                    <a:pt x="222250" y="1481963"/>
                  </a:lnTo>
                  <a:cubicBezTo>
                    <a:pt x="99568" y="1482090"/>
                    <a:pt x="0" y="1382522"/>
                    <a:pt x="0" y="1259713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53" name="Group 53"/>
          <p:cNvGrpSpPr/>
          <p:nvPr/>
        </p:nvGrpSpPr>
        <p:grpSpPr>
          <a:xfrm>
            <a:off x="10767240" y="6006600"/>
            <a:ext cx="5897520" cy="1125360"/>
            <a:chOff x="10767240" y="6006600"/>
            <a:chExt cx="5897520" cy="1125360"/>
          </a:xfrm>
        </p:grpSpPr>
        <p:sp>
          <p:nvSpPr>
            <p:cNvPr id="154" name="Freeform 54"/>
            <p:cNvSpPr/>
            <p:nvPr/>
          </p:nvSpPr>
          <p:spPr>
            <a:xfrm>
              <a:off x="10767240" y="6035040"/>
              <a:ext cx="5897520" cy="1096920"/>
            </a:xfrm>
            <a:custGeom>
              <a:avLst/>
              <a:gdLst>
                <a:gd name="textAreaLeft" fmla="*/ 0 w 5897520"/>
                <a:gd name="textAreaRight" fmla="*/ 5897880 w 5897520"/>
                <a:gd name="textAreaTop" fmla="*/ 0 h 1096920"/>
                <a:gd name="textAreaBottom" fmla="*/ 1097280 h 1096920"/>
              </a:gdLst>
              <a:ahLst/>
              <a:rect l="textAreaLeft" t="textAreaTop" r="textAreaRight" b="textAreaBottom"/>
              <a:pathLst>
                <a:path w="7863840" h="1463040">
                  <a:moveTo>
                    <a:pt x="0" y="0"/>
                  </a:moveTo>
                  <a:lnTo>
                    <a:pt x="7863840" y="0"/>
                  </a:lnTo>
                  <a:lnTo>
                    <a:pt x="7863840" y="1463040"/>
                  </a:lnTo>
                  <a:lnTo>
                    <a:pt x="0" y="1463040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5" name="TextBox 55"/>
            <p:cNvSpPr/>
            <p:nvPr/>
          </p:nvSpPr>
          <p:spPr>
            <a:xfrm>
              <a:off x="10767240" y="6006600"/>
              <a:ext cx="5897520" cy="1125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ffffff"/>
                  </a:solidFill>
                  <a:latin typeface="Calibri (MS) Bold"/>
                  <a:ea typeface="Calibri (MS) Bold"/>
                </a:rPr>
                <a:t>Citizen Public Portal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6" name="Group 56"/>
          <p:cNvGrpSpPr/>
          <p:nvPr/>
        </p:nvGrpSpPr>
        <p:grpSpPr>
          <a:xfrm>
            <a:off x="10416960" y="7399440"/>
            <a:ext cx="6501600" cy="1110960"/>
            <a:chOff x="10416960" y="7399440"/>
            <a:chExt cx="6501600" cy="1110960"/>
          </a:xfrm>
        </p:grpSpPr>
        <p:sp>
          <p:nvSpPr>
            <p:cNvPr id="157" name="Freeform 57"/>
            <p:cNvSpPr/>
            <p:nvPr/>
          </p:nvSpPr>
          <p:spPr>
            <a:xfrm>
              <a:off x="10416960" y="7399440"/>
              <a:ext cx="6501600" cy="1110960"/>
            </a:xfrm>
            <a:custGeom>
              <a:avLst/>
              <a:gdLst>
                <a:gd name="textAreaLeft" fmla="*/ 0 w 6501600"/>
                <a:gd name="textAreaRight" fmla="*/ 6501960 w 6501600"/>
                <a:gd name="textAreaTop" fmla="*/ 0 h 1110960"/>
                <a:gd name="textAreaBottom" fmla="*/ 1111320 h 1110960"/>
              </a:gdLst>
              <a:ahLst/>
              <a:rect l="textAreaLeft" t="textAreaTop" r="textAreaRight" b="textAreaBottom"/>
              <a:pathLst>
                <a:path w="8669274" h="1481963">
                  <a:moveTo>
                    <a:pt x="0" y="222250"/>
                  </a:moveTo>
                  <a:cubicBezTo>
                    <a:pt x="0" y="99568"/>
                    <a:pt x="99568" y="0"/>
                    <a:pt x="222250" y="0"/>
                  </a:cubicBezTo>
                  <a:lnTo>
                    <a:pt x="8447024" y="0"/>
                  </a:lnTo>
                  <a:cubicBezTo>
                    <a:pt x="8569833" y="0"/>
                    <a:pt x="8669274" y="99568"/>
                    <a:pt x="8669274" y="222250"/>
                  </a:cubicBezTo>
                  <a:lnTo>
                    <a:pt x="8669274" y="1259713"/>
                  </a:lnTo>
                  <a:cubicBezTo>
                    <a:pt x="8669274" y="1382522"/>
                    <a:pt x="8569706" y="1481963"/>
                    <a:pt x="8447024" y="1481963"/>
                  </a:cubicBezTo>
                  <a:lnTo>
                    <a:pt x="222250" y="1481963"/>
                  </a:lnTo>
                  <a:cubicBezTo>
                    <a:pt x="99568" y="1482090"/>
                    <a:pt x="0" y="1382522"/>
                    <a:pt x="0" y="1259713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58" name="Group 58"/>
          <p:cNvGrpSpPr/>
          <p:nvPr/>
        </p:nvGrpSpPr>
        <p:grpSpPr>
          <a:xfrm>
            <a:off x="10767240" y="7378200"/>
            <a:ext cx="5897520" cy="1125360"/>
            <a:chOff x="10767240" y="7378200"/>
            <a:chExt cx="5897520" cy="1125360"/>
          </a:xfrm>
        </p:grpSpPr>
        <p:sp>
          <p:nvSpPr>
            <p:cNvPr id="159" name="Freeform 59"/>
            <p:cNvSpPr/>
            <p:nvPr/>
          </p:nvSpPr>
          <p:spPr>
            <a:xfrm>
              <a:off x="10767240" y="7406640"/>
              <a:ext cx="5897520" cy="1096920"/>
            </a:xfrm>
            <a:custGeom>
              <a:avLst/>
              <a:gdLst>
                <a:gd name="textAreaLeft" fmla="*/ 0 w 5897520"/>
                <a:gd name="textAreaRight" fmla="*/ 5897880 w 5897520"/>
                <a:gd name="textAreaTop" fmla="*/ 0 h 1096920"/>
                <a:gd name="textAreaBottom" fmla="*/ 1097280 h 1096920"/>
              </a:gdLst>
              <a:ahLst/>
              <a:rect l="textAreaLeft" t="textAreaTop" r="textAreaRight" b="textAreaBottom"/>
              <a:pathLst>
                <a:path w="7863840" h="1463040">
                  <a:moveTo>
                    <a:pt x="0" y="0"/>
                  </a:moveTo>
                  <a:lnTo>
                    <a:pt x="7863840" y="0"/>
                  </a:lnTo>
                  <a:lnTo>
                    <a:pt x="7863840" y="1463040"/>
                  </a:lnTo>
                  <a:lnTo>
                    <a:pt x="0" y="146304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0" name="TextBox 60"/>
            <p:cNvSpPr/>
            <p:nvPr/>
          </p:nvSpPr>
          <p:spPr>
            <a:xfrm>
              <a:off x="10767240" y="7378200"/>
              <a:ext cx="5897520" cy="1125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ffffff"/>
                  </a:solidFill>
                  <a:latin typeface="Calibri (MS) Bold"/>
                  <a:ea typeface="Calibri (MS) Bold"/>
                </a:rPr>
                <a:t>Operator Workstation Terminal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1" name="TextBox 61"/>
          <p:cNvSpPr/>
          <p:nvPr/>
        </p:nvSpPr>
        <p:spPr>
          <a:xfrm>
            <a:off x="13990320" y="7185960"/>
            <a:ext cx="28800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981"/>
              </a:lnSpc>
            </a:pPr>
            <a:r>
              <a:rPr b="0" lang="en-US" sz="1650" spc="-1" strike="noStrike">
                <a:solidFill>
                  <a:srgbClr val="2dd4bf"/>
                </a:solidFill>
                <a:latin typeface="Calibri (MS)"/>
                <a:ea typeface="Calibri (MS)"/>
              </a:rPr>
              <a:t>real-time sync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62"/>
          <p:cNvSpPr/>
          <p:nvPr/>
        </p:nvSpPr>
        <p:spPr>
          <a:xfrm>
            <a:off x="16550640" y="9608760"/>
            <a:ext cx="8179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64748b"/>
                </a:solidFill>
                <a:latin typeface="Calibri (MS)"/>
                <a:ea typeface="Calibri (MS)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2"/>
          <p:cNvGrpSpPr/>
          <p:nvPr/>
        </p:nvGrpSpPr>
        <p:grpSpPr>
          <a:xfrm>
            <a:off x="822960" y="9572760"/>
            <a:ext cx="8229240" cy="439560"/>
            <a:chOff x="822960" y="9572760"/>
            <a:chExt cx="8229240" cy="439560"/>
          </a:xfrm>
        </p:grpSpPr>
        <p:sp>
          <p:nvSpPr>
            <p:cNvPr id="164" name="Freeform 3"/>
            <p:cNvSpPr/>
            <p:nvPr/>
          </p:nvSpPr>
          <p:spPr>
            <a:xfrm>
              <a:off x="822960" y="9601200"/>
              <a:ext cx="8229240" cy="411120"/>
            </a:xfrm>
            <a:custGeom>
              <a:avLst/>
              <a:gdLst>
                <a:gd name="textAreaLeft" fmla="*/ 0 w 8229240"/>
                <a:gd name="textAreaRight" fmla="*/ 8229600 w 822924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5" name="TextBox 4"/>
            <p:cNvSpPr/>
            <p:nvPr/>
          </p:nvSpPr>
          <p:spPr>
            <a:xfrm>
              <a:off x="822960" y="9572760"/>
              <a:ext cx="8229240" cy="43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800"/>
                </a:lnSpc>
              </a:pPr>
              <a:r>
                <a:rPr b="0" lang="en-US" sz="1500" spc="-1" strike="noStrike">
                  <a:solidFill>
                    <a:srgbClr val="64748b"/>
                  </a:solidFill>
                  <a:latin typeface="Calibri (MS)"/>
                  <a:ea typeface="Calibri (MS)"/>
                </a:rPr>
                <a:t>SQMS  ·  DAO Kathmandu</a:t>
              </a:r>
              <a:endParaRPr b="0" lang="en-US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6" name="Group 5"/>
          <p:cNvGrpSpPr/>
          <p:nvPr/>
        </p:nvGrpSpPr>
        <p:grpSpPr>
          <a:xfrm>
            <a:off x="815760" y="678600"/>
            <a:ext cx="2757240" cy="480240"/>
            <a:chOff x="815760" y="678600"/>
            <a:chExt cx="2757240" cy="480240"/>
          </a:xfrm>
        </p:grpSpPr>
        <p:sp>
          <p:nvSpPr>
            <p:cNvPr id="167" name="Freeform 6"/>
            <p:cNvSpPr/>
            <p:nvPr/>
          </p:nvSpPr>
          <p:spPr>
            <a:xfrm>
              <a:off x="815760" y="678600"/>
              <a:ext cx="2757240" cy="480240"/>
            </a:xfrm>
            <a:custGeom>
              <a:avLst/>
              <a:gdLst>
                <a:gd name="textAreaLeft" fmla="*/ 0 w 2757240"/>
                <a:gd name="textAreaRight" fmla="*/ 2757600 w 275724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3676650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3356229" y="0"/>
                  </a:lnTo>
                  <a:cubicBezTo>
                    <a:pt x="3533140" y="0"/>
                    <a:pt x="3676650" y="143510"/>
                    <a:pt x="3676650" y="320421"/>
                  </a:cubicBezTo>
                  <a:cubicBezTo>
                    <a:pt x="3676650" y="497332"/>
                    <a:pt x="3533140" y="640842"/>
                    <a:pt x="3356229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ccfbf1"/>
            </a:solidFill>
            <a:ln cap="sq" w="14288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8" name="Group 7"/>
          <p:cNvGrpSpPr/>
          <p:nvPr/>
        </p:nvGrpSpPr>
        <p:grpSpPr>
          <a:xfrm>
            <a:off x="822960" y="664200"/>
            <a:ext cx="2742840" cy="487440"/>
            <a:chOff x="822960" y="664200"/>
            <a:chExt cx="2742840" cy="487440"/>
          </a:xfrm>
        </p:grpSpPr>
        <p:sp>
          <p:nvSpPr>
            <p:cNvPr id="169" name="Freeform 8"/>
            <p:cNvSpPr/>
            <p:nvPr/>
          </p:nvSpPr>
          <p:spPr>
            <a:xfrm>
              <a:off x="822960" y="685800"/>
              <a:ext cx="2742840" cy="465840"/>
            </a:xfrm>
            <a:custGeom>
              <a:avLst/>
              <a:gdLst>
                <a:gd name="textAreaLeft" fmla="*/ 0 w 2742840"/>
                <a:gd name="textAreaRight" fmla="*/ 2743200 w 274284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3657600" h="621792">
                  <a:moveTo>
                    <a:pt x="0" y="0"/>
                  </a:moveTo>
                  <a:lnTo>
                    <a:pt x="3657600" y="0"/>
                  </a:lnTo>
                  <a:lnTo>
                    <a:pt x="3657600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0" name="TextBox 9"/>
            <p:cNvSpPr/>
            <p:nvPr/>
          </p:nvSpPr>
          <p:spPr>
            <a:xfrm>
              <a:off x="822960" y="664200"/>
              <a:ext cx="274284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ARCHITECTURE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1" name="TextBox 10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A Two-Tier Digital Ecosystem</a:t>
            </a:r>
            <a:endParaRPr b="0" lang="en-US" sz="5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2" name="Group 11"/>
          <p:cNvGrpSpPr/>
          <p:nvPr/>
        </p:nvGrpSpPr>
        <p:grpSpPr>
          <a:xfrm>
            <a:off x="815760" y="2667600"/>
            <a:ext cx="7557840" cy="4334400"/>
            <a:chOff x="815760" y="2667600"/>
            <a:chExt cx="7557840" cy="4334400"/>
          </a:xfrm>
        </p:grpSpPr>
        <p:sp>
          <p:nvSpPr>
            <p:cNvPr id="173" name="Freeform 12"/>
            <p:cNvSpPr/>
            <p:nvPr/>
          </p:nvSpPr>
          <p:spPr>
            <a:xfrm>
              <a:off x="815760" y="2667600"/>
              <a:ext cx="7557840" cy="4334400"/>
            </a:xfrm>
            <a:custGeom>
              <a:avLst/>
              <a:gdLst>
                <a:gd name="textAreaLeft" fmla="*/ 0 w 7557840"/>
                <a:gd name="textAreaRight" fmla="*/ 7558200 w 7557840"/>
                <a:gd name="textAreaTop" fmla="*/ 0 h 4334400"/>
                <a:gd name="textAreaBottom" fmla="*/ 4334760 h 4334400"/>
              </a:gdLst>
              <a:ahLst/>
              <a:rect l="textAreaLeft" t="textAreaTop" r="textAreaRight" b="textAreaBottom"/>
              <a:pathLst>
                <a:path w="10077450" h="5779770">
                  <a:moveTo>
                    <a:pt x="0" y="256794"/>
                  </a:moveTo>
                  <a:cubicBezTo>
                    <a:pt x="0" y="114935"/>
                    <a:pt x="114935" y="0"/>
                    <a:pt x="256794" y="0"/>
                  </a:cubicBezTo>
                  <a:lnTo>
                    <a:pt x="9820656" y="0"/>
                  </a:lnTo>
                  <a:cubicBezTo>
                    <a:pt x="9962515" y="0"/>
                    <a:pt x="10077450" y="114935"/>
                    <a:pt x="10077450" y="256794"/>
                  </a:cubicBezTo>
                  <a:lnTo>
                    <a:pt x="10077450" y="5522976"/>
                  </a:lnTo>
                  <a:cubicBezTo>
                    <a:pt x="10077450" y="5664835"/>
                    <a:pt x="9962515" y="5779770"/>
                    <a:pt x="9820656" y="5779770"/>
                  </a:cubicBezTo>
                  <a:lnTo>
                    <a:pt x="256794" y="5779770"/>
                  </a:lnTo>
                  <a:cubicBezTo>
                    <a:pt x="114935" y="5779770"/>
                    <a:pt x="0" y="5664835"/>
                    <a:pt x="0" y="5522976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4" name="Group 13"/>
          <p:cNvGrpSpPr/>
          <p:nvPr/>
        </p:nvGrpSpPr>
        <p:grpSpPr>
          <a:xfrm>
            <a:off x="1298160" y="3012840"/>
            <a:ext cx="831960" cy="831960"/>
            <a:chOff x="1298160" y="3012840"/>
            <a:chExt cx="831960" cy="831960"/>
          </a:xfrm>
        </p:grpSpPr>
        <p:sp>
          <p:nvSpPr>
            <p:cNvPr id="175" name="Freeform 14"/>
            <p:cNvSpPr/>
            <p:nvPr/>
          </p:nvSpPr>
          <p:spPr>
            <a:xfrm>
              <a:off x="1298160" y="301284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" name="Group 15"/>
          <p:cNvGrpSpPr/>
          <p:nvPr/>
        </p:nvGrpSpPr>
        <p:grpSpPr>
          <a:xfrm>
            <a:off x="1508760" y="3223440"/>
            <a:ext cx="411120" cy="411120"/>
            <a:chOff x="1508760" y="3223440"/>
            <a:chExt cx="411120" cy="411120"/>
          </a:xfrm>
        </p:grpSpPr>
        <p:sp>
          <p:nvSpPr>
            <p:cNvPr id="177" name="Freeform 16"/>
            <p:cNvSpPr/>
            <p:nvPr/>
          </p:nvSpPr>
          <p:spPr>
            <a:xfrm>
              <a:off x="1508760" y="322344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8" name="TextBox 17"/>
          <p:cNvSpPr/>
          <p:nvPr/>
        </p:nvSpPr>
        <p:spPr>
          <a:xfrm>
            <a:off x="2400480" y="2989080"/>
            <a:ext cx="41144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981"/>
              </a:lnSpc>
            </a:pPr>
            <a:r>
              <a:rPr b="1" lang="en-US" sz="1650" spc="296" strike="noStrike">
                <a:solidFill>
                  <a:srgbClr val="0f766e"/>
                </a:solidFill>
                <a:latin typeface="Calibri (MS) Bold"/>
                <a:ea typeface="Calibri (MS) Bold"/>
              </a:rPr>
              <a:t>TIER 1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Box 18"/>
          <p:cNvSpPr/>
          <p:nvPr/>
        </p:nvSpPr>
        <p:spPr>
          <a:xfrm>
            <a:off x="2400480" y="3303360"/>
            <a:ext cx="576036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0"/>
              </a:lnSpc>
            </a:pPr>
            <a:r>
              <a:rPr b="1" lang="en-US" sz="27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Citizen Public Portal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19"/>
          <p:cNvSpPr/>
          <p:nvPr/>
        </p:nvSpPr>
        <p:spPr>
          <a:xfrm>
            <a:off x="1303200" y="4135680"/>
            <a:ext cx="658332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475569"/>
                </a:solidFill>
                <a:latin typeface="Calibri (MS)"/>
                <a:ea typeface="Calibri (MS)"/>
              </a:rPr>
              <a:t>Mobile-first web app for real-time tracking, AI assistance and document checklists.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20"/>
          <p:cNvSpPr/>
          <p:nvPr/>
        </p:nvSpPr>
        <p:spPr>
          <a:xfrm>
            <a:off x="1303200" y="5232960"/>
            <a:ext cx="6583320" cy="96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380160" indent="-190080" defTabSz="914400">
              <a:lnSpc>
                <a:spcPts val="2520"/>
              </a:lnSpc>
              <a:buClr>
                <a:srgbClr val="0f172a"/>
              </a:buClr>
              <a:buFont typeface="Arial"/>
              <a:buChar char="•"/>
            </a:pPr>
            <a:r>
              <a:rPr b="0" lang="en-US" sz="2100" spc="-1" strike="noStrike">
                <a:solidFill>
                  <a:srgbClr val="0f172a"/>
                </a:solidFill>
                <a:latin typeface="Calibri (MS)"/>
                <a:ea typeface="Calibri (MS)"/>
              </a:rPr>
              <a:t>Live queue &amp; crowd advisory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380160" indent="-190080" defTabSz="914400">
              <a:lnSpc>
                <a:spcPts val="2520"/>
              </a:lnSpc>
              <a:buClr>
                <a:srgbClr val="0f172a"/>
              </a:buClr>
              <a:buFont typeface="Arial"/>
              <a:buChar char="•"/>
            </a:pPr>
            <a:r>
              <a:rPr b="0" lang="en-US" sz="2100" spc="-1" strike="noStrike">
                <a:solidFill>
                  <a:srgbClr val="0f172a"/>
                </a:solidFill>
                <a:latin typeface="Calibri (MS)"/>
                <a:ea typeface="Calibri (MS)"/>
              </a:rPr>
              <a:t>24/7 AI citizen assistant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380160" indent="-190080" defTabSz="914400">
              <a:lnSpc>
                <a:spcPts val="2520"/>
              </a:lnSpc>
              <a:buClr>
                <a:srgbClr val="0f172a"/>
              </a:buClr>
              <a:buFont typeface="Arial"/>
              <a:buChar char="•"/>
            </a:pPr>
            <a:r>
              <a:rPr b="0" lang="en-US" sz="2100" spc="-1" strike="noStrike">
                <a:solidFill>
                  <a:srgbClr val="0f172a"/>
                </a:solidFill>
                <a:latin typeface="Calibri (MS)"/>
                <a:ea typeface="Calibri (MS)"/>
              </a:rPr>
              <a:t>Interactive document checklists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2" name="Group 21"/>
          <p:cNvGrpSpPr/>
          <p:nvPr/>
        </p:nvGrpSpPr>
        <p:grpSpPr>
          <a:xfrm>
            <a:off x="9909360" y="2667600"/>
            <a:ext cx="7557840" cy="4334400"/>
            <a:chOff x="9909360" y="2667600"/>
            <a:chExt cx="7557840" cy="4334400"/>
          </a:xfrm>
        </p:grpSpPr>
        <p:sp>
          <p:nvSpPr>
            <p:cNvPr id="183" name="Freeform 22"/>
            <p:cNvSpPr/>
            <p:nvPr/>
          </p:nvSpPr>
          <p:spPr>
            <a:xfrm>
              <a:off x="9909360" y="2667600"/>
              <a:ext cx="7557840" cy="4334400"/>
            </a:xfrm>
            <a:custGeom>
              <a:avLst/>
              <a:gdLst>
                <a:gd name="textAreaLeft" fmla="*/ 0 w 7557840"/>
                <a:gd name="textAreaRight" fmla="*/ 7558200 w 7557840"/>
                <a:gd name="textAreaTop" fmla="*/ 0 h 4334400"/>
                <a:gd name="textAreaBottom" fmla="*/ 4334760 h 4334400"/>
              </a:gdLst>
              <a:ahLst/>
              <a:rect l="textAreaLeft" t="textAreaTop" r="textAreaRight" b="textAreaBottom"/>
              <a:pathLst>
                <a:path w="10077450" h="5779770">
                  <a:moveTo>
                    <a:pt x="0" y="256794"/>
                  </a:moveTo>
                  <a:cubicBezTo>
                    <a:pt x="0" y="114935"/>
                    <a:pt x="114935" y="0"/>
                    <a:pt x="256794" y="0"/>
                  </a:cubicBezTo>
                  <a:lnTo>
                    <a:pt x="9820656" y="0"/>
                  </a:lnTo>
                  <a:cubicBezTo>
                    <a:pt x="9962515" y="0"/>
                    <a:pt x="10077450" y="114935"/>
                    <a:pt x="10077450" y="256794"/>
                  </a:cubicBezTo>
                  <a:lnTo>
                    <a:pt x="10077450" y="5522976"/>
                  </a:lnTo>
                  <a:cubicBezTo>
                    <a:pt x="10077450" y="5664835"/>
                    <a:pt x="9962515" y="5779770"/>
                    <a:pt x="9820656" y="5779770"/>
                  </a:cubicBezTo>
                  <a:lnTo>
                    <a:pt x="256794" y="5779770"/>
                  </a:lnTo>
                  <a:cubicBezTo>
                    <a:pt x="114935" y="5779770"/>
                    <a:pt x="0" y="5664835"/>
                    <a:pt x="0" y="5522976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4" name="Group 23"/>
          <p:cNvGrpSpPr/>
          <p:nvPr/>
        </p:nvGrpSpPr>
        <p:grpSpPr>
          <a:xfrm>
            <a:off x="10392120" y="3012840"/>
            <a:ext cx="831960" cy="831960"/>
            <a:chOff x="10392120" y="3012840"/>
            <a:chExt cx="831960" cy="831960"/>
          </a:xfrm>
        </p:grpSpPr>
        <p:sp>
          <p:nvSpPr>
            <p:cNvPr id="185" name="Freeform 24"/>
            <p:cNvSpPr/>
            <p:nvPr/>
          </p:nvSpPr>
          <p:spPr>
            <a:xfrm>
              <a:off x="10392120" y="301284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6" name="Group 25"/>
          <p:cNvGrpSpPr/>
          <p:nvPr/>
        </p:nvGrpSpPr>
        <p:grpSpPr>
          <a:xfrm>
            <a:off x="10602360" y="3223440"/>
            <a:ext cx="411120" cy="411120"/>
            <a:chOff x="10602360" y="3223440"/>
            <a:chExt cx="411120" cy="411120"/>
          </a:xfrm>
        </p:grpSpPr>
        <p:sp>
          <p:nvSpPr>
            <p:cNvPr id="187" name="Freeform 26"/>
            <p:cNvSpPr/>
            <p:nvPr/>
          </p:nvSpPr>
          <p:spPr>
            <a:xfrm>
              <a:off x="10602360" y="322344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8" name="TextBox 27"/>
          <p:cNvSpPr/>
          <p:nvPr/>
        </p:nvSpPr>
        <p:spPr>
          <a:xfrm>
            <a:off x="11494080" y="2989080"/>
            <a:ext cx="41144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981"/>
              </a:lnSpc>
            </a:pPr>
            <a:r>
              <a:rPr b="1" lang="en-US" sz="1650" spc="296" strike="noStrike">
                <a:solidFill>
                  <a:srgbClr val="4338ca"/>
                </a:solidFill>
                <a:latin typeface="Calibri (MS) Bold"/>
                <a:ea typeface="Calibri (MS) Bold"/>
              </a:rPr>
              <a:t>TIER 2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28"/>
          <p:cNvSpPr/>
          <p:nvPr/>
        </p:nvSpPr>
        <p:spPr>
          <a:xfrm>
            <a:off x="11494080" y="3303360"/>
            <a:ext cx="5760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0"/>
              </a:lnSpc>
            </a:pPr>
            <a:r>
              <a:rPr b="1" lang="en-US" sz="27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Administrative &amp; Operator Terminal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29"/>
          <p:cNvSpPr/>
          <p:nvPr/>
        </p:nvSpPr>
        <p:spPr>
          <a:xfrm>
            <a:off x="10396800" y="4135680"/>
            <a:ext cx="658332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475569"/>
                </a:solidFill>
                <a:latin typeface="Calibri (MS)"/>
                <a:ea typeface="Calibri (MS)"/>
              </a:rPr>
              <a:t>Secure counter workstation for token calling, verification, transfer and analytics.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30"/>
          <p:cNvSpPr/>
          <p:nvPr/>
        </p:nvSpPr>
        <p:spPr>
          <a:xfrm>
            <a:off x="10396800" y="5232960"/>
            <a:ext cx="6583320" cy="96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380160" indent="-190080" defTabSz="914400">
              <a:lnSpc>
                <a:spcPts val="2520"/>
              </a:lnSpc>
              <a:buClr>
                <a:srgbClr val="0f172a"/>
              </a:buClr>
              <a:buFont typeface="Arial"/>
              <a:buChar char="•"/>
            </a:pPr>
            <a:r>
              <a:rPr b="0" lang="en-US" sz="2100" spc="-1" strike="noStrike">
                <a:solidFill>
                  <a:srgbClr val="0f172a"/>
                </a:solidFill>
                <a:latin typeface="Calibri (MS)"/>
                <a:ea typeface="Calibri (MS)"/>
              </a:rPr>
              <a:t>Token calling &amp; recall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380160" indent="-190080" defTabSz="914400">
              <a:lnSpc>
                <a:spcPts val="2520"/>
              </a:lnSpc>
              <a:buClr>
                <a:srgbClr val="0f172a"/>
              </a:buClr>
              <a:buFont typeface="Arial"/>
              <a:buChar char="•"/>
            </a:pPr>
            <a:r>
              <a:rPr b="0" lang="en-US" sz="2100" spc="-1" strike="noStrike">
                <a:solidFill>
                  <a:srgbClr val="0f172a"/>
                </a:solidFill>
                <a:latin typeface="Calibri (MS)"/>
                <a:ea typeface="Calibri (MS)"/>
              </a:rPr>
              <a:t>Verification &amp; window transfer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380160" indent="-190080" defTabSz="914400">
              <a:lnSpc>
                <a:spcPts val="2520"/>
              </a:lnSpc>
              <a:buClr>
                <a:srgbClr val="0f172a"/>
              </a:buClr>
              <a:buFont typeface="Arial"/>
              <a:buChar char="•"/>
            </a:pPr>
            <a:r>
              <a:rPr b="0" lang="en-US" sz="2100" spc="-1" strike="noStrike">
                <a:solidFill>
                  <a:srgbClr val="0f172a"/>
                </a:solidFill>
                <a:latin typeface="Calibri (MS)"/>
                <a:ea typeface="Calibri (MS)"/>
              </a:rPr>
              <a:t>Queue monitor &amp; analytics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2" name="Group 31"/>
          <p:cNvGrpSpPr/>
          <p:nvPr/>
        </p:nvGrpSpPr>
        <p:grpSpPr>
          <a:xfrm>
            <a:off x="8524440" y="4183560"/>
            <a:ext cx="1234080" cy="1234080"/>
            <a:chOff x="8524440" y="4183560"/>
            <a:chExt cx="1234080" cy="1234080"/>
          </a:xfrm>
        </p:grpSpPr>
        <p:sp>
          <p:nvSpPr>
            <p:cNvPr id="193" name="Freeform 32"/>
            <p:cNvSpPr/>
            <p:nvPr/>
          </p:nvSpPr>
          <p:spPr>
            <a:xfrm>
              <a:off x="8524440" y="4183560"/>
              <a:ext cx="1234080" cy="1234080"/>
            </a:xfrm>
            <a:custGeom>
              <a:avLst/>
              <a:gdLst>
                <a:gd name="textAreaLeft" fmla="*/ 0 w 1234080"/>
                <a:gd name="textAreaRight" fmla="*/ 1234440 w 1234080"/>
                <a:gd name="textAreaTop" fmla="*/ 0 h 1234080"/>
                <a:gd name="textAreaBottom" fmla="*/ 1234440 h 1234080"/>
              </a:gdLst>
              <a:ahLst/>
              <a:rect l="textAreaLeft" t="textAreaTop" r="textAreaRight" b="textAreaBottom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0f172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94" name="Group 33"/>
          <p:cNvGrpSpPr/>
          <p:nvPr/>
        </p:nvGrpSpPr>
        <p:grpSpPr>
          <a:xfrm>
            <a:off x="8860680" y="4526280"/>
            <a:ext cx="548280" cy="548280"/>
            <a:chOff x="8860680" y="4526280"/>
            <a:chExt cx="548280" cy="548280"/>
          </a:xfrm>
        </p:grpSpPr>
        <p:sp>
          <p:nvSpPr>
            <p:cNvPr id="195" name="Freeform 34"/>
            <p:cNvSpPr/>
            <p:nvPr/>
          </p:nvSpPr>
          <p:spPr>
            <a:xfrm>
              <a:off x="8860680" y="4526280"/>
              <a:ext cx="548280" cy="54828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6" name="TextBox 35"/>
          <p:cNvSpPr/>
          <p:nvPr/>
        </p:nvSpPr>
        <p:spPr>
          <a:xfrm>
            <a:off x="822960" y="7300080"/>
            <a:ext cx="82292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60"/>
              </a:lnSpc>
            </a:pPr>
            <a:r>
              <a:rPr b="1" lang="en-US" sz="1800" spc="299" strike="noStrike">
                <a:solidFill>
                  <a:srgbClr val="475569"/>
                </a:solidFill>
                <a:latin typeface="Calibri (MS) Bold"/>
                <a:ea typeface="Calibri (MS) Bold"/>
              </a:rPr>
              <a:t>INTEGRATION HIGHLIGHTS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7" name="Group 36"/>
          <p:cNvGrpSpPr/>
          <p:nvPr/>
        </p:nvGrpSpPr>
        <p:grpSpPr>
          <a:xfrm>
            <a:off x="815760" y="7810920"/>
            <a:ext cx="5363280" cy="1385640"/>
            <a:chOff x="815760" y="7810920"/>
            <a:chExt cx="5363280" cy="1385640"/>
          </a:xfrm>
        </p:grpSpPr>
        <p:sp>
          <p:nvSpPr>
            <p:cNvPr id="198" name="Freeform 37"/>
            <p:cNvSpPr/>
            <p:nvPr/>
          </p:nvSpPr>
          <p:spPr>
            <a:xfrm>
              <a:off x="815760" y="7810920"/>
              <a:ext cx="5363280" cy="1385640"/>
            </a:xfrm>
            <a:custGeom>
              <a:avLst/>
              <a:gdLst>
                <a:gd name="textAreaLeft" fmla="*/ 0 w 5363280"/>
                <a:gd name="textAreaRight" fmla="*/ 5363640 w 5363280"/>
                <a:gd name="textAreaTop" fmla="*/ 0 h 1385640"/>
                <a:gd name="textAreaBottom" fmla="*/ 1386000 h 1385640"/>
              </a:gdLst>
              <a:ahLst/>
              <a:rect l="textAreaLeft" t="textAreaTop" r="textAreaRight" b="textAreaBottom"/>
              <a:pathLst>
                <a:path w="7151370" h="1847850">
                  <a:moveTo>
                    <a:pt x="0" y="258699"/>
                  </a:moveTo>
                  <a:cubicBezTo>
                    <a:pt x="0" y="115824"/>
                    <a:pt x="115824" y="0"/>
                    <a:pt x="258699" y="0"/>
                  </a:cubicBezTo>
                  <a:lnTo>
                    <a:pt x="6892671" y="0"/>
                  </a:lnTo>
                  <a:cubicBezTo>
                    <a:pt x="7035546" y="0"/>
                    <a:pt x="7151370" y="115824"/>
                    <a:pt x="7151370" y="258699"/>
                  </a:cubicBezTo>
                  <a:lnTo>
                    <a:pt x="7151370" y="1589151"/>
                  </a:lnTo>
                  <a:cubicBezTo>
                    <a:pt x="7151370" y="1732026"/>
                    <a:pt x="7035546" y="1847850"/>
                    <a:pt x="6892671" y="1847850"/>
                  </a:cubicBezTo>
                  <a:lnTo>
                    <a:pt x="258699" y="1847850"/>
                  </a:lnTo>
                  <a:cubicBezTo>
                    <a:pt x="115824" y="1847850"/>
                    <a:pt x="0" y="1732026"/>
                    <a:pt x="0" y="1589151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9" name="Group 38"/>
          <p:cNvGrpSpPr/>
          <p:nvPr/>
        </p:nvGrpSpPr>
        <p:grpSpPr>
          <a:xfrm>
            <a:off x="1161000" y="8087760"/>
            <a:ext cx="831960" cy="831960"/>
            <a:chOff x="1161000" y="8087760"/>
            <a:chExt cx="831960" cy="831960"/>
          </a:xfrm>
        </p:grpSpPr>
        <p:sp>
          <p:nvSpPr>
            <p:cNvPr id="200" name="Freeform 39"/>
            <p:cNvSpPr/>
            <p:nvPr/>
          </p:nvSpPr>
          <p:spPr>
            <a:xfrm>
              <a:off x="1161000" y="808776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fef3c7"/>
            </a:solidFill>
            <a:ln cap="sq" w="9525">
              <a:solidFill>
                <a:srgbClr val="fef3c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1" name="Group 40"/>
          <p:cNvGrpSpPr/>
          <p:nvPr/>
        </p:nvGrpSpPr>
        <p:grpSpPr>
          <a:xfrm>
            <a:off x="1371600" y="8298360"/>
            <a:ext cx="411120" cy="411120"/>
            <a:chOff x="1371600" y="8298360"/>
            <a:chExt cx="411120" cy="411120"/>
          </a:xfrm>
        </p:grpSpPr>
        <p:sp>
          <p:nvSpPr>
            <p:cNvPr id="202" name="Freeform 41"/>
            <p:cNvSpPr/>
            <p:nvPr/>
          </p:nvSpPr>
          <p:spPr>
            <a:xfrm>
              <a:off x="1371600" y="829836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3" name="Group 42"/>
          <p:cNvGrpSpPr/>
          <p:nvPr/>
        </p:nvGrpSpPr>
        <p:grpSpPr>
          <a:xfrm>
            <a:off x="2263320" y="7789680"/>
            <a:ext cx="3771720" cy="1399680"/>
            <a:chOff x="2263320" y="7789680"/>
            <a:chExt cx="3771720" cy="1399680"/>
          </a:xfrm>
        </p:grpSpPr>
        <p:sp>
          <p:nvSpPr>
            <p:cNvPr id="204" name="Freeform 43"/>
            <p:cNvSpPr/>
            <p:nvPr/>
          </p:nvSpPr>
          <p:spPr>
            <a:xfrm>
              <a:off x="2263320" y="7818120"/>
              <a:ext cx="3771720" cy="1371240"/>
            </a:xfrm>
            <a:custGeom>
              <a:avLst/>
              <a:gdLst>
                <a:gd name="textAreaLeft" fmla="*/ 0 w 3771720"/>
                <a:gd name="textAreaRight" fmla="*/ 3772080 w 3771720"/>
                <a:gd name="textAreaTop" fmla="*/ 0 h 1371240"/>
                <a:gd name="textAreaBottom" fmla="*/ 1371600 h 1371240"/>
              </a:gdLst>
              <a:ahLst/>
              <a:rect l="textAreaLeft" t="textAreaTop" r="textAreaRight" b="textAreaBottom"/>
              <a:pathLst>
                <a:path w="5029200" h="1828800">
                  <a:moveTo>
                    <a:pt x="0" y="0"/>
                  </a:moveTo>
                  <a:lnTo>
                    <a:pt x="5029200" y="0"/>
                  </a:lnTo>
                  <a:lnTo>
                    <a:pt x="5029200" y="1828800"/>
                  </a:lnTo>
                  <a:lnTo>
                    <a:pt x="0" y="1828800"/>
                  </a:lnTo>
                  <a:close/>
                </a:path>
              </a:pathLst>
            </a:custGeom>
            <a:blipFill rotWithShape="0">
              <a:blip r:embed="rId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5" name="TextBox 44"/>
            <p:cNvSpPr/>
            <p:nvPr/>
          </p:nvSpPr>
          <p:spPr>
            <a:xfrm>
              <a:off x="2263320" y="7789680"/>
              <a:ext cx="3771720" cy="139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Bilingual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English / Nepali support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6" name="Group 45"/>
          <p:cNvGrpSpPr/>
          <p:nvPr/>
        </p:nvGrpSpPr>
        <p:grpSpPr>
          <a:xfrm>
            <a:off x="6459840" y="7810920"/>
            <a:ext cx="5363280" cy="1385640"/>
            <a:chOff x="6459840" y="7810920"/>
            <a:chExt cx="5363280" cy="1385640"/>
          </a:xfrm>
        </p:grpSpPr>
        <p:sp>
          <p:nvSpPr>
            <p:cNvPr id="207" name="Freeform 46"/>
            <p:cNvSpPr/>
            <p:nvPr/>
          </p:nvSpPr>
          <p:spPr>
            <a:xfrm>
              <a:off x="6459840" y="7810920"/>
              <a:ext cx="5363280" cy="1385640"/>
            </a:xfrm>
            <a:custGeom>
              <a:avLst/>
              <a:gdLst>
                <a:gd name="textAreaLeft" fmla="*/ 0 w 5363280"/>
                <a:gd name="textAreaRight" fmla="*/ 5363640 w 5363280"/>
                <a:gd name="textAreaTop" fmla="*/ 0 h 1385640"/>
                <a:gd name="textAreaBottom" fmla="*/ 1386000 h 1385640"/>
              </a:gdLst>
              <a:ahLst/>
              <a:rect l="textAreaLeft" t="textAreaTop" r="textAreaRight" b="textAreaBottom"/>
              <a:pathLst>
                <a:path w="7151370" h="1847850">
                  <a:moveTo>
                    <a:pt x="0" y="258699"/>
                  </a:moveTo>
                  <a:cubicBezTo>
                    <a:pt x="0" y="115824"/>
                    <a:pt x="115824" y="0"/>
                    <a:pt x="258699" y="0"/>
                  </a:cubicBezTo>
                  <a:lnTo>
                    <a:pt x="6892671" y="0"/>
                  </a:lnTo>
                  <a:cubicBezTo>
                    <a:pt x="7035546" y="0"/>
                    <a:pt x="7151370" y="115824"/>
                    <a:pt x="7151370" y="258699"/>
                  </a:cubicBezTo>
                  <a:lnTo>
                    <a:pt x="7151370" y="1589151"/>
                  </a:lnTo>
                  <a:cubicBezTo>
                    <a:pt x="7151370" y="1732026"/>
                    <a:pt x="7035546" y="1847850"/>
                    <a:pt x="6892671" y="1847850"/>
                  </a:cubicBezTo>
                  <a:lnTo>
                    <a:pt x="258699" y="1847850"/>
                  </a:lnTo>
                  <a:cubicBezTo>
                    <a:pt x="115824" y="1847850"/>
                    <a:pt x="0" y="1732026"/>
                    <a:pt x="0" y="1589151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8" name="Group 47"/>
          <p:cNvGrpSpPr/>
          <p:nvPr/>
        </p:nvGrpSpPr>
        <p:grpSpPr>
          <a:xfrm>
            <a:off x="6805080" y="8087760"/>
            <a:ext cx="831960" cy="831960"/>
            <a:chOff x="6805080" y="8087760"/>
            <a:chExt cx="831960" cy="831960"/>
          </a:xfrm>
        </p:grpSpPr>
        <p:sp>
          <p:nvSpPr>
            <p:cNvPr id="209" name="Freeform 48"/>
            <p:cNvSpPr/>
            <p:nvPr/>
          </p:nvSpPr>
          <p:spPr>
            <a:xfrm>
              <a:off x="6805080" y="808776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fef3c7"/>
            </a:solidFill>
            <a:ln cap="sq" w="9525">
              <a:solidFill>
                <a:srgbClr val="fef3c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" name="Group 49"/>
          <p:cNvGrpSpPr/>
          <p:nvPr/>
        </p:nvGrpSpPr>
        <p:grpSpPr>
          <a:xfrm>
            <a:off x="7015680" y="8298360"/>
            <a:ext cx="411120" cy="411120"/>
            <a:chOff x="7015680" y="8298360"/>
            <a:chExt cx="411120" cy="411120"/>
          </a:xfrm>
        </p:grpSpPr>
        <p:sp>
          <p:nvSpPr>
            <p:cNvPr id="211" name="Freeform 50"/>
            <p:cNvSpPr/>
            <p:nvPr/>
          </p:nvSpPr>
          <p:spPr>
            <a:xfrm>
              <a:off x="7015680" y="829836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2" name="Group 51"/>
          <p:cNvGrpSpPr/>
          <p:nvPr/>
        </p:nvGrpSpPr>
        <p:grpSpPr>
          <a:xfrm>
            <a:off x="7907400" y="7789680"/>
            <a:ext cx="3771720" cy="1399680"/>
            <a:chOff x="7907400" y="7789680"/>
            <a:chExt cx="3771720" cy="1399680"/>
          </a:xfrm>
        </p:grpSpPr>
        <p:sp>
          <p:nvSpPr>
            <p:cNvPr id="213" name="Freeform 52"/>
            <p:cNvSpPr/>
            <p:nvPr/>
          </p:nvSpPr>
          <p:spPr>
            <a:xfrm>
              <a:off x="7907400" y="7818120"/>
              <a:ext cx="3771720" cy="1371240"/>
            </a:xfrm>
            <a:custGeom>
              <a:avLst/>
              <a:gdLst>
                <a:gd name="textAreaLeft" fmla="*/ 0 w 3771720"/>
                <a:gd name="textAreaRight" fmla="*/ 3772080 w 3771720"/>
                <a:gd name="textAreaTop" fmla="*/ 0 h 1371240"/>
                <a:gd name="textAreaBottom" fmla="*/ 1371600 h 1371240"/>
              </a:gdLst>
              <a:ahLst/>
              <a:rect l="textAreaLeft" t="textAreaTop" r="textAreaRight" b="textAreaBottom"/>
              <a:pathLst>
                <a:path w="5029200" h="1828800">
                  <a:moveTo>
                    <a:pt x="0" y="0"/>
                  </a:moveTo>
                  <a:lnTo>
                    <a:pt x="5029200" y="0"/>
                  </a:lnTo>
                  <a:lnTo>
                    <a:pt x="5029200" y="1828800"/>
                  </a:lnTo>
                  <a:lnTo>
                    <a:pt x="0" y="182880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4" name="TextBox 53"/>
            <p:cNvSpPr/>
            <p:nvPr/>
          </p:nvSpPr>
          <p:spPr>
            <a:xfrm>
              <a:off x="7907400" y="7789680"/>
              <a:ext cx="3771720" cy="139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Offline-resilient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Local sync keeps counters running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5" name="Group 54"/>
          <p:cNvGrpSpPr/>
          <p:nvPr/>
        </p:nvGrpSpPr>
        <p:grpSpPr>
          <a:xfrm>
            <a:off x="12103920" y="7810920"/>
            <a:ext cx="5363280" cy="1385640"/>
            <a:chOff x="12103920" y="7810920"/>
            <a:chExt cx="5363280" cy="1385640"/>
          </a:xfrm>
        </p:grpSpPr>
        <p:sp>
          <p:nvSpPr>
            <p:cNvPr id="216" name="Freeform 55"/>
            <p:cNvSpPr/>
            <p:nvPr/>
          </p:nvSpPr>
          <p:spPr>
            <a:xfrm>
              <a:off x="12103920" y="7810920"/>
              <a:ext cx="5363280" cy="1385640"/>
            </a:xfrm>
            <a:custGeom>
              <a:avLst/>
              <a:gdLst>
                <a:gd name="textAreaLeft" fmla="*/ 0 w 5363280"/>
                <a:gd name="textAreaRight" fmla="*/ 5363640 w 5363280"/>
                <a:gd name="textAreaTop" fmla="*/ 0 h 1385640"/>
                <a:gd name="textAreaBottom" fmla="*/ 1386000 h 1385640"/>
              </a:gdLst>
              <a:ahLst/>
              <a:rect l="textAreaLeft" t="textAreaTop" r="textAreaRight" b="textAreaBottom"/>
              <a:pathLst>
                <a:path w="7151370" h="1847850">
                  <a:moveTo>
                    <a:pt x="0" y="258699"/>
                  </a:moveTo>
                  <a:cubicBezTo>
                    <a:pt x="0" y="115824"/>
                    <a:pt x="115824" y="0"/>
                    <a:pt x="258699" y="0"/>
                  </a:cubicBezTo>
                  <a:lnTo>
                    <a:pt x="6892671" y="0"/>
                  </a:lnTo>
                  <a:cubicBezTo>
                    <a:pt x="7035546" y="0"/>
                    <a:pt x="7151370" y="115824"/>
                    <a:pt x="7151370" y="258699"/>
                  </a:cubicBezTo>
                  <a:lnTo>
                    <a:pt x="7151370" y="1589151"/>
                  </a:lnTo>
                  <a:cubicBezTo>
                    <a:pt x="7151370" y="1732026"/>
                    <a:pt x="7035546" y="1847850"/>
                    <a:pt x="6892671" y="1847850"/>
                  </a:cubicBezTo>
                  <a:lnTo>
                    <a:pt x="258699" y="1847850"/>
                  </a:lnTo>
                  <a:cubicBezTo>
                    <a:pt x="115824" y="1847850"/>
                    <a:pt x="0" y="1732026"/>
                    <a:pt x="0" y="1589151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7" name="Group 56"/>
          <p:cNvGrpSpPr/>
          <p:nvPr/>
        </p:nvGrpSpPr>
        <p:grpSpPr>
          <a:xfrm>
            <a:off x="12449520" y="8087760"/>
            <a:ext cx="831960" cy="831960"/>
            <a:chOff x="12449520" y="8087760"/>
            <a:chExt cx="831960" cy="831960"/>
          </a:xfrm>
        </p:grpSpPr>
        <p:sp>
          <p:nvSpPr>
            <p:cNvPr id="218" name="Freeform 57"/>
            <p:cNvSpPr/>
            <p:nvPr/>
          </p:nvSpPr>
          <p:spPr>
            <a:xfrm>
              <a:off x="12449520" y="808776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fef3c7"/>
            </a:solidFill>
            <a:ln cap="sq" w="9525">
              <a:solidFill>
                <a:srgbClr val="fef3c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9" name="Group 58"/>
          <p:cNvGrpSpPr/>
          <p:nvPr/>
        </p:nvGrpSpPr>
        <p:grpSpPr>
          <a:xfrm>
            <a:off x="12659760" y="8298360"/>
            <a:ext cx="411120" cy="411120"/>
            <a:chOff x="12659760" y="8298360"/>
            <a:chExt cx="411120" cy="411120"/>
          </a:xfrm>
        </p:grpSpPr>
        <p:sp>
          <p:nvSpPr>
            <p:cNvPr id="220" name="Freeform 59"/>
            <p:cNvSpPr/>
            <p:nvPr/>
          </p:nvSpPr>
          <p:spPr>
            <a:xfrm>
              <a:off x="12659760" y="829836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0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1" name="Group 60"/>
          <p:cNvGrpSpPr/>
          <p:nvPr/>
        </p:nvGrpSpPr>
        <p:grpSpPr>
          <a:xfrm>
            <a:off x="13551480" y="7789680"/>
            <a:ext cx="3771720" cy="1399680"/>
            <a:chOff x="13551480" y="7789680"/>
            <a:chExt cx="3771720" cy="1399680"/>
          </a:xfrm>
        </p:grpSpPr>
        <p:sp>
          <p:nvSpPr>
            <p:cNvPr id="222" name="Freeform 61"/>
            <p:cNvSpPr/>
            <p:nvPr/>
          </p:nvSpPr>
          <p:spPr>
            <a:xfrm>
              <a:off x="13551480" y="7818120"/>
              <a:ext cx="3771720" cy="1371240"/>
            </a:xfrm>
            <a:custGeom>
              <a:avLst/>
              <a:gdLst>
                <a:gd name="textAreaLeft" fmla="*/ 0 w 3771720"/>
                <a:gd name="textAreaRight" fmla="*/ 3772080 w 3771720"/>
                <a:gd name="textAreaTop" fmla="*/ 0 h 1371240"/>
                <a:gd name="textAreaBottom" fmla="*/ 1371600 h 1371240"/>
              </a:gdLst>
              <a:ahLst/>
              <a:rect l="textAreaLeft" t="textAreaTop" r="textAreaRight" b="textAreaBottom"/>
              <a:pathLst>
                <a:path w="5029200" h="1828800">
                  <a:moveTo>
                    <a:pt x="0" y="0"/>
                  </a:moveTo>
                  <a:lnTo>
                    <a:pt x="5029200" y="0"/>
                  </a:lnTo>
                  <a:lnTo>
                    <a:pt x="5029200" y="1828800"/>
                  </a:lnTo>
                  <a:lnTo>
                    <a:pt x="0" y="1828800"/>
                  </a:lnTo>
                  <a:close/>
                </a:path>
              </a:pathLst>
            </a:custGeom>
            <a:blipFill rotWithShape="0">
              <a:blip r:embed="rId1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3" name="TextBox 62"/>
            <p:cNvSpPr/>
            <p:nvPr/>
          </p:nvSpPr>
          <p:spPr>
            <a:xfrm>
              <a:off x="13551480" y="7789680"/>
              <a:ext cx="3771720" cy="139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Accessible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Built for accessibility compliance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24" name="TextBox 63"/>
          <p:cNvSpPr/>
          <p:nvPr/>
        </p:nvSpPr>
        <p:spPr>
          <a:xfrm>
            <a:off x="16550640" y="9608760"/>
            <a:ext cx="8179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64748b"/>
                </a:solidFill>
                <a:latin typeface="Calibri (MS)"/>
                <a:ea typeface="Calibri (MS)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5" name="Group 2"/>
          <p:cNvGrpSpPr/>
          <p:nvPr/>
        </p:nvGrpSpPr>
        <p:grpSpPr>
          <a:xfrm>
            <a:off x="822960" y="9572760"/>
            <a:ext cx="8229240" cy="439560"/>
            <a:chOff x="822960" y="9572760"/>
            <a:chExt cx="8229240" cy="439560"/>
          </a:xfrm>
        </p:grpSpPr>
        <p:sp>
          <p:nvSpPr>
            <p:cNvPr id="226" name="Freeform 3"/>
            <p:cNvSpPr/>
            <p:nvPr/>
          </p:nvSpPr>
          <p:spPr>
            <a:xfrm>
              <a:off x="822960" y="9601200"/>
              <a:ext cx="8229240" cy="411120"/>
            </a:xfrm>
            <a:custGeom>
              <a:avLst/>
              <a:gdLst>
                <a:gd name="textAreaLeft" fmla="*/ 0 w 8229240"/>
                <a:gd name="textAreaRight" fmla="*/ 8229600 w 822924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7" name="TextBox 4"/>
            <p:cNvSpPr/>
            <p:nvPr/>
          </p:nvSpPr>
          <p:spPr>
            <a:xfrm>
              <a:off x="822960" y="9572760"/>
              <a:ext cx="8229240" cy="43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800"/>
                </a:lnSpc>
              </a:pPr>
              <a:r>
                <a:rPr b="0" lang="en-US" sz="1500" spc="-1" strike="noStrike">
                  <a:solidFill>
                    <a:srgbClr val="64748b"/>
                  </a:solidFill>
                  <a:latin typeface="Calibri (MS)"/>
                  <a:ea typeface="Calibri (MS)"/>
                </a:rPr>
                <a:t>SQMS  ·  DAO Kathmandu</a:t>
              </a:r>
              <a:endParaRPr b="0" lang="en-US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8" name="Group 5"/>
          <p:cNvGrpSpPr/>
          <p:nvPr/>
        </p:nvGrpSpPr>
        <p:grpSpPr>
          <a:xfrm>
            <a:off x="815760" y="678600"/>
            <a:ext cx="4012200" cy="480240"/>
            <a:chOff x="815760" y="678600"/>
            <a:chExt cx="4012200" cy="480240"/>
          </a:xfrm>
        </p:grpSpPr>
        <p:sp>
          <p:nvSpPr>
            <p:cNvPr id="229" name="Freeform 6"/>
            <p:cNvSpPr/>
            <p:nvPr/>
          </p:nvSpPr>
          <p:spPr>
            <a:xfrm>
              <a:off x="815760" y="678600"/>
              <a:ext cx="4012200" cy="480240"/>
            </a:xfrm>
            <a:custGeom>
              <a:avLst/>
              <a:gdLst>
                <a:gd name="textAreaLeft" fmla="*/ 0 w 4012200"/>
                <a:gd name="textAreaRight" fmla="*/ 4012560 w 401220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5350002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5029581" y="0"/>
                  </a:lnTo>
                  <a:cubicBezTo>
                    <a:pt x="5206492" y="0"/>
                    <a:pt x="5350002" y="143510"/>
                    <a:pt x="5350002" y="320421"/>
                  </a:cubicBezTo>
                  <a:cubicBezTo>
                    <a:pt x="5350002" y="497332"/>
                    <a:pt x="5206492" y="640842"/>
                    <a:pt x="5029581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ccfbf1"/>
            </a:solidFill>
            <a:ln cap="sq" w="14288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0" name="Group 7"/>
          <p:cNvGrpSpPr/>
          <p:nvPr/>
        </p:nvGrpSpPr>
        <p:grpSpPr>
          <a:xfrm>
            <a:off x="822960" y="664200"/>
            <a:ext cx="3997800" cy="487440"/>
            <a:chOff x="822960" y="664200"/>
            <a:chExt cx="3997800" cy="487440"/>
          </a:xfrm>
        </p:grpSpPr>
        <p:sp>
          <p:nvSpPr>
            <p:cNvPr id="231" name="Freeform 8"/>
            <p:cNvSpPr/>
            <p:nvPr/>
          </p:nvSpPr>
          <p:spPr>
            <a:xfrm>
              <a:off x="822960" y="685800"/>
              <a:ext cx="3997800" cy="465840"/>
            </a:xfrm>
            <a:custGeom>
              <a:avLst/>
              <a:gdLst>
                <a:gd name="textAreaLeft" fmla="*/ 0 w 3997800"/>
                <a:gd name="textAreaRight" fmla="*/ 3998160 w 399780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5330952" h="621792">
                  <a:moveTo>
                    <a:pt x="0" y="0"/>
                  </a:moveTo>
                  <a:lnTo>
                    <a:pt x="5330952" y="0"/>
                  </a:lnTo>
                  <a:lnTo>
                    <a:pt x="5330952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2" name="TextBox 9"/>
            <p:cNvSpPr/>
            <p:nvPr/>
          </p:nvSpPr>
          <p:spPr>
            <a:xfrm>
              <a:off x="822960" y="664200"/>
              <a:ext cx="399780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CITIZEN PORTAL  ·  04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3" name="Group 10"/>
          <p:cNvGrpSpPr/>
          <p:nvPr/>
        </p:nvGrpSpPr>
        <p:grpSpPr>
          <a:xfrm>
            <a:off x="815760" y="2667600"/>
            <a:ext cx="7695000" cy="1357920"/>
            <a:chOff x="815760" y="2667600"/>
            <a:chExt cx="7695000" cy="1357920"/>
          </a:xfrm>
        </p:grpSpPr>
        <p:sp>
          <p:nvSpPr>
            <p:cNvPr id="234" name="Freeform 11"/>
            <p:cNvSpPr/>
            <p:nvPr/>
          </p:nvSpPr>
          <p:spPr>
            <a:xfrm>
              <a:off x="815760" y="2667600"/>
              <a:ext cx="7695000" cy="135792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357920"/>
                <a:gd name="textAreaBottom" fmla="*/ 1358280 h 1357920"/>
              </a:gdLst>
              <a:ahLst/>
              <a:rect l="textAreaLeft" t="textAreaTop" r="textAreaRight" b="textAreaBottom"/>
              <a:pathLst>
                <a:path w="10260330" h="1811274">
                  <a:moveTo>
                    <a:pt x="0" y="258699"/>
                  </a:moveTo>
                  <a:cubicBezTo>
                    <a:pt x="0" y="115824"/>
                    <a:pt x="115824" y="0"/>
                    <a:pt x="258699" y="0"/>
                  </a:cubicBezTo>
                  <a:lnTo>
                    <a:pt x="10001631" y="0"/>
                  </a:lnTo>
                  <a:cubicBezTo>
                    <a:pt x="10144506" y="0"/>
                    <a:pt x="10260330" y="115824"/>
                    <a:pt x="10260330" y="258699"/>
                  </a:cubicBezTo>
                  <a:lnTo>
                    <a:pt x="10260330" y="1552575"/>
                  </a:lnTo>
                  <a:cubicBezTo>
                    <a:pt x="10260330" y="1695450"/>
                    <a:pt x="10144506" y="1811274"/>
                    <a:pt x="10001631" y="1811274"/>
                  </a:cubicBezTo>
                  <a:lnTo>
                    <a:pt x="258699" y="1811274"/>
                  </a:lnTo>
                  <a:cubicBezTo>
                    <a:pt x="115824" y="1811274"/>
                    <a:pt x="0" y="1695450"/>
                    <a:pt x="0" y="1552575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5" name="Group 12"/>
          <p:cNvGrpSpPr/>
          <p:nvPr/>
        </p:nvGrpSpPr>
        <p:grpSpPr>
          <a:xfrm>
            <a:off x="1161000" y="2964600"/>
            <a:ext cx="763560" cy="763560"/>
            <a:chOff x="1161000" y="2964600"/>
            <a:chExt cx="763560" cy="763560"/>
          </a:xfrm>
        </p:grpSpPr>
        <p:sp>
          <p:nvSpPr>
            <p:cNvPr id="236" name="Freeform 13"/>
            <p:cNvSpPr/>
            <p:nvPr/>
          </p:nvSpPr>
          <p:spPr>
            <a:xfrm>
              <a:off x="1161000" y="29646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7" name="Group 14"/>
          <p:cNvGrpSpPr/>
          <p:nvPr/>
        </p:nvGrpSpPr>
        <p:grpSpPr>
          <a:xfrm>
            <a:off x="1354320" y="3158280"/>
            <a:ext cx="376920" cy="376920"/>
            <a:chOff x="1354320" y="3158280"/>
            <a:chExt cx="376920" cy="376920"/>
          </a:xfrm>
        </p:grpSpPr>
        <p:sp>
          <p:nvSpPr>
            <p:cNvPr id="238" name="Freeform 15"/>
            <p:cNvSpPr/>
            <p:nvPr/>
          </p:nvSpPr>
          <p:spPr>
            <a:xfrm>
              <a:off x="1354320" y="315828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9" name="Group 16"/>
          <p:cNvGrpSpPr/>
          <p:nvPr/>
        </p:nvGrpSpPr>
        <p:grpSpPr>
          <a:xfrm>
            <a:off x="2194560" y="2646000"/>
            <a:ext cx="6103440" cy="1372680"/>
            <a:chOff x="2194560" y="2646000"/>
            <a:chExt cx="6103440" cy="1372680"/>
          </a:xfrm>
        </p:grpSpPr>
        <p:sp>
          <p:nvSpPr>
            <p:cNvPr id="240" name="Freeform 17"/>
            <p:cNvSpPr/>
            <p:nvPr/>
          </p:nvSpPr>
          <p:spPr>
            <a:xfrm>
              <a:off x="2194560" y="2674800"/>
              <a:ext cx="6103440" cy="134388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8138160" h="1792224">
                  <a:moveTo>
                    <a:pt x="0" y="0"/>
                  </a:moveTo>
                  <a:lnTo>
                    <a:pt x="8138160" y="0"/>
                  </a:lnTo>
                  <a:lnTo>
                    <a:pt x="8138160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1" name="TextBox 18"/>
            <p:cNvSpPr/>
            <p:nvPr/>
          </p:nvSpPr>
          <p:spPr>
            <a:xfrm>
              <a:off x="2194560" y="2646000"/>
              <a:ext cx="6103440" cy="13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Live token display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Token now serving vs. latest issued, in real time.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2" name="Group 19"/>
          <p:cNvGrpSpPr/>
          <p:nvPr/>
        </p:nvGrpSpPr>
        <p:grpSpPr>
          <a:xfrm>
            <a:off x="815760" y="4148640"/>
            <a:ext cx="7695000" cy="1357920"/>
            <a:chOff x="815760" y="4148640"/>
            <a:chExt cx="7695000" cy="1357920"/>
          </a:xfrm>
        </p:grpSpPr>
        <p:sp>
          <p:nvSpPr>
            <p:cNvPr id="243" name="Freeform 20"/>
            <p:cNvSpPr/>
            <p:nvPr/>
          </p:nvSpPr>
          <p:spPr>
            <a:xfrm>
              <a:off x="815760" y="4148640"/>
              <a:ext cx="7695000" cy="135792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357920"/>
                <a:gd name="textAreaBottom" fmla="*/ 1358280 h 1357920"/>
              </a:gdLst>
              <a:ahLst/>
              <a:rect l="textAreaLeft" t="textAreaTop" r="textAreaRight" b="textAreaBottom"/>
              <a:pathLst>
                <a:path w="10260330" h="1811274">
                  <a:moveTo>
                    <a:pt x="0" y="258699"/>
                  </a:moveTo>
                  <a:cubicBezTo>
                    <a:pt x="0" y="115824"/>
                    <a:pt x="115824" y="0"/>
                    <a:pt x="258699" y="0"/>
                  </a:cubicBezTo>
                  <a:lnTo>
                    <a:pt x="10001631" y="0"/>
                  </a:lnTo>
                  <a:cubicBezTo>
                    <a:pt x="10144506" y="0"/>
                    <a:pt x="10260330" y="115824"/>
                    <a:pt x="10260330" y="258699"/>
                  </a:cubicBezTo>
                  <a:lnTo>
                    <a:pt x="10260330" y="1552575"/>
                  </a:lnTo>
                  <a:cubicBezTo>
                    <a:pt x="10260330" y="1695450"/>
                    <a:pt x="10144506" y="1811274"/>
                    <a:pt x="10001631" y="1811274"/>
                  </a:cubicBezTo>
                  <a:lnTo>
                    <a:pt x="258699" y="1811274"/>
                  </a:lnTo>
                  <a:cubicBezTo>
                    <a:pt x="115824" y="1811274"/>
                    <a:pt x="0" y="1695450"/>
                    <a:pt x="0" y="1552575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4" name="Group 21"/>
          <p:cNvGrpSpPr/>
          <p:nvPr/>
        </p:nvGrpSpPr>
        <p:grpSpPr>
          <a:xfrm>
            <a:off x="1161000" y="4446000"/>
            <a:ext cx="763560" cy="763560"/>
            <a:chOff x="1161000" y="4446000"/>
            <a:chExt cx="763560" cy="763560"/>
          </a:xfrm>
        </p:grpSpPr>
        <p:sp>
          <p:nvSpPr>
            <p:cNvPr id="245" name="Freeform 22"/>
            <p:cNvSpPr/>
            <p:nvPr/>
          </p:nvSpPr>
          <p:spPr>
            <a:xfrm>
              <a:off x="1161000" y="44460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6" name="Group 23"/>
          <p:cNvGrpSpPr/>
          <p:nvPr/>
        </p:nvGrpSpPr>
        <p:grpSpPr>
          <a:xfrm>
            <a:off x="1354320" y="4639320"/>
            <a:ext cx="376920" cy="376920"/>
            <a:chOff x="1354320" y="4639320"/>
            <a:chExt cx="376920" cy="376920"/>
          </a:xfrm>
        </p:grpSpPr>
        <p:sp>
          <p:nvSpPr>
            <p:cNvPr id="247" name="Freeform 24"/>
            <p:cNvSpPr/>
            <p:nvPr/>
          </p:nvSpPr>
          <p:spPr>
            <a:xfrm>
              <a:off x="1354320" y="463932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8" name="Group 25"/>
          <p:cNvGrpSpPr/>
          <p:nvPr/>
        </p:nvGrpSpPr>
        <p:grpSpPr>
          <a:xfrm>
            <a:off x="2194560" y="4127400"/>
            <a:ext cx="6103440" cy="1372320"/>
            <a:chOff x="2194560" y="4127400"/>
            <a:chExt cx="6103440" cy="1372320"/>
          </a:xfrm>
        </p:grpSpPr>
        <p:sp>
          <p:nvSpPr>
            <p:cNvPr id="249" name="Freeform 26"/>
            <p:cNvSpPr/>
            <p:nvPr/>
          </p:nvSpPr>
          <p:spPr>
            <a:xfrm>
              <a:off x="2194560" y="4155840"/>
              <a:ext cx="6103440" cy="134388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8138160" h="1792224">
                  <a:moveTo>
                    <a:pt x="0" y="0"/>
                  </a:moveTo>
                  <a:lnTo>
                    <a:pt x="8138160" y="0"/>
                  </a:lnTo>
                  <a:lnTo>
                    <a:pt x="8138160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" name="TextBox 27"/>
            <p:cNvSpPr/>
            <p:nvPr/>
          </p:nvSpPr>
          <p:spPr>
            <a:xfrm>
              <a:off x="2194560" y="4127400"/>
              <a:ext cx="6103440" cy="13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Crowd advisory gauge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Low, Moderate, High and Very High levels.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1" name="Group 28"/>
          <p:cNvGrpSpPr/>
          <p:nvPr/>
        </p:nvGrpSpPr>
        <p:grpSpPr>
          <a:xfrm>
            <a:off x="815760" y="5630040"/>
            <a:ext cx="7695000" cy="1357920"/>
            <a:chOff x="815760" y="5630040"/>
            <a:chExt cx="7695000" cy="1357920"/>
          </a:xfrm>
        </p:grpSpPr>
        <p:sp>
          <p:nvSpPr>
            <p:cNvPr id="252" name="Freeform 29"/>
            <p:cNvSpPr/>
            <p:nvPr/>
          </p:nvSpPr>
          <p:spPr>
            <a:xfrm>
              <a:off x="815760" y="5630040"/>
              <a:ext cx="7695000" cy="135792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357920"/>
                <a:gd name="textAreaBottom" fmla="*/ 1358280 h 1357920"/>
              </a:gdLst>
              <a:ahLst/>
              <a:rect l="textAreaLeft" t="textAreaTop" r="textAreaRight" b="textAreaBottom"/>
              <a:pathLst>
                <a:path w="10260330" h="1811274">
                  <a:moveTo>
                    <a:pt x="0" y="258699"/>
                  </a:moveTo>
                  <a:cubicBezTo>
                    <a:pt x="0" y="115824"/>
                    <a:pt x="115824" y="0"/>
                    <a:pt x="258699" y="0"/>
                  </a:cubicBezTo>
                  <a:lnTo>
                    <a:pt x="10001631" y="0"/>
                  </a:lnTo>
                  <a:cubicBezTo>
                    <a:pt x="10144506" y="0"/>
                    <a:pt x="10260330" y="115824"/>
                    <a:pt x="10260330" y="258699"/>
                  </a:cubicBezTo>
                  <a:lnTo>
                    <a:pt x="10260330" y="1552575"/>
                  </a:lnTo>
                  <a:cubicBezTo>
                    <a:pt x="10260330" y="1695450"/>
                    <a:pt x="10144506" y="1811274"/>
                    <a:pt x="10001631" y="1811274"/>
                  </a:cubicBezTo>
                  <a:lnTo>
                    <a:pt x="258699" y="1811274"/>
                  </a:lnTo>
                  <a:cubicBezTo>
                    <a:pt x="115824" y="1811274"/>
                    <a:pt x="0" y="1695450"/>
                    <a:pt x="0" y="1552575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3" name="Group 30"/>
          <p:cNvGrpSpPr/>
          <p:nvPr/>
        </p:nvGrpSpPr>
        <p:grpSpPr>
          <a:xfrm>
            <a:off x="1161000" y="5927400"/>
            <a:ext cx="763560" cy="763560"/>
            <a:chOff x="1161000" y="5927400"/>
            <a:chExt cx="763560" cy="763560"/>
          </a:xfrm>
        </p:grpSpPr>
        <p:sp>
          <p:nvSpPr>
            <p:cNvPr id="254" name="Freeform 31"/>
            <p:cNvSpPr/>
            <p:nvPr/>
          </p:nvSpPr>
          <p:spPr>
            <a:xfrm>
              <a:off x="1161000" y="59274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5" name="Group 32"/>
          <p:cNvGrpSpPr/>
          <p:nvPr/>
        </p:nvGrpSpPr>
        <p:grpSpPr>
          <a:xfrm>
            <a:off x="1354320" y="6120720"/>
            <a:ext cx="376920" cy="376920"/>
            <a:chOff x="1354320" y="6120720"/>
            <a:chExt cx="376920" cy="376920"/>
          </a:xfrm>
        </p:grpSpPr>
        <p:sp>
          <p:nvSpPr>
            <p:cNvPr id="256" name="Freeform 33"/>
            <p:cNvSpPr/>
            <p:nvPr/>
          </p:nvSpPr>
          <p:spPr>
            <a:xfrm>
              <a:off x="1354320" y="612072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7" name="Group 34"/>
          <p:cNvGrpSpPr/>
          <p:nvPr/>
        </p:nvGrpSpPr>
        <p:grpSpPr>
          <a:xfrm>
            <a:off x="2194560" y="5608800"/>
            <a:ext cx="6103440" cy="1372320"/>
            <a:chOff x="2194560" y="5608800"/>
            <a:chExt cx="6103440" cy="1372320"/>
          </a:xfrm>
        </p:grpSpPr>
        <p:sp>
          <p:nvSpPr>
            <p:cNvPr id="258" name="Freeform 35"/>
            <p:cNvSpPr/>
            <p:nvPr/>
          </p:nvSpPr>
          <p:spPr>
            <a:xfrm>
              <a:off x="2194560" y="5637240"/>
              <a:ext cx="6103440" cy="134388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8138160" h="1792224">
                  <a:moveTo>
                    <a:pt x="0" y="0"/>
                  </a:moveTo>
                  <a:lnTo>
                    <a:pt x="8138160" y="0"/>
                  </a:lnTo>
                  <a:lnTo>
                    <a:pt x="8138160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" name="TextBox 36"/>
            <p:cNvSpPr/>
            <p:nvPr/>
          </p:nvSpPr>
          <p:spPr>
            <a:xfrm>
              <a:off x="2194560" y="5608800"/>
              <a:ext cx="6103440" cy="13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Wait-time &amp; room guidance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Average wait estimate with room direction indicators.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0" name="Group 37"/>
          <p:cNvGrpSpPr/>
          <p:nvPr/>
        </p:nvGrpSpPr>
        <p:grpSpPr>
          <a:xfrm>
            <a:off x="815760" y="7111440"/>
            <a:ext cx="7695000" cy="1357920"/>
            <a:chOff x="815760" y="7111440"/>
            <a:chExt cx="7695000" cy="1357920"/>
          </a:xfrm>
        </p:grpSpPr>
        <p:sp>
          <p:nvSpPr>
            <p:cNvPr id="261" name="Freeform 38"/>
            <p:cNvSpPr/>
            <p:nvPr/>
          </p:nvSpPr>
          <p:spPr>
            <a:xfrm>
              <a:off x="815760" y="7111440"/>
              <a:ext cx="7695000" cy="135792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357920"/>
                <a:gd name="textAreaBottom" fmla="*/ 1358280 h 1357920"/>
              </a:gdLst>
              <a:ahLst/>
              <a:rect l="textAreaLeft" t="textAreaTop" r="textAreaRight" b="textAreaBottom"/>
              <a:pathLst>
                <a:path w="10260330" h="1811274">
                  <a:moveTo>
                    <a:pt x="0" y="258699"/>
                  </a:moveTo>
                  <a:cubicBezTo>
                    <a:pt x="0" y="115824"/>
                    <a:pt x="115824" y="0"/>
                    <a:pt x="258699" y="0"/>
                  </a:cubicBezTo>
                  <a:lnTo>
                    <a:pt x="10001631" y="0"/>
                  </a:lnTo>
                  <a:cubicBezTo>
                    <a:pt x="10144506" y="0"/>
                    <a:pt x="10260330" y="115824"/>
                    <a:pt x="10260330" y="258699"/>
                  </a:cubicBezTo>
                  <a:lnTo>
                    <a:pt x="10260330" y="1552575"/>
                  </a:lnTo>
                  <a:cubicBezTo>
                    <a:pt x="10260330" y="1695450"/>
                    <a:pt x="10144506" y="1811274"/>
                    <a:pt x="10001631" y="1811274"/>
                  </a:cubicBezTo>
                  <a:lnTo>
                    <a:pt x="258699" y="1811274"/>
                  </a:lnTo>
                  <a:cubicBezTo>
                    <a:pt x="115824" y="1811274"/>
                    <a:pt x="0" y="1695450"/>
                    <a:pt x="0" y="1552575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2" name="Group 39"/>
          <p:cNvGrpSpPr/>
          <p:nvPr/>
        </p:nvGrpSpPr>
        <p:grpSpPr>
          <a:xfrm>
            <a:off x="1161000" y="7408800"/>
            <a:ext cx="763560" cy="763560"/>
            <a:chOff x="1161000" y="7408800"/>
            <a:chExt cx="763560" cy="763560"/>
          </a:xfrm>
        </p:grpSpPr>
        <p:sp>
          <p:nvSpPr>
            <p:cNvPr id="263" name="Freeform 40"/>
            <p:cNvSpPr/>
            <p:nvPr/>
          </p:nvSpPr>
          <p:spPr>
            <a:xfrm>
              <a:off x="1161000" y="74088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4" name="Group 41"/>
          <p:cNvGrpSpPr/>
          <p:nvPr/>
        </p:nvGrpSpPr>
        <p:grpSpPr>
          <a:xfrm>
            <a:off x="1354320" y="7602120"/>
            <a:ext cx="376920" cy="376920"/>
            <a:chOff x="1354320" y="7602120"/>
            <a:chExt cx="376920" cy="376920"/>
          </a:xfrm>
        </p:grpSpPr>
        <p:sp>
          <p:nvSpPr>
            <p:cNvPr id="265" name="Freeform 42"/>
            <p:cNvSpPr/>
            <p:nvPr/>
          </p:nvSpPr>
          <p:spPr>
            <a:xfrm>
              <a:off x="1354320" y="760212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9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6" name="Group 43"/>
          <p:cNvGrpSpPr/>
          <p:nvPr/>
        </p:nvGrpSpPr>
        <p:grpSpPr>
          <a:xfrm>
            <a:off x="2194560" y="7090200"/>
            <a:ext cx="6103440" cy="1372320"/>
            <a:chOff x="2194560" y="7090200"/>
            <a:chExt cx="6103440" cy="1372320"/>
          </a:xfrm>
        </p:grpSpPr>
        <p:sp>
          <p:nvSpPr>
            <p:cNvPr id="267" name="Freeform 44"/>
            <p:cNvSpPr/>
            <p:nvPr/>
          </p:nvSpPr>
          <p:spPr>
            <a:xfrm>
              <a:off x="2194560" y="7118640"/>
              <a:ext cx="6103440" cy="134388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8138160" h="1792224">
                  <a:moveTo>
                    <a:pt x="0" y="0"/>
                  </a:moveTo>
                  <a:lnTo>
                    <a:pt x="8138160" y="0"/>
                  </a:lnTo>
                  <a:lnTo>
                    <a:pt x="8138160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TextBox 45"/>
            <p:cNvSpPr/>
            <p:nvPr/>
          </p:nvSpPr>
          <p:spPr>
            <a:xfrm>
              <a:off x="2194560" y="7090200"/>
              <a:ext cx="6103440" cy="13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Department selector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Citizenship Services vs. National ID (NID).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9" name="Group 48"/>
          <p:cNvGrpSpPr/>
          <p:nvPr/>
        </p:nvGrpSpPr>
        <p:grpSpPr>
          <a:xfrm>
            <a:off x="8989200" y="2971800"/>
            <a:ext cx="8841600" cy="4343400"/>
            <a:chOff x="8989200" y="2971800"/>
            <a:chExt cx="8841600" cy="4343400"/>
          </a:xfrm>
        </p:grpSpPr>
        <p:sp>
          <p:nvSpPr>
            <p:cNvPr id="270" name="Freeform 49"/>
            <p:cNvSpPr/>
            <p:nvPr/>
          </p:nvSpPr>
          <p:spPr>
            <a:xfrm>
              <a:off x="8989200" y="2971800"/>
              <a:ext cx="8841600" cy="4343400"/>
            </a:xfrm>
            <a:custGeom>
              <a:avLst/>
              <a:gdLst>
                <a:gd name="textAreaLeft" fmla="*/ 0 w 8841600"/>
                <a:gd name="textAreaRight" fmla="*/ 8841960 w 8841600"/>
                <a:gd name="textAreaTop" fmla="*/ 0 h 4343400"/>
                <a:gd name="textAreaBottom" fmla="*/ 4343760 h 4343400"/>
              </a:gdLst>
              <a:ahLst/>
              <a:rect l="textAreaLeft" t="textAreaTop" r="textAreaRight" b="textAreaBottom"/>
              <a:pathLst>
                <a:path w="13510828" h="5906760">
                  <a:moveTo>
                    <a:pt x="0" y="0"/>
                  </a:moveTo>
                  <a:lnTo>
                    <a:pt x="13510828" y="0"/>
                  </a:lnTo>
                  <a:lnTo>
                    <a:pt x="13510828" y="5906760"/>
                  </a:lnTo>
                  <a:lnTo>
                    <a:pt x="0" y="5906760"/>
                  </a:lnTo>
                  <a:close/>
                </a:path>
              </a:pathLst>
            </a:custGeom>
            <a:blipFill rotWithShape="0">
              <a:blip r:embed="rId11"/>
              <a:srcRect/>
              <a:stretch/>
            </a:blipFill>
            <a:ln cap="sq" w="19050">
              <a:solidFill>
                <a:srgbClr val="94a3b8"/>
              </a:solidFill>
              <a:prstDash val="dash"/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1" name="Group 50"/>
          <p:cNvGrpSpPr/>
          <p:nvPr/>
        </p:nvGrpSpPr>
        <p:grpSpPr>
          <a:xfrm>
            <a:off x="9043200" y="8329680"/>
            <a:ext cx="567360" cy="567360"/>
            <a:chOff x="9043200" y="8329680"/>
            <a:chExt cx="567360" cy="567360"/>
          </a:xfrm>
        </p:grpSpPr>
        <p:sp>
          <p:nvSpPr>
            <p:cNvPr id="272" name="Freeform 51"/>
            <p:cNvSpPr/>
            <p:nvPr/>
          </p:nvSpPr>
          <p:spPr>
            <a:xfrm>
              <a:off x="9043200" y="8329680"/>
              <a:ext cx="567360" cy="567360"/>
            </a:xfrm>
            <a:custGeom>
              <a:avLst/>
              <a:gdLst>
                <a:gd name="textAreaLeft" fmla="*/ 0 w 567360"/>
                <a:gd name="textAreaRight" fmla="*/ 567720 w 567360"/>
                <a:gd name="textAreaTop" fmla="*/ 0 h 567360"/>
                <a:gd name="textAreaBottom" fmla="*/ 567720 h 567360"/>
              </a:gdLst>
              <a:ahLst/>
              <a:rect l="textAreaLeft" t="textAreaTop" r="textAreaRight" b="textAreaBottom"/>
              <a:pathLst>
                <a:path w="756920" h="756920">
                  <a:moveTo>
                    <a:pt x="0" y="378460"/>
                  </a:moveTo>
                  <a:cubicBezTo>
                    <a:pt x="0" y="169418"/>
                    <a:pt x="169418" y="0"/>
                    <a:pt x="378460" y="0"/>
                  </a:cubicBezTo>
                  <a:cubicBezTo>
                    <a:pt x="587502" y="0"/>
                    <a:pt x="756920" y="169418"/>
                    <a:pt x="756920" y="378460"/>
                  </a:cubicBezTo>
                  <a:cubicBezTo>
                    <a:pt x="756920" y="587502"/>
                    <a:pt x="587502" y="756920"/>
                    <a:pt x="378460" y="756920"/>
                  </a:cubicBezTo>
                  <a:cubicBezTo>
                    <a:pt x="169418" y="756920"/>
                    <a:pt x="0" y="587502"/>
                    <a:pt x="0" y="378460"/>
                  </a:cubicBezTo>
                  <a:close/>
                </a:path>
              </a:pathLst>
            </a:custGeom>
            <a:solidFill>
              <a:srgbClr val="ccfbf1"/>
            </a:solidFill>
            <a:ln cap="sq" w="19050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3" name="Group 52"/>
          <p:cNvGrpSpPr/>
          <p:nvPr/>
        </p:nvGrpSpPr>
        <p:grpSpPr>
          <a:xfrm>
            <a:off x="9052560" y="8303760"/>
            <a:ext cx="548280" cy="583920"/>
            <a:chOff x="9052560" y="8303760"/>
            <a:chExt cx="548280" cy="583920"/>
          </a:xfrm>
        </p:grpSpPr>
        <p:sp>
          <p:nvSpPr>
            <p:cNvPr id="274" name="Freeform 53"/>
            <p:cNvSpPr/>
            <p:nvPr/>
          </p:nvSpPr>
          <p:spPr>
            <a:xfrm>
              <a:off x="9052560" y="8339400"/>
              <a:ext cx="548280" cy="54828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 rotWithShape="0">
              <a:blip r:embed="rId1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5" name="TextBox 54"/>
            <p:cNvSpPr/>
            <p:nvPr/>
          </p:nvSpPr>
          <p:spPr>
            <a:xfrm>
              <a:off x="9052560" y="8303760"/>
              <a:ext cx="548280" cy="58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✓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6" name="Group 55"/>
          <p:cNvGrpSpPr/>
          <p:nvPr/>
        </p:nvGrpSpPr>
        <p:grpSpPr>
          <a:xfrm>
            <a:off x="9807120" y="8235000"/>
            <a:ext cx="7653240" cy="721080"/>
            <a:chOff x="9807120" y="8235000"/>
            <a:chExt cx="7653240" cy="721080"/>
          </a:xfrm>
        </p:grpSpPr>
        <p:sp>
          <p:nvSpPr>
            <p:cNvPr id="277" name="Freeform 56"/>
            <p:cNvSpPr/>
            <p:nvPr/>
          </p:nvSpPr>
          <p:spPr>
            <a:xfrm>
              <a:off x="9807120" y="8270640"/>
              <a:ext cx="7653240" cy="685440"/>
            </a:xfrm>
            <a:custGeom>
              <a:avLst/>
              <a:gdLst>
                <a:gd name="textAreaLeft" fmla="*/ 0 w 7653240"/>
                <a:gd name="textAreaRight" fmla="*/ 7653600 w 7653240"/>
                <a:gd name="textAreaTop" fmla="*/ 0 h 685440"/>
                <a:gd name="textAreaBottom" fmla="*/ 685800 h 685440"/>
              </a:gdLst>
              <a:ahLst/>
              <a:rect l="textAreaLeft" t="textAreaTop" r="textAreaRight" b="textAreaBottom"/>
              <a:pathLst>
                <a:path w="10204704" h="914400">
                  <a:moveTo>
                    <a:pt x="0" y="0"/>
                  </a:moveTo>
                  <a:lnTo>
                    <a:pt x="10204704" y="0"/>
                  </a:lnTo>
                  <a:lnTo>
                    <a:pt x="10204704" y="914400"/>
                  </a:lnTo>
                  <a:lnTo>
                    <a:pt x="0" y="914400"/>
                  </a:lnTo>
                  <a:close/>
                </a:path>
              </a:pathLst>
            </a:custGeom>
            <a:blipFill rotWithShape="0">
              <a:blip r:embed="rId1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8" name="TextBox 57"/>
            <p:cNvSpPr/>
            <p:nvPr/>
          </p:nvSpPr>
          <p:spPr>
            <a:xfrm>
              <a:off x="9807120" y="8235000"/>
              <a:ext cx="7653240" cy="72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Outcome: </a:t>
              </a:r>
              <a:r>
                <a:rPr b="0" lang="en-US" sz="2100" spc="-1" strike="noStrike">
                  <a:solidFill>
                    <a:srgbClr val="0f172a"/>
                  </a:solidFill>
                  <a:latin typeface="Calibri (MS)"/>
                  <a:ea typeface="Calibri (MS)"/>
                </a:rPr>
                <a:t>citizens pick when to arrive, easing lobby crowding.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79" name="TextBox 58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Live Queue Tracking &amp; Announcements</a:t>
            </a:r>
            <a:endParaRPr b="0" lang="en-US" sz="5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59"/>
          <p:cNvSpPr/>
          <p:nvPr/>
        </p:nvSpPr>
        <p:spPr>
          <a:xfrm>
            <a:off x="16550640" y="9608760"/>
            <a:ext cx="8179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64748b"/>
                </a:solidFill>
                <a:latin typeface="Calibri (MS)"/>
                <a:ea typeface="Calibri (MS)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roup 2"/>
          <p:cNvGrpSpPr/>
          <p:nvPr/>
        </p:nvGrpSpPr>
        <p:grpSpPr>
          <a:xfrm>
            <a:off x="822960" y="9572760"/>
            <a:ext cx="8229240" cy="439560"/>
            <a:chOff x="822960" y="9572760"/>
            <a:chExt cx="8229240" cy="439560"/>
          </a:xfrm>
        </p:grpSpPr>
        <p:sp>
          <p:nvSpPr>
            <p:cNvPr id="282" name="Freeform 3"/>
            <p:cNvSpPr/>
            <p:nvPr/>
          </p:nvSpPr>
          <p:spPr>
            <a:xfrm>
              <a:off x="822960" y="9601200"/>
              <a:ext cx="8229240" cy="411120"/>
            </a:xfrm>
            <a:custGeom>
              <a:avLst/>
              <a:gdLst>
                <a:gd name="textAreaLeft" fmla="*/ 0 w 8229240"/>
                <a:gd name="textAreaRight" fmla="*/ 8229600 w 822924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3" name="TextBox 4"/>
            <p:cNvSpPr/>
            <p:nvPr/>
          </p:nvSpPr>
          <p:spPr>
            <a:xfrm>
              <a:off x="822960" y="9572760"/>
              <a:ext cx="8229240" cy="43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800"/>
                </a:lnSpc>
              </a:pPr>
              <a:r>
                <a:rPr b="0" lang="en-US" sz="1500" spc="-1" strike="noStrike">
                  <a:solidFill>
                    <a:srgbClr val="64748b"/>
                  </a:solidFill>
                  <a:latin typeface="Calibri (MS)"/>
                  <a:ea typeface="Calibri (MS)"/>
                </a:rPr>
                <a:t>SQMS  ·  DAO Kathmandu</a:t>
              </a:r>
              <a:endParaRPr b="0" lang="en-US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4" name="Group 5"/>
          <p:cNvGrpSpPr/>
          <p:nvPr/>
        </p:nvGrpSpPr>
        <p:grpSpPr>
          <a:xfrm>
            <a:off x="815760" y="678600"/>
            <a:ext cx="4012200" cy="480240"/>
            <a:chOff x="815760" y="678600"/>
            <a:chExt cx="4012200" cy="480240"/>
          </a:xfrm>
        </p:grpSpPr>
        <p:sp>
          <p:nvSpPr>
            <p:cNvPr id="285" name="Freeform 6"/>
            <p:cNvSpPr/>
            <p:nvPr/>
          </p:nvSpPr>
          <p:spPr>
            <a:xfrm>
              <a:off x="815760" y="678600"/>
              <a:ext cx="4012200" cy="480240"/>
            </a:xfrm>
            <a:custGeom>
              <a:avLst/>
              <a:gdLst>
                <a:gd name="textAreaLeft" fmla="*/ 0 w 4012200"/>
                <a:gd name="textAreaRight" fmla="*/ 4012560 w 401220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5350002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5029581" y="0"/>
                  </a:lnTo>
                  <a:cubicBezTo>
                    <a:pt x="5206492" y="0"/>
                    <a:pt x="5350002" y="143510"/>
                    <a:pt x="5350002" y="320421"/>
                  </a:cubicBezTo>
                  <a:cubicBezTo>
                    <a:pt x="5350002" y="497332"/>
                    <a:pt x="5206492" y="640842"/>
                    <a:pt x="5029581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ccfbf1"/>
            </a:solidFill>
            <a:ln cap="sq" w="14288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6" name="Group 7"/>
          <p:cNvGrpSpPr/>
          <p:nvPr/>
        </p:nvGrpSpPr>
        <p:grpSpPr>
          <a:xfrm>
            <a:off x="822960" y="664200"/>
            <a:ext cx="3997800" cy="487440"/>
            <a:chOff x="822960" y="664200"/>
            <a:chExt cx="3997800" cy="487440"/>
          </a:xfrm>
        </p:grpSpPr>
        <p:sp>
          <p:nvSpPr>
            <p:cNvPr id="287" name="Freeform 8"/>
            <p:cNvSpPr/>
            <p:nvPr/>
          </p:nvSpPr>
          <p:spPr>
            <a:xfrm>
              <a:off x="822960" y="685800"/>
              <a:ext cx="3997800" cy="465840"/>
            </a:xfrm>
            <a:custGeom>
              <a:avLst/>
              <a:gdLst>
                <a:gd name="textAreaLeft" fmla="*/ 0 w 3997800"/>
                <a:gd name="textAreaRight" fmla="*/ 3998160 w 399780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5330952" h="621792">
                  <a:moveTo>
                    <a:pt x="0" y="0"/>
                  </a:moveTo>
                  <a:lnTo>
                    <a:pt x="5330952" y="0"/>
                  </a:lnTo>
                  <a:lnTo>
                    <a:pt x="5330952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8" name="TextBox 9"/>
            <p:cNvSpPr/>
            <p:nvPr/>
          </p:nvSpPr>
          <p:spPr>
            <a:xfrm>
              <a:off x="822960" y="664200"/>
              <a:ext cx="399780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CITIZEN PORTAL  ·  05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9" name="Group 10"/>
          <p:cNvGrpSpPr/>
          <p:nvPr/>
        </p:nvGrpSpPr>
        <p:grpSpPr>
          <a:xfrm>
            <a:off x="815760" y="2667600"/>
            <a:ext cx="7695000" cy="1659960"/>
            <a:chOff x="815760" y="2667600"/>
            <a:chExt cx="7695000" cy="1659960"/>
          </a:xfrm>
        </p:grpSpPr>
        <p:sp>
          <p:nvSpPr>
            <p:cNvPr id="290" name="Freeform 11"/>
            <p:cNvSpPr/>
            <p:nvPr/>
          </p:nvSpPr>
          <p:spPr>
            <a:xfrm>
              <a:off x="815760" y="266760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1" name="Group 12"/>
          <p:cNvGrpSpPr/>
          <p:nvPr/>
        </p:nvGrpSpPr>
        <p:grpSpPr>
          <a:xfrm>
            <a:off x="1161000" y="3115800"/>
            <a:ext cx="763560" cy="763560"/>
            <a:chOff x="1161000" y="3115800"/>
            <a:chExt cx="763560" cy="763560"/>
          </a:xfrm>
        </p:grpSpPr>
        <p:sp>
          <p:nvSpPr>
            <p:cNvPr id="292" name="Freeform 13"/>
            <p:cNvSpPr/>
            <p:nvPr/>
          </p:nvSpPr>
          <p:spPr>
            <a:xfrm>
              <a:off x="1161000" y="31158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3" name="Group 14"/>
          <p:cNvGrpSpPr/>
          <p:nvPr/>
        </p:nvGrpSpPr>
        <p:grpSpPr>
          <a:xfrm>
            <a:off x="1354320" y="3309120"/>
            <a:ext cx="376920" cy="376920"/>
            <a:chOff x="1354320" y="3309120"/>
            <a:chExt cx="376920" cy="376920"/>
          </a:xfrm>
        </p:grpSpPr>
        <p:sp>
          <p:nvSpPr>
            <p:cNvPr id="294" name="Freeform 15"/>
            <p:cNvSpPr/>
            <p:nvPr/>
          </p:nvSpPr>
          <p:spPr>
            <a:xfrm>
              <a:off x="1354320" y="330912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5" name="Group 16"/>
          <p:cNvGrpSpPr/>
          <p:nvPr/>
        </p:nvGrpSpPr>
        <p:grpSpPr>
          <a:xfrm>
            <a:off x="2194560" y="2646000"/>
            <a:ext cx="6103440" cy="1674360"/>
            <a:chOff x="2194560" y="2646000"/>
            <a:chExt cx="6103440" cy="1674360"/>
          </a:xfrm>
        </p:grpSpPr>
        <p:sp>
          <p:nvSpPr>
            <p:cNvPr id="296" name="Freeform 17"/>
            <p:cNvSpPr/>
            <p:nvPr/>
          </p:nvSpPr>
          <p:spPr>
            <a:xfrm>
              <a:off x="2194560" y="267480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7" name="TextBox 18"/>
            <p:cNvSpPr/>
            <p:nvPr/>
          </p:nvSpPr>
          <p:spPr>
            <a:xfrm>
              <a:off x="2194560" y="264600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Dynamic document checklist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Descent, naturalized and marriage-based citizenship.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8" name="Group 19"/>
          <p:cNvGrpSpPr/>
          <p:nvPr/>
        </p:nvGrpSpPr>
        <p:grpSpPr>
          <a:xfrm>
            <a:off x="815760" y="4519080"/>
            <a:ext cx="7695000" cy="1659960"/>
            <a:chOff x="815760" y="4519080"/>
            <a:chExt cx="7695000" cy="1659960"/>
          </a:xfrm>
        </p:grpSpPr>
        <p:sp>
          <p:nvSpPr>
            <p:cNvPr id="299" name="Freeform 20"/>
            <p:cNvSpPr/>
            <p:nvPr/>
          </p:nvSpPr>
          <p:spPr>
            <a:xfrm>
              <a:off x="815760" y="451908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0" name="Group 21"/>
          <p:cNvGrpSpPr/>
          <p:nvPr/>
        </p:nvGrpSpPr>
        <p:grpSpPr>
          <a:xfrm>
            <a:off x="1161000" y="4967280"/>
            <a:ext cx="763560" cy="763560"/>
            <a:chOff x="1161000" y="4967280"/>
            <a:chExt cx="763560" cy="763560"/>
          </a:xfrm>
        </p:grpSpPr>
        <p:sp>
          <p:nvSpPr>
            <p:cNvPr id="301" name="Freeform 22"/>
            <p:cNvSpPr/>
            <p:nvPr/>
          </p:nvSpPr>
          <p:spPr>
            <a:xfrm>
              <a:off x="1161000" y="496728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2" name="Group 23"/>
          <p:cNvGrpSpPr/>
          <p:nvPr/>
        </p:nvGrpSpPr>
        <p:grpSpPr>
          <a:xfrm>
            <a:off x="1354320" y="5160600"/>
            <a:ext cx="376920" cy="376920"/>
            <a:chOff x="1354320" y="5160600"/>
            <a:chExt cx="376920" cy="376920"/>
          </a:xfrm>
        </p:grpSpPr>
        <p:sp>
          <p:nvSpPr>
            <p:cNvPr id="303" name="Freeform 24"/>
            <p:cNvSpPr/>
            <p:nvPr/>
          </p:nvSpPr>
          <p:spPr>
            <a:xfrm>
              <a:off x="1354320" y="516060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4" name="Group 25"/>
          <p:cNvGrpSpPr/>
          <p:nvPr/>
        </p:nvGrpSpPr>
        <p:grpSpPr>
          <a:xfrm>
            <a:off x="2194560" y="4497840"/>
            <a:ext cx="6103440" cy="1674000"/>
            <a:chOff x="2194560" y="4497840"/>
            <a:chExt cx="6103440" cy="1674000"/>
          </a:xfrm>
        </p:grpSpPr>
        <p:sp>
          <p:nvSpPr>
            <p:cNvPr id="305" name="Freeform 26"/>
            <p:cNvSpPr/>
            <p:nvPr/>
          </p:nvSpPr>
          <p:spPr>
            <a:xfrm>
              <a:off x="2194560" y="452628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6" name="TextBox 27"/>
            <p:cNvSpPr/>
            <p:nvPr/>
          </p:nvSpPr>
          <p:spPr>
            <a:xfrm>
              <a:off x="2194560" y="449784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Accessibility toolbar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Screen reader, high contrast, dyslexic font, text scaling, pause motion.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7" name="Group 28"/>
          <p:cNvGrpSpPr/>
          <p:nvPr/>
        </p:nvGrpSpPr>
        <p:grpSpPr>
          <a:xfrm>
            <a:off x="815760" y="6370920"/>
            <a:ext cx="7695000" cy="1659960"/>
            <a:chOff x="815760" y="6370920"/>
            <a:chExt cx="7695000" cy="1659960"/>
          </a:xfrm>
        </p:grpSpPr>
        <p:sp>
          <p:nvSpPr>
            <p:cNvPr id="308" name="Freeform 29"/>
            <p:cNvSpPr/>
            <p:nvPr/>
          </p:nvSpPr>
          <p:spPr>
            <a:xfrm>
              <a:off x="815760" y="637092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9" name="Group 30"/>
          <p:cNvGrpSpPr/>
          <p:nvPr/>
        </p:nvGrpSpPr>
        <p:grpSpPr>
          <a:xfrm>
            <a:off x="1161000" y="6819120"/>
            <a:ext cx="763560" cy="763560"/>
            <a:chOff x="1161000" y="6819120"/>
            <a:chExt cx="763560" cy="763560"/>
          </a:xfrm>
        </p:grpSpPr>
        <p:sp>
          <p:nvSpPr>
            <p:cNvPr id="310" name="Freeform 31"/>
            <p:cNvSpPr/>
            <p:nvPr/>
          </p:nvSpPr>
          <p:spPr>
            <a:xfrm>
              <a:off x="1161000" y="681912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1" name="Group 32"/>
          <p:cNvGrpSpPr/>
          <p:nvPr/>
        </p:nvGrpSpPr>
        <p:grpSpPr>
          <a:xfrm>
            <a:off x="1354320" y="7012440"/>
            <a:ext cx="376920" cy="376920"/>
            <a:chOff x="1354320" y="7012440"/>
            <a:chExt cx="376920" cy="376920"/>
          </a:xfrm>
        </p:grpSpPr>
        <p:sp>
          <p:nvSpPr>
            <p:cNvPr id="312" name="Freeform 33"/>
            <p:cNvSpPr/>
            <p:nvPr/>
          </p:nvSpPr>
          <p:spPr>
            <a:xfrm>
              <a:off x="1354320" y="701244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3" name="Group 34"/>
          <p:cNvGrpSpPr/>
          <p:nvPr/>
        </p:nvGrpSpPr>
        <p:grpSpPr>
          <a:xfrm>
            <a:off x="2194560" y="6349320"/>
            <a:ext cx="6103440" cy="1674360"/>
            <a:chOff x="2194560" y="6349320"/>
            <a:chExt cx="6103440" cy="1674360"/>
          </a:xfrm>
        </p:grpSpPr>
        <p:sp>
          <p:nvSpPr>
            <p:cNvPr id="314" name="Freeform 35"/>
            <p:cNvSpPr/>
            <p:nvPr/>
          </p:nvSpPr>
          <p:spPr>
            <a:xfrm>
              <a:off x="2194560" y="637812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5" name="TextBox 36"/>
            <p:cNvSpPr/>
            <p:nvPr/>
          </p:nvSpPr>
          <p:spPr>
            <a:xfrm>
              <a:off x="2194560" y="634932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English / Nepali switcher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One-click language change across the portal.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6" name="Group 37"/>
          <p:cNvGrpSpPr/>
          <p:nvPr/>
        </p:nvGrpSpPr>
        <p:grpSpPr>
          <a:xfrm>
            <a:off x="9043200" y="8329680"/>
            <a:ext cx="567360" cy="567360"/>
            <a:chOff x="9043200" y="8329680"/>
            <a:chExt cx="567360" cy="567360"/>
          </a:xfrm>
        </p:grpSpPr>
        <p:sp>
          <p:nvSpPr>
            <p:cNvPr id="317" name="Freeform 38"/>
            <p:cNvSpPr/>
            <p:nvPr/>
          </p:nvSpPr>
          <p:spPr>
            <a:xfrm>
              <a:off x="9043200" y="8329680"/>
              <a:ext cx="567360" cy="567360"/>
            </a:xfrm>
            <a:custGeom>
              <a:avLst/>
              <a:gdLst>
                <a:gd name="textAreaLeft" fmla="*/ 0 w 567360"/>
                <a:gd name="textAreaRight" fmla="*/ 567720 w 567360"/>
                <a:gd name="textAreaTop" fmla="*/ 0 h 567360"/>
                <a:gd name="textAreaBottom" fmla="*/ 567720 h 567360"/>
              </a:gdLst>
              <a:ahLst/>
              <a:rect l="textAreaLeft" t="textAreaTop" r="textAreaRight" b="textAreaBottom"/>
              <a:pathLst>
                <a:path w="756920" h="756920">
                  <a:moveTo>
                    <a:pt x="0" y="378460"/>
                  </a:moveTo>
                  <a:cubicBezTo>
                    <a:pt x="0" y="169418"/>
                    <a:pt x="169418" y="0"/>
                    <a:pt x="378460" y="0"/>
                  </a:cubicBezTo>
                  <a:cubicBezTo>
                    <a:pt x="587502" y="0"/>
                    <a:pt x="756920" y="169418"/>
                    <a:pt x="756920" y="378460"/>
                  </a:cubicBezTo>
                  <a:cubicBezTo>
                    <a:pt x="756920" y="587502"/>
                    <a:pt x="587502" y="756920"/>
                    <a:pt x="378460" y="756920"/>
                  </a:cubicBezTo>
                  <a:cubicBezTo>
                    <a:pt x="169418" y="756920"/>
                    <a:pt x="0" y="587502"/>
                    <a:pt x="0" y="378460"/>
                  </a:cubicBezTo>
                  <a:close/>
                </a:path>
              </a:pathLst>
            </a:custGeom>
            <a:solidFill>
              <a:srgbClr val="ccfbf1"/>
            </a:solidFill>
            <a:ln cap="sq" w="19050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18" name="Group 39"/>
          <p:cNvGrpSpPr/>
          <p:nvPr/>
        </p:nvGrpSpPr>
        <p:grpSpPr>
          <a:xfrm>
            <a:off x="9052560" y="8303760"/>
            <a:ext cx="548280" cy="583920"/>
            <a:chOff x="9052560" y="8303760"/>
            <a:chExt cx="548280" cy="583920"/>
          </a:xfrm>
        </p:grpSpPr>
        <p:sp>
          <p:nvSpPr>
            <p:cNvPr id="319" name="Freeform 40"/>
            <p:cNvSpPr/>
            <p:nvPr/>
          </p:nvSpPr>
          <p:spPr>
            <a:xfrm>
              <a:off x="9052560" y="8339400"/>
              <a:ext cx="548280" cy="54828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0" name="TextBox 41"/>
            <p:cNvSpPr/>
            <p:nvPr/>
          </p:nvSpPr>
          <p:spPr>
            <a:xfrm>
              <a:off x="9052560" y="8303760"/>
              <a:ext cx="548280" cy="58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✓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1" name="Group 42"/>
          <p:cNvGrpSpPr/>
          <p:nvPr/>
        </p:nvGrpSpPr>
        <p:grpSpPr>
          <a:xfrm>
            <a:off x="9807120" y="8235000"/>
            <a:ext cx="7653240" cy="721080"/>
            <a:chOff x="9807120" y="8235000"/>
            <a:chExt cx="7653240" cy="721080"/>
          </a:xfrm>
        </p:grpSpPr>
        <p:sp>
          <p:nvSpPr>
            <p:cNvPr id="322" name="Freeform 43"/>
            <p:cNvSpPr/>
            <p:nvPr/>
          </p:nvSpPr>
          <p:spPr>
            <a:xfrm>
              <a:off x="9807120" y="8270640"/>
              <a:ext cx="7653240" cy="685440"/>
            </a:xfrm>
            <a:custGeom>
              <a:avLst/>
              <a:gdLst>
                <a:gd name="textAreaLeft" fmla="*/ 0 w 7653240"/>
                <a:gd name="textAreaRight" fmla="*/ 7653600 w 7653240"/>
                <a:gd name="textAreaTop" fmla="*/ 0 h 685440"/>
                <a:gd name="textAreaBottom" fmla="*/ 685800 h 685440"/>
              </a:gdLst>
              <a:ahLst/>
              <a:rect l="textAreaLeft" t="textAreaTop" r="textAreaRight" b="textAreaBottom"/>
              <a:pathLst>
                <a:path w="10204704" h="914400">
                  <a:moveTo>
                    <a:pt x="0" y="0"/>
                  </a:moveTo>
                  <a:lnTo>
                    <a:pt x="10204704" y="0"/>
                  </a:lnTo>
                  <a:lnTo>
                    <a:pt x="10204704" y="914400"/>
                  </a:lnTo>
                  <a:lnTo>
                    <a:pt x="0" y="914400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3" name="TextBox 44"/>
            <p:cNvSpPr/>
            <p:nvPr/>
          </p:nvSpPr>
          <p:spPr>
            <a:xfrm>
              <a:off x="9807120" y="8235000"/>
              <a:ext cx="7653240" cy="72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Outcome: </a:t>
              </a:r>
              <a:r>
                <a:rPr b="0" lang="en-US" sz="2100" spc="-1" strike="noStrike">
                  <a:solidFill>
                    <a:srgbClr val="0f172a"/>
                  </a:solidFill>
                  <a:latin typeface="Calibri (MS)"/>
                  <a:ea typeface="Calibri (MS)"/>
                </a:rPr>
                <a:t>citizens arrive prepared and every citizen can use it.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24" name="Freeform 45"/>
          <p:cNvSpPr/>
          <p:nvPr/>
        </p:nvSpPr>
        <p:spPr>
          <a:xfrm>
            <a:off x="8977680" y="2823120"/>
            <a:ext cx="8395920" cy="4928760"/>
          </a:xfrm>
          <a:custGeom>
            <a:avLst/>
            <a:gdLst>
              <a:gd name="textAreaLeft" fmla="*/ 0 w 8395920"/>
              <a:gd name="textAreaRight" fmla="*/ 8396280 w 8395920"/>
              <a:gd name="textAreaTop" fmla="*/ 0 h 4928760"/>
              <a:gd name="textAreaBottom" fmla="*/ 4929120 h 4928760"/>
            </a:gdLst>
            <a:ahLst/>
            <a:rect l="textAreaLeft" t="textAreaTop" r="textAreaRight" b="textAreaBottom"/>
            <a:pathLst>
              <a:path w="8526103" h="4929153">
                <a:moveTo>
                  <a:pt x="0" y="0"/>
                </a:moveTo>
                <a:lnTo>
                  <a:pt x="8526103" y="0"/>
                </a:lnTo>
                <a:lnTo>
                  <a:pt x="8526103" y="4929154"/>
                </a:lnTo>
                <a:lnTo>
                  <a:pt x="0" y="492915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46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Interactive Checklist &amp; Accessibility</a:t>
            </a:r>
            <a:endParaRPr b="0" lang="en-US" sz="5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47"/>
          <p:cNvSpPr/>
          <p:nvPr/>
        </p:nvSpPr>
        <p:spPr>
          <a:xfrm>
            <a:off x="16550640" y="9608760"/>
            <a:ext cx="8179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64748b"/>
                </a:solidFill>
                <a:latin typeface="Calibri (MS)"/>
                <a:ea typeface="Calibri (MS)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" name="Group 2"/>
          <p:cNvGrpSpPr/>
          <p:nvPr/>
        </p:nvGrpSpPr>
        <p:grpSpPr>
          <a:xfrm>
            <a:off x="822960" y="9572760"/>
            <a:ext cx="8229240" cy="439560"/>
            <a:chOff x="822960" y="9572760"/>
            <a:chExt cx="8229240" cy="439560"/>
          </a:xfrm>
        </p:grpSpPr>
        <p:sp>
          <p:nvSpPr>
            <p:cNvPr id="328" name="Freeform 3"/>
            <p:cNvSpPr/>
            <p:nvPr/>
          </p:nvSpPr>
          <p:spPr>
            <a:xfrm>
              <a:off x="822960" y="9601200"/>
              <a:ext cx="8229240" cy="411120"/>
            </a:xfrm>
            <a:custGeom>
              <a:avLst/>
              <a:gdLst>
                <a:gd name="textAreaLeft" fmla="*/ 0 w 8229240"/>
                <a:gd name="textAreaRight" fmla="*/ 8229600 w 822924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9" name="TextBox 4"/>
            <p:cNvSpPr/>
            <p:nvPr/>
          </p:nvSpPr>
          <p:spPr>
            <a:xfrm>
              <a:off x="822960" y="9572760"/>
              <a:ext cx="8229240" cy="43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800"/>
                </a:lnSpc>
              </a:pPr>
              <a:r>
                <a:rPr b="0" lang="en-US" sz="1500" spc="-1" strike="noStrike">
                  <a:solidFill>
                    <a:srgbClr val="64748b"/>
                  </a:solidFill>
                  <a:latin typeface="Calibri (MS)"/>
                  <a:ea typeface="Calibri (MS)"/>
                </a:rPr>
                <a:t>SQMS  ·  DAO Kathmandu</a:t>
              </a:r>
              <a:endParaRPr b="0" lang="en-US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0" name="Group 5"/>
          <p:cNvGrpSpPr/>
          <p:nvPr/>
        </p:nvGrpSpPr>
        <p:grpSpPr>
          <a:xfrm>
            <a:off x="815760" y="678600"/>
            <a:ext cx="4012200" cy="480240"/>
            <a:chOff x="815760" y="678600"/>
            <a:chExt cx="4012200" cy="480240"/>
          </a:xfrm>
        </p:grpSpPr>
        <p:sp>
          <p:nvSpPr>
            <p:cNvPr id="331" name="Freeform 6"/>
            <p:cNvSpPr/>
            <p:nvPr/>
          </p:nvSpPr>
          <p:spPr>
            <a:xfrm>
              <a:off x="815760" y="678600"/>
              <a:ext cx="4012200" cy="480240"/>
            </a:xfrm>
            <a:custGeom>
              <a:avLst/>
              <a:gdLst>
                <a:gd name="textAreaLeft" fmla="*/ 0 w 4012200"/>
                <a:gd name="textAreaRight" fmla="*/ 4012560 w 401220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5350002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5029581" y="0"/>
                  </a:lnTo>
                  <a:cubicBezTo>
                    <a:pt x="5206492" y="0"/>
                    <a:pt x="5350002" y="143510"/>
                    <a:pt x="5350002" y="320421"/>
                  </a:cubicBezTo>
                  <a:cubicBezTo>
                    <a:pt x="5350002" y="497332"/>
                    <a:pt x="5206492" y="640842"/>
                    <a:pt x="5029581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ccfbf1"/>
            </a:solidFill>
            <a:ln cap="sq" w="14288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2" name="Group 7"/>
          <p:cNvGrpSpPr/>
          <p:nvPr/>
        </p:nvGrpSpPr>
        <p:grpSpPr>
          <a:xfrm>
            <a:off x="822960" y="664200"/>
            <a:ext cx="3997800" cy="487440"/>
            <a:chOff x="822960" y="664200"/>
            <a:chExt cx="3997800" cy="487440"/>
          </a:xfrm>
        </p:grpSpPr>
        <p:sp>
          <p:nvSpPr>
            <p:cNvPr id="333" name="Freeform 8"/>
            <p:cNvSpPr/>
            <p:nvPr/>
          </p:nvSpPr>
          <p:spPr>
            <a:xfrm>
              <a:off x="822960" y="685800"/>
              <a:ext cx="3997800" cy="465840"/>
            </a:xfrm>
            <a:custGeom>
              <a:avLst/>
              <a:gdLst>
                <a:gd name="textAreaLeft" fmla="*/ 0 w 3997800"/>
                <a:gd name="textAreaRight" fmla="*/ 3998160 w 399780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5330952" h="621792">
                  <a:moveTo>
                    <a:pt x="0" y="0"/>
                  </a:moveTo>
                  <a:lnTo>
                    <a:pt x="5330952" y="0"/>
                  </a:lnTo>
                  <a:lnTo>
                    <a:pt x="5330952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4" name="TextBox 9"/>
            <p:cNvSpPr/>
            <p:nvPr/>
          </p:nvSpPr>
          <p:spPr>
            <a:xfrm>
              <a:off x="822960" y="664200"/>
              <a:ext cx="399780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CITIZEN PORTAL  ·  06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5" name="Group 10"/>
          <p:cNvGrpSpPr/>
          <p:nvPr/>
        </p:nvGrpSpPr>
        <p:grpSpPr>
          <a:xfrm>
            <a:off x="815760" y="2667600"/>
            <a:ext cx="7695000" cy="1659960"/>
            <a:chOff x="815760" y="2667600"/>
            <a:chExt cx="7695000" cy="1659960"/>
          </a:xfrm>
        </p:grpSpPr>
        <p:sp>
          <p:nvSpPr>
            <p:cNvPr id="336" name="Freeform 11"/>
            <p:cNvSpPr/>
            <p:nvPr/>
          </p:nvSpPr>
          <p:spPr>
            <a:xfrm>
              <a:off x="815760" y="266760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7" name="Group 12"/>
          <p:cNvGrpSpPr/>
          <p:nvPr/>
        </p:nvGrpSpPr>
        <p:grpSpPr>
          <a:xfrm>
            <a:off x="1161000" y="3115800"/>
            <a:ext cx="763560" cy="763560"/>
            <a:chOff x="1161000" y="3115800"/>
            <a:chExt cx="763560" cy="763560"/>
          </a:xfrm>
        </p:grpSpPr>
        <p:sp>
          <p:nvSpPr>
            <p:cNvPr id="338" name="Freeform 13"/>
            <p:cNvSpPr/>
            <p:nvPr/>
          </p:nvSpPr>
          <p:spPr>
            <a:xfrm>
              <a:off x="1161000" y="31158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39" name="Group 14"/>
          <p:cNvGrpSpPr/>
          <p:nvPr/>
        </p:nvGrpSpPr>
        <p:grpSpPr>
          <a:xfrm>
            <a:off x="1354320" y="3309120"/>
            <a:ext cx="376920" cy="376920"/>
            <a:chOff x="1354320" y="3309120"/>
            <a:chExt cx="376920" cy="376920"/>
          </a:xfrm>
        </p:grpSpPr>
        <p:sp>
          <p:nvSpPr>
            <p:cNvPr id="340" name="Freeform 15"/>
            <p:cNvSpPr/>
            <p:nvPr/>
          </p:nvSpPr>
          <p:spPr>
            <a:xfrm>
              <a:off x="1354320" y="330912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1" name="Group 16"/>
          <p:cNvGrpSpPr/>
          <p:nvPr/>
        </p:nvGrpSpPr>
        <p:grpSpPr>
          <a:xfrm>
            <a:off x="2194560" y="2646000"/>
            <a:ext cx="6103440" cy="1674360"/>
            <a:chOff x="2194560" y="2646000"/>
            <a:chExt cx="6103440" cy="1674360"/>
          </a:xfrm>
        </p:grpSpPr>
        <p:sp>
          <p:nvSpPr>
            <p:cNvPr id="342" name="Freeform 17"/>
            <p:cNvSpPr/>
            <p:nvPr/>
          </p:nvSpPr>
          <p:spPr>
            <a:xfrm>
              <a:off x="2194560" y="267480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3" name="TextBox 18"/>
            <p:cNvSpPr/>
            <p:nvPr/>
          </p:nvSpPr>
          <p:spPr>
            <a:xfrm>
              <a:off x="2194560" y="264600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Rule-based + AI knowledge base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Answers on DAO services and circulars, any time.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4" name="Group 19"/>
          <p:cNvGrpSpPr/>
          <p:nvPr/>
        </p:nvGrpSpPr>
        <p:grpSpPr>
          <a:xfrm>
            <a:off x="815760" y="4519080"/>
            <a:ext cx="7695000" cy="1659960"/>
            <a:chOff x="815760" y="4519080"/>
            <a:chExt cx="7695000" cy="1659960"/>
          </a:xfrm>
        </p:grpSpPr>
        <p:sp>
          <p:nvSpPr>
            <p:cNvPr id="345" name="Freeform 20"/>
            <p:cNvSpPr/>
            <p:nvPr/>
          </p:nvSpPr>
          <p:spPr>
            <a:xfrm>
              <a:off x="815760" y="451908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6" name="Group 21"/>
          <p:cNvGrpSpPr/>
          <p:nvPr/>
        </p:nvGrpSpPr>
        <p:grpSpPr>
          <a:xfrm>
            <a:off x="1161000" y="4967280"/>
            <a:ext cx="763560" cy="763560"/>
            <a:chOff x="1161000" y="4967280"/>
            <a:chExt cx="763560" cy="763560"/>
          </a:xfrm>
        </p:grpSpPr>
        <p:sp>
          <p:nvSpPr>
            <p:cNvPr id="347" name="Freeform 22"/>
            <p:cNvSpPr/>
            <p:nvPr/>
          </p:nvSpPr>
          <p:spPr>
            <a:xfrm>
              <a:off x="1161000" y="496728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8" name="Group 23"/>
          <p:cNvGrpSpPr/>
          <p:nvPr/>
        </p:nvGrpSpPr>
        <p:grpSpPr>
          <a:xfrm>
            <a:off x="1354320" y="5160600"/>
            <a:ext cx="376920" cy="376920"/>
            <a:chOff x="1354320" y="5160600"/>
            <a:chExt cx="376920" cy="376920"/>
          </a:xfrm>
        </p:grpSpPr>
        <p:sp>
          <p:nvSpPr>
            <p:cNvPr id="349" name="Freeform 24"/>
            <p:cNvSpPr/>
            <p:nvPr/>
          </p:nvSpPr>
          <p:spPr>
            <a:xfrm>
              <a:off x="1354320" y="516060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0" name="Group 25"/>
          <p:cNvGrpSpPr/>
          <p:nvPr/>
        </p:nvGrpSpPr>
        <p:grpSpPr>
          <a:xfrm>
            <a:off x="2194560" y="4497840"/>
            <a:ext cx="6103440" cy="1674000"/>
            <a:chOff x="2194560" y="4497840"/>
            <a:chExt cx="6103440" cy="1674000"/>
          </a:xfrm>
        </p:grpSpPr>
        <p:sp>
          <p:nvSpPr>
            <p:cNvPr id="351" name="Freeform 26"/>
            <p:cNvSpPr/>
            <p:nvPr/>
          </p:nvSpPr>
          <p:spPr>
            <a:xfrm>
              <a:off x="2194560" y="452628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2" name="TextBox 27"/>
            <p:cNvSpPr/>
            <p:nvPr/>
          </p:nvSpPr>
          <p:spPr>
            <a:xfrm>
              <a:off x="2194560" y="449784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Quick suggestion chips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Instant answers: fees, hours, documents, lost certificates.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3" name="Group 28"/>
          <p:cNvGrpSpPr/>
          <p:nvPr/>
        </p:nvGrpSpPr>
        <p:grpSpPr>
          <a:xfrm>
            <a:off x="815760" y="6370920"/>
            <a:ext cx="7695000" cy="1659960"/>
            <a:chOff x="815760" y="6370920"/>
            <a:chExt cx="7695000" cy="1659960"/>
          </a:xfrm>
        </p:grpSpPr>
        <p:sp>
          <p:nvSpPr>
            <p:cNvPr id="354" name="Freeform 29"/>
            <p:cNvSpPr/>
            <p:nvPr/>
          </p:nvSpPr>
          <p:spPr>
            <a:xfrm>
              <a:off x="815760" y="637092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5" name="Group 30"/>
          <p:cNvGrpSpPr/>
          <p:nvPr/>
        </p:nvGrpSpPr>
        <p:grpSpPr>
          <a:xfrm>
            <a:off x="1161000" y="6819120"/>
            <a:ext cx="763560" cy="763560"/>
            <a:chOff x="1161000" y="6819120"/>
            <a:chExt cx="763560" cy="763560"/>
          </a:xfrm>
        </p:grpSpPr>
        <p:sp>
          <p:nvSpPr>
            <p:cNvPr id="356" name="Freeform 31"/>
            <p:cNvSpPr/>
            <p:nvPr/>
          </p:nvSpPr>
          <p:spPr>
            <a:xfrm>
              <a:off x="1161000" y="681912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ccfbf1"/>
            </a:solidFill>
            <a:ln cap="sq" w="9525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7" name="Group 32"/>
          <p:cNvGrpSpPr/>
          <p:nvPr/>
        </p:nvGrpSpPr>
        <p:grpSpPr>
          <a:xfrm>
            <a:off x="1354320" y="7012440"/>
            <a:ext cx="376920" cy="376920"/>
            <a:chOff x="1354320" y="7012440"/>
            <a:chExt cx="376920" cy="376920"/>
          </a:xfrm>
        </p:grpSpPr>
        <p:sp>
          <p:nvSpPr>
            <p:cNvPr id="358" name="Freeform 33"/>
            <p:cNvSpPr/>
            <p:nvPr/>
          </p:nvSpPr>
          <p:spPr>
            <a:xfrm>
              <a:off x="1354320" y="701244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9" name="Group 34"/>
          <p:cNvGrpSpPr/>
          <p:nvPr/>
        </p:nvGrpSpPr>
        <p:grpSpPr>
          <a:xfrm>
            <a:off x="2194560" y="6349320"/>
            <a:ext cx="6103440" cy="1674360"/>
            <a:chOff x="2194560" y="6349320"/>
            <a:chExt cx="6103440" cy="1674360"/>
          </a:xfrm>
        </p:grpSpPr>
        <p:sp>
          <p:nvSpPr>
            <p:cNvPr id="360" name="Freeform 35"/>
            <p:cNvSpPr/>
            <p:nvPr/>
          </p:nvSpPr>
          <p:spPr>
            <a:xfrm>
              <a:off x="2194560" y="637812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1" name="TextBox 36"/>
            <p:cNvSpPr/>
            <p:nvPr/>
          </p:nvSpPr>
          <p:spPr>
            <a:xfrm>
              <a:off x="2194560" y="634932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Public inquiries wall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Citizen questions with administrative reply escalation.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2" name="Group 37"/>
          <p:cNvGrpSpPr/>
          <p:nvPr/>
        </p:nvGrpSpPr>
        <p:grpSpPr>
          <a:xfrm>
            <a:off x="9043200" y="8329680"/>
            <a:ext cx="567360" cy="567360"/>
            <a:chOff x="9043200" y="8329680"/>
            <a:chExt cx="567360" cy="567360"/>
          </a:xfrm>
        </p:grpSpPr>
        <p:sp>
          <p:nvSpPr>
            <p:cNvPr id="363" name="Freeform 38"/>
            <p:cNvSpPr/>
            <p:nvPr/>
          </p:nvSpPr>
          <p:spPr>
            <a:xfrm>
              <a:off x="9043200" y="8329680"/>
              <a:ext cx="567360" cy="567360"/>
            </a:xfrm>
            <a:custGeom>
              <a:avLst/>
              <a:gdLst>
                <a:gd name="textAreaLeft" fmla="*/ 0 w 567360"/>
                <a:gd name="textAreaRight" fmla="*/ 567720 w 567360"/>
                <a:gd name="textAreaTop" fmla="*/ 0 h 567360"/>
                <a:gd name="textAreaBottom" fmla="*/ 567720 h 567360"/>
              </a:gdLst>
              <a:ahLst/>
              <a:rect l="textAreaLeft" t="textAreaTop" r="textAreaRight" b="textAreaBottom"/>
              <a:pathLst>
                <a:path w="756920" h="756920">
                  <a:moveTo>
                    <a:pt x="0" y="378460"/>
                  </a:moveTo>
                  <a:cubicBezTo>
                    <a:pt x="0" y="169418"/>
                    <a:pt x="169418" y="0"/>
                    <a:pt x="378460" y="0"/>
                  </a:cubicBezTo>
                  <a:cubicBezTo>
                    <a:pt x="587502" y="0"/>
                    <a:pt x="756920" y="169418"/>
                    <a:pt x="756920" y="378460"/>
                  </a:cubicBezTo>
                  <a:cubicBezTo>
                    <a:pt x="756920" y="587502"/>
                    <a:pt x="587502" y="756920"/>
                    <a:pt x="378460" y="756920"/>
                  </a:cubicBezTo>
                  <a:cubicBezTo>
                    <a:pt x="169418" y="756920"/>
                    <a:pt x="0" y="587502"/>
                    <a:pt x="0" y="378460"/>
                  </a:cubicBezTo>
                  <a:close/>
                </a:path>
              </a:pathLst>
            </a:custGeom>
            <a:solidFill>
              <a:srgbClr val="ccfbf1"/>
            </a:solidFill>
            <a:ln cap="sq" w="19050">
              <a:solidFill>
                <a:srgbClr val="ccfbf1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4" name="Group 39"/>
          <p:cNvGrpSpPr/>
          <p:nvPr/>
        </p:nvGrpSpPr>
        <p:grpSpPr>
          <a:xfrm>
            <a:off x="9052560" y="8303760"/>
            <a:ext cx="548280" cy="583920"/>
            <a:chOff x="9052560" y="8303760"/>
            <a:chExt cx="548280" cy="583920"/>
          </a:xfrm>
        </p:grpSpPr>
        <p:sp>
          <p:nvSpPr>
            <p:cNvPr id="365" name="Freeform 40"/>
            <p:cNvSpPr/>
            <p:nvPr/>
          </p:nvSpPr>
          <p:spPr>
            <a:xfrm>
              <a:off x="9052560" y="8339400"/>
              <a:ext cx="548280" cy="54828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6" name="TextBox 41"/>
            <p:cNvSpPr/>
            <p:nvPr/>
          </p:nvSpPr>
          <p:spPr>
            <a:xfrm>
              <a:off x="9052560" y="8303760"/>
              <a:ext cx="548280" cy="58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✓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7" name="Group 42"/>
          <p:cNvGrpSpPr/>
          <p:nvPr/>
        </p:nvGrpSpPr>
        <p:grpSpPr>
          <a:xfrm>
            <a:off x="9807120" y="8235000"/>
            <a:ext cx="7653240" cy="721080"/>
            <a:chOff x="9807120" y="8235000"/>
            <a:chExt cx="7653240" cy="721080"/>
          </a:xfrm>
        </p:grpSpPr>
        <p:sp>
          <p:nvSpPr>
            <p:cNvPr id="368" name="Freeform 43"/>
            <p:cNvSpPr/>
            <p:nvPr/>
          </p:nvSpPr>
          <p:spPr>
            <a:xfrm>
              <a:off x="9807120" y="8270640"/>
              <a:ext cx="7653240" cy="685440"/>
            </a:xfrm>
            <a:custGeom>
              <a:avLst/>
              <a:gdLst>
                <a:gd name="textAreaLeft" fmla="*/ 0 w 7653240"/>
                <a:gd name="textAreaRight" fmla="*/ 7653600 w 7653240"/>
                <a:gd name="textAreaTop" fmla="*/ 0 h 685440"/>
                <a:gd name="textAreaBottom" fmla="*/ 685800 h 685440"/>
              </a:gdLst>
              <a:ahLst/>
              <a:rect l="textAreaLeft" t="textAreaTop" r="textAreaRight" b="textAreaBottom"/>
              <a:pathLst>
                <a:path w="10204704" h="914400">
                  <a:moveTo>
                    <a:pt x="0" y="0"/>
                  </a:moveTo>
                  <a:lnTo>
                    <a:pt x="10204704" y="0"/>
                  </a:lnTo>
                  <a:lnTo>
                    <a:pt x="10204704" y="914400"/>
                  </a:lnTo>
                  <a:lnTo>
                    <a:pt x="0" y="914400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9" name="TextBox 44"/>
            <p:cNvSpPr/>
            <p:nvPr/>
          </p:nvSpPr>
          <p:spPr>
            <a:xfrm>
              <a:off x="9807120" y="8235000"/>
              <a:ext cx="7653240" cy="72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0f766e"/>
                  </a:solidFill>
                  <a:latin typeface="Calibri (MS) Bold"/>
                  <a:ea typeface="Calibri (MS) Bold"/>
                </a:rPr>
                <a:t>Outcome: </a:t>
              </a:r>
              <a:r>
                <a:rPr b="0" lang="en-US" sz="2100" spc="-1" strike="noStrike">
                  <a:solidFill>
                    <a:srgbClr val="0f172a"/>
                  </a:solidFill>
                  <a:latin typeface="Calibri (MS)"/>
                  <a:ea typeface="Calibri (MS)"/>
                </a:rPr>
                <a:t>routine questions are answered before the counter.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70" name="Freeform 45"/>
          <p:cNvSpPr/>
          <p:nvPr/>
        </p:nvSpPr>
        <p:spPr>
          <a:xfrm>
            <a:off x="8777880" y="3026880"/>
            <a:ext cx="8902440" cy="4267440"/>
          </a:xfrm>
          <a:custGeom>
            <a:avLst/>
            <a:gdLst>
              <a:gd name="textAreaLeft" fmla="*/ 0 w 8902440"/>
              <a:gd name="textAreaRight" fmla="*/ 8902800 w 8902440"/>
              <a:gd name="textAreaTop" fmla="*/ 0 h 4267440"/>
              <a:gd name="textAreaBottom" fmla="*/ 4267800 h 4267440"/>
            </a:gdLst>
            <a:ahLst/>
            <a:rect l="textAreaLeft" t="textAreaTop" r="textAreaRight" b="textAreaBottom"/>
            <a:pathLst>
              <a:path w="8902652" h="4267709">
                <a:moveTo>
                  <a:pt x="0" y="0"/>
                </a:moveTo>
                <a:lnTo>
                  <a:pt x="8902652" y="0"/>
                </a:lnTo>
                <a:lnTo>
                  <a:pt x="8902652" y="4267710"/>
                </a:lnTo>
                <a:lnTo>
                  <a:pt x="0" y="42677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6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24/7 AI Citizen Assistant &amp; Inquiries</a:t>
            </a:r>
            <a:endParaRPr b="0" lang="en-US" sz="5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47"/>
          <p:cNvSpPr/>
          <p:nvPr/>
        </p:nvSpPr>
        <p:spPr>
          <a:xfrm>
            <a:off x="16550640" y="9608760"/>
            <a:ext cx="8179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64748b"/>
                </a:solidFill>
                <a:latin typeface="Calibri (MS)"/>
                <a:ea typeface="Calibri (MS)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roup 2"/>
          <p:cNvGrpSpPr/>
          <p:nvPr/>
        </p:nvGrpSpPr>
        <p:grpSpPr>
          <a:xfrm>
            <a:off x="822960" y="9572760"/>
            <a:ext cx="8229240" cy="439560"/>
            <a:chOff x="822960" y="9572760"/>
            <a:chExt cx="8229240" cy="439560"/>
          </a:xfrm>
        </p:grpSpPr>
        <p:sp>
          <p:nvSpPr>
            <p:cNvPr id="374" name="Freeform 3"/>
            <p:cNvSpPr/>
            <p:nvPr/>
          </p:nvSpPr>
          <p:spPr>
            <a:xfrm>
              <a:off x="822960" y="9601200"/>
              <a:ext cx="8229240" cy="411120"/>
            </a:xfrm>
            <a:custGeom>
              <a:avLst/>
              <a:gdLst>
                <a:gd name="textAreaLeft" fmla="*/ 0 w 8229240"/>
                <a:gd name="textAreaRight" fmla="*/ 8229600 w 822924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5" name="TextBox 4"/>
            <p:cNvSpPr/>
            <p:nvPr/>
          </p:nvSpPr>
          <p:spPr>
            <a:xfrm>
              <a:off x="822960" y="9572760"/>
              <a:ext cx="8229240" cy="43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800"/>
                </a:lnSpc>
              </a:pPr>
              <a:r>
                <a:rPr b="0" lang="en-US" sz="1500" spc="-1" strike="noStrike">
                  <a:solidFill>
                    <a:srgbClr val="64748b"/>
                  </a:solidFill>
                  <a:latin typeface="Calibri (MS)"/>
                  <a:ea typeface="Calibri (MS)"/>
                </a:rPr>
                <a:t>SQMS  ·  DAO Kathmandu</a:t>
              </a:r>
              <a:endParaRPr b="0" lang="en-US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6" name="Group 5"/>
          <p:cNvGrpSpPr/>
          <p:nvPr/>
        </p:nvGrpSpPr>
        <p:grpSpPr>
          <a:xfrm>
            <a:off x="815760" y="678600"/>
            <a:ext cx="3696840" cy="480240"/>
            <a:chOff x="815760" y="678600"/>
            <a:chExt cx="3696840" cy="480240"/>
          </a:xfrm>
        </p:grpSpPr>
        <p:sp>
          <p:nvSpPr>
            <p:cNvPr id="377" name="Freeform 6"/>
            <p:cNvSpPr/>
            <p:nvPr/>
          </p:nvSpPr>
          <p:spPr>
            <a:xfrm>
              <a:off x="815760" y="678600"/>
              <a:ext cx="3696840" cy="480240"/>
            </a:xfrm>
            <a:custGeom>
              <a:avLst/>
              <a:gdLst>
                <a:gd name="textAreaLeft" fmla="*/ 0 w 3696840"/>
                <a:gd name="textAreaRight" fmla="*/ 3697200 w 369684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4929378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4608957" y="0"/>
                  </a:lnTo>
                  <a:cubicBezTo>
                    <a:pt x="4785868" y="0"/>
                    <a:pt x="4929378" y="143510"/>
                    <a:pt x="4929378" y="320421"/>
                  </a:cubicBezTo>
                  <a:cubicBezTo>
                    <a:pt x="4929378" y="497332"/>
                    <a:pt x="4785868" y="640842"/>
                    <a:pt x="4608957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e0e7ff"/>
            </a:solidFill>
            <a:ln cap="sq" w="14288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8" name="Group 7"/>
          <p:cNvGrpSpPr/>
          <p:nvPr/>
        </p:nvGrpSpPr>
        <p:grpSpPr>
          <a:xfrm>
            <a:off x="822960" y="664200"/>
            <a:ext cx="3682440" cy="487440"/>
            <a:chOff x="822960" y="664200"/>
            <a:chExt cx="3682440" cy="487440"/>
          </a:xfrm>
        </p:grpSpPr>
        <p:sp>
          <p:nvSpPr>
            <p:cNvPr id="379" name="Freeform 8"/>
            <p:cNvSpPr/>
            <p:nvPr/>
          </p:nvSpPr>
          <p:spPr>
            <a:xfrm>
              <a:off x="822960" y="685800"/>
              <a:ext cx="3682440" cy="465840"/>
            </a:xfrm>
            <a:custGeom>
              <a:avLst/>
              <a:gdLst>
                <a:gd name="textAreaLeft" fmla="*/ 0 w 3682440"/>
                <a:gd name="textAreaRight" fmla="*/ 3682800 w 368244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4910328" h="621792">
                  <a:moveTo>
                    <a:pt x="0" y="0"/>
                  </a:moveTo>
                  <a:lnTo>
                    <a:pt x="4910328" y="0"/>
                  </a:lnTo>
                  <a:lnTo>
                    <a:pt x="4910328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0" name="TextBox 9"/>
            <p:cNvSpPr/>
            <p:nvPr/>
          </p:nvSpPr>
          <p:spPr>
            <a:xfrm>
              <a:off x="822960" y="664200"/>
              <a:ext cx="368244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ADMIN PORTAL  ·  07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1" name="Group 10"/>
          <p:cNvGrpSpPr/>
          <p:nvPr/>
        </p:nvGrpSpPr>
        <p:grpSpPr>
          <a:xfrm>
            <a:off x="815760" y="2667600"/>
            <a:ext cx="7695000" cy="1659960"/>
            <a:chOff x="815760" y="2667600"/>
            <a:chExt cx="7695000" cy="1659960"/>
          </a:xfrm>
        </p:grpSpPr>
        <p:sp>
          <p:nvSpPr>
            <p:cNvPr id="382" name="Freeform 11"/>
            <p:cNvSpPr/>
            <p:nvPr/>
          </p:nvSpPr>
          <p:spPr>
            <a:xfrm>
              <a:off x="815760" y="266760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3" name="Group 12"/>
          <p:cNvGrpSpPr/>
          <p:nvPr/>
        </p:nvGrpSpPr>
        <p:grpSpPr>
          <a:xfrm>
            <a:off x="1161000" y="3115800"/>
            <a:ext cx="763560" cy="763560"/>
            <a:chOff x="1161000" y="3115800"/>
            <a:chExt cx="763560" cy="763560"/>
          </a:xfrm>
        </p:grpSpPr>
        <p:sp>
          <p:nvSpPr>
            <p:cNvPr id="384" name="Freeform 13"/>
            <p:cNvSpPr/>
            <p:nvPr/>
          </p:nvSpPr>
          <p:spPr>
            <a:xfrm>
              <a:off x="1161000" y="31158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5" name="Group 14"/>
          <p:cNvGrpSpPr/>
          <p:nvPr/>
        </p:nvGrpSpPr>
        <p:grpSpPr>
          <a:xfrm>
            <a:off x="1354320" y="3309120"/>
            <a:ext cx="376920" cy="376920"/>
            <a:chOff x="1354320" y="3309120"/>
            <a:chExt cx="376920" cy="376920"/>
          </a:xfrm>
        </p:grpSpPr>
        <p:sp>
          <p:nvSpPr>
            <p:cNvPr id="386" name="Freeform 15"/>
            <p:cNvSpPr/>
            <p:nvPr/>
          </p:nvSpPr>
          <p:spPr>
            <a:xfrm>
              <a:off x="1354320" y="330912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7" name="Group 16"/>
          <p:cNvGrpSpPr/>
          <p:nvPr/>
        </p:nvGrpSpPr>
        <p:grpSpPr>
          <a:xfrm>
            <a:off x="2194560" y="2646000"/>
            <a:ext cx="6103440" cy="1674360"/>
            <a:chOff x="2194560" y="2646000"/>
            <a:chExt cx="6103440" cy="1674360"/>
          </a:xfrm>
        </p:grpSpPr>
        <p:sp>
          <p:nvSpPr>
            <p:cNvPr id="388" name="Freeform 17"/>
            <p:cNvSpPr/>
            <p:nvPr/>
          </p:nvSpPr>
          <p:spPr>
            <a:xfrm>
              <a:off x="2194560" y="267480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" name="TextBox 18"/>
            <p:cNvSpPr/>
            <p:nvPr/>
          </p:nvSpPr>
          <p:spPr>
            <a:xfrm>
              <a:off x="2194560" y="264600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Role-based departments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Citizenship Division and NID Division kept separate.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0" name="Group 19"/>
          <p:cNvGrpSpPr/>
          <p:nvPr/>
        </p:nvGrpSpPr>
        <p:grpSpPr>
          <a:xfrm>
            <a:off x="815760" y="4519080"/>
            <a:ext cx="7695000" cy="1659960"/>
            <a:chOff x="815760" y="4519080"/>
            <a:chExt cx="7695000" cy="1659960"/>
          </a:xfrm>
        </p:grpSpPr>
        <p:sp>
          <p:nvSpPr>
            <p:cNvPr id="391" name="Freeform 20"/>
            <p:cNvSpPr/>
            <p:nvPr/>
          </p:nvSpPr>
          <p:spPr>
            <a:xfrm>
              <a:off x="815760" y="451908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2" name="Group 21"/>
          <p:cNvGrpSpPr/>
          <p:nvPr/>
        </p:nvGrpSpPr>
        <p:grpSpPr>
          <a:xfrm>
            <a:off x="1161000" y="4967280"/>
            <a:ext cx="763560" cy="763560"/>
            <a:chOff x="1161000" y="4967280"/>
            <a:chExt cx="763560" cy="763560"/>
          </a:xfrm>
        </p:grpSpPr>
        <p:sp>
          <p:nvSpPr>
            <p:cNvPr id="393" name="Freeform 22"/>
            <p:cNvSpPr/>
            <p:nvPr/>
          </p:nvSpPr>
          <p:spPr>
            <a:xfrm>
              <a:off x="1161000" y="496728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4" name="Group 23"/>
          <p:cNvGrpSpPr/>
          <p:nvPr/>
        </p:nvGrpSpPr>
        <p:grpSpPr>
          <a:xfrm>
            <a:off x="1354320" y="5160600"/>
            <a:ext cx="376920" cy="376920"/>
            <a:chOff x="1354320" y="5160600"/>
            <a:chExt cx="376920" cy="376920"/>
          </a:xfrm>
        </p:grpSpPr>
        <p:sp>
          <p:nvSpPr>
            <p:cNvPr id="395" name="Freeform 24"/>
            <p:cNvSpPr/>
            <p:nvPr/>
          </p:nvSpPr>
          <p:spPr>
            <a:xfrm>
              <a:off x="1354320" y="516060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6" name="Group 25"/>
          <p:cNvGrpSpPr/>
          <p:nvPr/>
        </p:nvGrpSpPr>
        <p:grpSpPr>
          <a:xfrm>
            <a:off x="2194560" y="4497840"/>
            <a:ext cx="6103440" cy="1674000"/>
            <a:chOff x="2194560" y="4497840"/>
            <a:chExt cx="6103440" cy="1674000"/>
          </a:xfrm>
        </p:grpSpPr>
        <p:sp>
          <p:nvSpPr>
            <p:cNvPr id="397" name="Freeform 26"/>
            <p:cNvSpPr/>
            <p:nvPr/>
          </p:nvSpPr>
          <p:spPr>
            <a:xfrm>
              <a:off x="2194560" y="452628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8" name="TextBox 27"/>
            <p:cNvSpPr/>
            <p:nvPr/>
          </p:nvSpPr>
          <p:spPr>
            <a:xfrm>
              <a:off x="2194560" y="449784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Captcha-protected sign-in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Modern government sign-in viewport.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9" name="Group 28"/>
          <p:cNvGrpSpPr/>
          <p:nvPr/>
        </p:nvGrpSpPr>
        <p:grpSpPr>
          <a:xfrm>
            <a:off x="815760" y="6370920"/>
            <a:ext cx="7695000" cy="1659960"/>
            <a:chOff x="815760" y="6370920"/>
            <a:chExt cx="7695000" cy="1659960"/>
          </a:xfrm>
        </p:grpSpPr>
        <p:sp>
          <p:nvSpPr>
            <p:cNvPr id="400" name="Freeform 29"/>
            <p:cNvSpPr/>
            <p:nvPr/>
          </p:nvSpPr>
          <p:spPr>
            <a:xfrm>
              <a:off x="815760" y="637092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1" name="Group 30"/>
          <p:cNvGrpSpPr/>
          <p:nvPr/>
        </p:nvGrpSpPr>
        <p:grpSpPr>
          <a:xfrm>
            <a:off x="1161000" y="6819120"/>
            <a:ext cx="763560" cy="763560"/>
            <a:chOff x="1161000" y="6819120"/>
            <a:chExt cx="763560" cy="763560"/>
          </a:xfrm>
        </p:grpSpPr>
        <p:sp>
          <p:nvSpPr>
            <p:cNvPr id="402" name="Freeform 31"/>
            <p:cNvSpPr/>
            <p:nvPr/>
          </p:nvSpPr>
          <p:spPr>
            <a:xfrm>
              <a:off x="1161000" y="681912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3" name="Group 32"/>
          <p:cNvGrpSpPr/>
          <p:nvPr/>
        </p:nvGrpSpPr>
        <p:grpSpPr>
          <a:xfrm>
            <a:off x="1354320" y="7012440"/>
            <a:ext cx="376920" cy="376920"/>
            <a:chOff x="1354320" y="7012440"/>
            <a:chExt cx="376920" cy="376920"/>
          </a:xfrm>
        </p:grpSpPr>
        <p:sp>
          <p:nvSpPr>
            <p:cNvPr id="404" name="Freeform 33"/>
            <p:cNvSpPr/>
            <p:nvPr/>
          </p:nvSpPr>
          <p:spPr>
            <a:xfrm>
              <a:off x="1354320" y="701244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5" name="Group 34"/>
          <p:cNvGrpSpPr/>
          <p:nvPr/>
        </p:nvGrpSpPr>
        <p:grpSpPr>
          <a:xfrm>
            <a:off x="2194560" y="6349320"/>
            <a:ext cx="6103440" cy="1674360"/>
            <a:chOff x="2194560" y="6349320"/>
            <a:chExt cx="6103440" cy="1674360"/>
          </a:xfrm>
        </p:grpSpPr>
        <p:sp>
          <p:nvSpPr>
            <p:cNvPr id="406" name="Freeform 35"/>
            <p:cNvSpPr/>
            <p:nvPr/>
          </p:nvSpPr>
          <p:spPr>
            <a:xfrm>
              <a:off x="2194560" y="637812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7" name="TextBox 36"/>
            <p:cNvSpPr/>
            <p:nvPr/>
          </p:nvSpPr>
          <p:spPr>
            <a:xfrm>
              <a:off x="2194560" y="634932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Isolated counter routing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No cross-department data clutter for operators.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8" name="Group 37"/>
          <p:cNvGrpSpPr/>
          <p:nvPr/>
        </p:nvGrpSpPr>
        <p:grpSpPr>
          <a:xfrm>
            <a:off x="9043200" y="8329680"/>
            <a:ext cx="567360" cy="567360"/>
            <a:chOff x="9043200" y="8329680"/>
            <a:chExt cx="567360" cy="567360"/>
          </a:xfrm>
        </p:grpSpPr>
        <p:sp>
          <p:nvSpPr>
            <p:cNvPr id="409" name="Freeform 38"/>
            <p:cNvSpPr/>
            <p:nvPr/>
          </p:nvSpPr>
          <p:spPr>
            <a:xfrm>
              <a:off x="9043200" y="8329680"/>
              <a:ext cx="567360" cy="567360"/>
            </a:xfrm>
            <a:custGeom>
              <a:avLst/>
              <a:gdLst>
                <a:gd name="textAreaLeft" fmla="*/ 0 w 567360"/>
                <a:gd name="textAreaRight" fmla="*/ 567720 w 567360"/>
                <a:gd name="textAreaTop" fmla="*/ 0 h 567360"/>
                <a:gd name="textAreaBottom" fmla="*/ 567720 h 567360"/>
              </a:gdLst>
              <a:ahLst/>
              <a:rect l="textAreaLeft" t="textAreaTop" r="textAreaRight" b="textAreaBottom"/>
              <a:pathLst>
                <a:path w="756920" h="756920">
                  <a:moveTo>
                    <a:pt x="0" y="378460"/>
                  </a:moveTo>
                  <a:cubicBezTo>
                    <a:pt x="0" y="169418"/>
                    <a:pt x="169418" y="0"/>
                    <a:pt x="378460" y="0"/>
                  </a:cubicBezTo>
                  <a:cubicBezTo>
                    <a:pt x="587502" y="0"/>
                    <a:pt x="756920" y="169418"/>
                    <a:pt x="756920" y="378460"/>
                  </a:cubicBezTo>
                  <a:cubicBezTo>
                    <a:pt x="756920" y="587502"/>
                    <a:pt x="587502" y="756920"/>
                    <a:pt x="378460" y="756920"/>
                  </a:cubicBezTo>
                  <a:cubicBezTo>
                    <a:pt x="169418" y="756920"/>
                    <a:pt x="0" y="587502"/>
                    <a:pt x="0" y="378460"/>
                  </a:cubicBezTo>
                  <a:close/>
                </a:path>
              </a:pathLst>
            </a:custGeom>
            <a:solidFill>
              <a:srgbClr val="e0e7ff"/>
            </a:solidFill>
            <a:ln cap="sq" w="19050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10" name="Group 39"/>
          <p:cNvGrpSpPr/>
          <p:nvPr/>
        </p:nvGrpSpPr>
        <p:grpSpPr>
          <a:xfrm>
            <a:off x="9052560" y="8303760"/>
            <a:ext cx="548280" cy="583920"/>
            <a:chOff x="9052560" y="8303760"/>
            <a:chExt cx="548280" cy="583920"/>
          </a:xfrm>
        </p:grpSpPr>
        <p:sp>
          <p:nvSpPr>
            <p:cNvPr id="411" name="Freeform 40"/>
            <p:cNvSpPr/>
            <p:nvPr/>
          </p:nvSpPr>
          <p:spPr>
            <a:xfrm>
              <a:off x="9052560" y="8339400"/>
              <a:ext cx="548280" cy="54828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2" name="TextBox 41"/>
            <p:cNvSpPr/>
            <p:nvPr/>
          </p:nvSpPr>
          <p:spPr>
            <a:xfrm>
              <a:off x="9052560" y="8303760"/>
              <a:ext cx="548280" cy="58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✓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13" name="Group 42"/>
          <p:cNvGrpSpPr/>
          <p:nvPr/>
        </p:nvGrpSpPr>
        <p:grpSpPr>
          <a:xfrm>
            <a:off x="9807120" y="8235000"/>
            <a:ext cx="7653240" cy="721080"/>
            <a:chOff x="9807120" y="8235000"/>
            <a:chExt cx="7653240" cy="721080"/>
          </a:xfrm>
        </p:grpSpPr>
        <p:sp>
          <p:nvSpPr>
            <p:cNvPr id="414" name="Freeform 43"/>
            <p:cNvSpPr/>
            <p:nvPr/>
          </p:nvSpPr>
          <p:spPr>
            <a:xfrm>
              <a:off x="9807120" y="8270640"/>
              <a:ext cx="7653240" cy="685440"/>
            </a:xfrm>
            <a:custGeom>
              <a:avLst/>
              <a:gdLst>
                <a:gd name="textAreaLeft" fmla="*/ 0 w 7653240"/>
                <a:gd name="textAreaRight" fmla="*/ 7653600 w 7653240"/>
                <a:gd name="textAreaTop" fmla="*/ 0 h 685440"/>
                <a:gd name="textAreaBottom" fmla="*/ 685800 h 685440"/>
              </a:gdLst>
              <a:ahLst/>
              <a:rect l="textAreaLeft" t="textAreaTop" r="textAreaRight" b="textAreaBottom"/>
              <a:pathLst>
                <a:path w="10204704" h="914400">
                  <a:moveTo>
                    <a:pt x="0" y="0"/>
                  </a:moveTo>
                  <a:lnTo>
                    <a:pt x="10204704" y="0"/>
                  </a:lnTo>
                  <a:lnTo>
                    <a:pt x="10204704" y="914400"/>
                  </a:lnTo>
                  <a:lnTo>
                    <a:pt x="0" y="914400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5" name="TextBox 44"/>
            <p:cNvSpPr/>
            <p:nvPr/>
          </p:nvSpPr>
          <p:spPr>
            <a:xfrm>
              <a:off x="9807120" y="8235000"/>
              <a:ext cx="7653240" cy="72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Outcome: </a:t>
              </a:r>
              <a:r>
                <a:rPr b="0" lang="en-US" sz="2100" spc="-1" strike="noStrike">
                  <a:solidFill>
                    <a:srgbClr val="0f172a"/>
                  </a:solidFill>
                  <a:latin typeface="Calibri (MS)"/>
                  <a:ea typeface="Calibri (MS)"/>
                </a:rPr>
                <a:t>operators see only their own division’s queue.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16" name="Freeform 45"/>
          <p:cNvSpPr/>
          <p:nvPr/>
        </p:nvSpPr>
        <p:spPr>
          <a:xfrm>
            <a:off x="8977680" y="2770920"/>
            <a:ext cx="8859240" cy="5033160"/>
          </a:xfrm>
          <a:custGeom>
            <a:avLst/>
            <a:gdLst>
              <a:gd name="textAreaLeft" fmla="*/ 0 w 8859240"/>
              <a:gd name="textAreaRight" fmla="*/ 8859600 w 8859240"/>
              <a:gd name="textAreaTop" fmla="*/ 0 h 5033160"/>
              <a:gd name="textAreaBottom" fmla="*/ 5033520 h 5033160"/>
            </a:gdLst>
            <a:ahLst/>
            <a:rect l="textAreaLeft" t="textAreaTop" r="textAreaRight" b="textAreaBottom"/>
            <a:pathLst>
              <a:path w="8859638" h="5033382">
                <a:moveTo>
                  <a:pt x="0" y="0"/>
                </a:moveTo>
                <a:lnTo>
                  <a:pt x="8859638" y="0"/>
                </a:lnTo>
                <a:lnTo>
                  <a:pt x="8859638" y="5033382"/>
                </a:lnTo>
                <a:lnTo>
                  <a:pt x="0" y="503338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46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Secure Login &amp; Department Partitioning</a:t>
            </a:r>
            <a:endParaRPr b="0" lang="en-US" sz="5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47"/>
          <p:cNvSpPr/>
          <p:nvPr/>
        </p:nvSpPr>
        <p:spPr>
          <a:xfrm>
            <a:off x="16550640" y="9608760"/>
            <a:ext cx="8179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64748b"/>
                </a:solidFill>
                <a:latin typeface="Calibri (MS)"/>
                <a:ea typeface="Calibri (MS)"/>
              </a:rPr>
              <a:t>7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9" name="Group 2"/>
          <p:cNvGrpSpPr/>
          <p:nvPr/>
        </p:nvGrpSpPr>
        <p:grpSpPr>
          <a:xfrm>
            <a:off x="822960" y="9572760"/>
            <a:ext cx="8229240" cy="439560"/>
            <a:chOff x="822960" y="9572760"/>
            <a:chExt cx="8229240" cy="439560"/>
          </a:xfrm>
        </p:grpSpPr>
        <p:sp>
          <p:nvSpPr>
            <p:cNvPr id="420" name="Freeform 3"/>
            <p:cNvSpPr/>
            <p:nvPr/>
          </p:nvSpPr>
          <p:spPr>
            <a:xfrm>
              <a:off x="822960" y="9601200"/>
              <a:ext cx="8229240" cy="411120"/>
            </a:xfrm>
            <a:custGeom>
              <a:avLst/>
              <a:gdLst>
                <a:gd name="textAreaLeft" fmla="*/ 0 w 8229240"/>
                <a:gd name="textAreaRight" fmla="*/ 8229600 w 822924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1" name="TextBox 4"/>
            <p:cNvSpPr/>
            <p:nvPr/>
          </p:nvSpPr>
          <p:spPr>
            <a:xfrm>
              <a:off x="822960" y="9572760"/>
              <a:ext cx="8229240" cy="43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800"/>
                </a:lnSpc>
              </a:pPr>
              <a:r>
                <a:rPr b="0" lang="en-US" sz="1500" spc="-1" strike="noStrike">
                  <a:solidFill>
                    <a:srgbClr val="64748b"/>
                  </a:solidFill>
                  <a:latin typeface="Calibri (MS)"/>
                  <a:ea typeface="Calibri (MS)"/>
                </a:rPr>
                <a:t>SQMS  ·  DAO Kathmandu</a:t>
              </a:r>
              <a:endParaRPr b="0" lang="en-US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2" name="Group 5"/>
          <p:cNvGrpSpPr/>
          <p:nvPr/>
        </p:nvGrpSpPr>
        <p:grpSpPr>
          <a:xfrm>
            <a:off x="815760" y="678600"/>
            <a:ext cx="3696840" cy="480240"/>
            <a:chOff x="815760" y="678600"/>
            <a:chExt cx="3696840" cy="480240"/>
          </a:xfrm>
        </p:grpSpPr>
        <p:sp>
          <p:nvSpPr>
            <p:cNvPr id="423" name="Freeform 6"/>
            <p:cNvSpPr/>
            <p:nvPr/>
          </p:nvSpPr>
          <p:spPr>
            <a:xfrm>
              <a:off x="815760" y="678600"/>
              <a:ext cx="3696840" cy="480240"/>
            </a:xfrm>
            <a:custGeom>
              <a:avLst/>
              <a:gdLst>
                <a:gd name="textAreaLeft" fmla="*/ 0 w 3696840"/>
                <a:gd name="textAreaRight" fmla="*/ 3697200 w 369684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4929378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4608957" y="0"/>
                  </a:lnTo>
                  <a:cubicBezTo>
                    <a:pt x="4785868" y="0"/>
                    <a:pt x="4929378" y="143510"/>
                    <a:pt x="4929378" y="320421"/>
                  </a:cubicBezTo>
                  <a:cubicBezTo>
                    <a:pt x="4929378" y="497332"/>
                    <a:pt x="4785868" y="640842"/>
                    <a:pt x="4608957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e0e7ff"/>
            </a:solidFill>
            <a:ln cap="sq" w="14288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4" name="Group 7"/>
          <p:cNvGrpSpPr/>
          <p:nvPr/>
        </p:nvGrpSpPr>
        <p:grpSpPr>
          <a:xfrm>
            <a:off x="822960" y="664200"/>
            <a:ext cx="3682440" cy="487440"/>
            <a:chOff x="822960" y="664200"/>
            <a:chExt cx="3682440" cy="487440"/>
          </a:xfrm>
        </p:grpSpPr>
        <p:sp>
          <p:nvSpPr>
            <p:cNvPr id="425" name="Freeform 8"/>
            <p:cNvSpPr/>
            <p:nvPr/>
          </p:nvSpPr>
          <p:spPr>
            <a:xfrm>
              <a:off x="822960" y="685800"/>
              <a:ext cx="3682440" cy="465840"/>
            </a:xfrm>
            <a:custGeom>
              <a:avLst/>
              <a:gdLst>
                <a:gd name="textAreaLeft" fmla="*/ 0 w 3682440"/>
                <a:gd name="textAreaRight" fmla="*/ 3682800 w 368244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4910328" h="621792">
                  <a:moveTo>
                    <a:pt x="0" y="0"/>
                  </a:moveTo>
                  <a:lnTo>
                    <a:pt x="4910328" y="0"/>
                  </a:lnTo>
                  <a:lnTo>
                    <a:pt x="4910328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6" name="TextBox 9"/>
            <p:cNvSpPr/>
            <p:nvPr/>
          </p:nvSpPr>
          <p:spPr>
            <a:xfrm>
              <a:off x="822960" y="664200"/>
              <a:ext cx="368244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ADMIN PORTAL  ·  08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27" name="TextBox 10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Operator Counter Terminal &amp; Workstation</a:t>
            </a:r>
            <a:endParaRPr b="0" lang="en-US" sz="5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28" name="Group 11"/>
          <p:cNvGrpSpPr/>
          <p:nvPr/>
        </p:nvGrpSpPr>
        <p:grpSpPr>
          <a:xfrm>
            <a:off x="815760" y="2667600"/>
            <a:ext cx="7695000" cy="1659960"/>
            <a:chOff x="815760" y="2667600"/>
            <a:chExt cx="7695000" cy="1659960"/>
          </a:xfrm>
        </p:grpSpPr>
        <p:sp>
          <p:nvSpPr>
            <p:cNvPr id="429" name="Freeform 12"/>
            <p:cNvSpPr/>
            <p:nvPr/>
          </p:nvSpPr>
          <p:spPr>
            <a:xfrm>
              <a:off x="815760" y="266760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0" name="Group 13"/>
          <p:cNvGrpSpPr/>
          <p:nvPr/>
        </p:nvGrpSpPr>
        <p:grpSpPr>
          <a:xfrm>
            <a:off x="1161000" y="3115800"/>
            <a:ext cx="763560" cy="763560"/>
            <a:chOff x="1161000" y="3115800"/>
            <a:chExt cx="763560" cy="763560"/>
          </a:xfrm>
        </p:grpSpPr>
        <p:sp>
          <p:nvSpPr>
            <p:cNvPr id="431" name="Freeform 14"/>
            <p:cNvSpPr/>
            <p:nvPr/>
          </p:nvSpPr>
          <p:spPr>
            <a:xfrm>
              <a:off x="1161000" y="31158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2" name="Group 15"/>
          <p:cNvGrpSpPr/>
          <p:nvPr/>
        </p:nvGrpSpPr>
        <p:grpSpPr>
          <a:xfrm>
            <a:off x="1354320" y="3309120"/>
            <a:ext cx="376920" cy="376920"/>
            <a:chOff x="1354320" y="3309120"/>
            <a:chExt cx="376920" cy="376920"/>
          </a:xfrm>
        </p:grpSpPr>
        <p:sp>
          <p:nvSpPr>
            <p:cNvPr id="433" name="Freeform 16"/>
            <p:cNvSpPr/>
            <p:nvPr/>
          </p:nvSpPr>
          <p:spPr>
            <a:xfrm>
              <a:off x="1354320" y="330912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4" name="Group 17"/>
          <p:cNvGrpSpPr/>
          <p:nvPr/>
        </p:nvGrpSpPr>
        <p:grpSpPr>
          <a:xfrm>
            <a:off x="2194560" y="2646000"/>
            <a:ext cx="6103440" cy="1674360"/>
            <a:chOff x="2194560" y="2646000"/>
            <a:chExt cx="6103440" cy="1674360"/>
          </a:xfrm>
        </p:grpSpPr>
        <p:sp>
          <p:nvSpPr>
            <p:cNvPr id="435" name="Freeform 18"/>
            <p:cNvSpPr/>
            <p:nvPr/>
          </p:nvSpPr>
          <p:spPr>
            <a:xfrm>
              <a:off x="2194560" y="267480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6" name="TextBox 19"/>
            <p:cNvSpPr/>
            <p:nvPr/>
          </p:nvSpPr>
          <p:spPr>
            <a:xfrm>
              <a:off x="2194560" y="264600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Counter operator console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Call Next, Recall, Mark Completed, Skip / No-Show.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7" name="Group 20"/>
          <p:cNvGrpSpPr/>
          <p:nvPr/>
        </p:nvGrpSpPr>
        <p:grpSpPr>
          <a:xfrm>
            <a:off x="815760" y="4519080"/>
            <a:ext cx="7695000" cy="1659960"/>
            <a:chOff x="815760" y="4519080"/>
            <a:chExt cx="7695000" cy="1659960"/>
          </a:xfrm>
        </p:grpSpPr>
        <p:sp>
          <p:nvSpPr>
            <p:cNvPr id="438" name="Freeform 21"/>
            <p:cNvSpPr/>
            <p:nvPr/>
          </p:nvSpPr>
          <p:spPr>
            <a:xfrm>
              <a:off x="815760" y="451908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9" name="Group 22"/>
          <p:cNvGrpSpPr/>
          <p:nvPr/>
        </p:nvGrpSpPr>
        <p:grpSpPr>
          <a:xfrm>
            <a:off x="1161000" y="4967280"/>
            <a:ext cx="763560" cy="763560"/>
            <a:chOff x="1161000" y="4967280"/>
            <a:chExt cx="763560" cy="763560"/>
          </a:xfrm>
        </p:grpSpPr>
        <p:sp>
          <p:nvSpPr>
            <p:cNvPr id="440" name="Freeform 23"/>
            <p:cNvSpPr/>
            <p:nvPr/>
          </p:nvSpPr>
          <p:spPr>
            <a:xfrm>
              <a:off x="1161000" y="496728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1" name="Group 24"/>
          <p:cNvGrpSpPr/>
          <p:nvPr/>
        </p:nvGrpSpPr>
        <p:grpSpPr>
          <a:xfrm>
            <a:off x="1354320" y="5160600"/>
            <a:ext cx="376920" cy="376920"/>
            <a:chOff x="1354320" y="5160600"/>
            <a:chExt cx="376920" cy="376920"/>
          </a:xfrm>
        </p:grpSpPr>
        <p:sp>
          <p:nvSpPr>
            <p:cNvPr id="442" name="Freeform 25"/>
            <p:cNvSpPr/>
            <p:nvPr/>
          </p:nvSpPr>
          <p:spPr>
            <a:xfrm>
              <a:off x="1354320" y="516060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3" name="Group 26"/>
          <p:cNvGrpSpPr/>
          <p:nvPr/>
        </p:nvGrpSpPr>
        <p:grpSpPr>
          <a:xfrm>
            <a:off x="2194560" y="4497840"/>
            <a:ext cx="6103440" cy="1674000"/>
            <a:chOff x="2194560" y="4497840"/>
            <a:chExt cx="6103440" cy="1674000"/>
          </a:xfrm>
        </p:grpSpPr>
        <p:sp>
          <p:nvSpPr>
            <p:cNvPr id="444" name="Freeform 27"/>
            <p:cNvSpPr/>
            <p:nvPr/>
          </p:nvSpPr>
          <p:spPr>
            <a:xfrm>
              <a:off x="2194560" y="452628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5" name="TextBox 28"/>
            <p:cNvSpPr/>
            <p:nvPr/>
          </p:nvSpPr>
          <p:spPr>
            <a:xfrm>
              <a:off x="2194560" y="449784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Priority &amp; window transfer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Prioritize citizens; transfer tokens between desks.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6" name="Group 29"/>
          <p:cNvGrpSpPr/>
          <p:nvPr/>
        </p:nvGrpSpPr>
        <p:grpSpPr>
          <a:xfrm>
            <a:off x="815760" y="6370920"/>
            <a:ext cx="7695000" cy="1659960"/>
            <a:chOff x="815760" y="6370920"/>
            <a:chExt cx="7695000" cy="1659960"/>
          </a:xfrm>
        </p:grpSpPr>
        <p:sp>
          <p:nvSpPr>
            <p:cNvPr id="447" name="Freeform 30"/>
            <p:cNvSpPr/>
            <p:nvPr/>
          </p:nvSpPr>
          <p:spPr>
            <a:xfrm>
              <a:off x="815760" y="637092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8" name="Group 31"/>
          <p:cNvGrpSpPr/>
          <p:nvPr/>
        </p:nvGrpSpPr>
        <p:grpSpPr>
          <a:xfrm>
            <a:off x="1161000" y="6819120"/>
            <a:ext cx="763560" cy="763560"/>
            <a:chOff x="1161000" y="6819120"/>
            <a:chExt cx="763560" cy="763560"/>
          </a:xfrm>
        </p:grpSpPr>
        <p:sp>
          <p:nvSpPr>
            <p:cNvPr id="449" name="Freeform 32"/>
            <p:cNvSpPr/>
            <p:nvPr/>
          </p:nvSpPr>
          <p:spPr>
            <a:xfrm>
              <a:off x="1161000" y="681912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0" name="Group 33"/>
          <p:cNvGrpSpPr/>
          <p:nvPr/>
        </p:nvGrpSpPr>
        <p:grpSpPr>
          <a:xfrm>
            <a:off x="1354320" y="7012440"/>
            <a:ext cx="376920" cy="376920"/>
            <a:chOff x="1354320" y="7012440"/>
            <a:chExt cx="376920" cy="376920"/>
          </a:xfrm>
        </p:grpSpPr>
        <p:sp>
          <p:nvSpPr>
            <p:cNvPr id="451" name="Freeform 34"/>
            <p:cNvSpPr/>
            <p:nvPr/>
          </p:nvSpPr>
          <p:spPr>
            <a:xfrm>
              <a:off x="1354320" y="701244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2" name="Group 35"/>
          <p:cNvGrpSpPr/>
          <p:nvPr/>
        </p:nvGrpSpPr>
        <p:grpSpPr>
          <a:xfrm>
            <a:off x="2194560" y="6349320"/>
            <a:ext cx="6103440" cy="1674360"/>
            <a:chOff x="2194560" y="6349320"/>
            <a:chExt cx="6103440" cy="1674360"/>
          </a:xfrm>
        </p:grpSpPr>
        <p:sp>
          <p:nvSpPr>
            <p:cNvPr id="453" name="Freeform 36"/>
            <p:cNvSpPr/>
            <p:nvPr/>
          </p:nvSpPr>
          <p:spPr>
            <a:xfrm>
              <a:off x="2194560" y="637812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4" name="TextBox 37"/>
            <p:cNvSpPr/>
            <p:nvPr/>
          </p:nvSpPr>
          <p:spPr>
            <a:xfrm>
              <a:off x="2194560" y="634932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Live serving-token banner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Callout synced in real time with the public portal.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5" name="Group 38"/>
          <p:cNvGrpSpPr/>
          <p:nvPr/>
        </p:nvGrpSpPr>
        <p:grpSpPr>
          <a:xfrm>
            <a:off x="9043200" y="8329680"/>
            <a:ext cx="567360" cy="567360"/>
            <a:chOff x="9043200" y="8329680"/>
            <a:chExt cx="567360" cy="567360"/>
          </a:xfrm>
        </p:grpSpPr>
        <p:sp>
          <p:nvSpPr>
            <p:cNvPr id="456" name="Freeform 39"/>
            <p:cNvSpPr/>
            <p:nvPr/>
          </p:nvSpPr>
          <p:spPr>
            <a:xfrm>
              <a:off x="9043200" y="8329680"/>
              <a:ext cx="567360" cy="567360"/>
            </a:xfrm>
            <a:custGeom>
              <a:avLst/>
              <a:gdLst>
                <a:gd name="textAreaLeft" fmla="*/ 0 w 567360"/>
                <a:gd name="textAreaRight" fmla="*/ 567720 w 567360"/>
                <a:gd name="textAreaTop" fmla="*/ 0 h 567360"/>
                <a:gd name="textAreaBottom" fmla="*/ 567720 h 567360"/>
              </a:gdLst>
              <a:ahLst/>
              <a:rect l="textAreaLeft" t="textAreaTop" r="textAreaRight" b="textAreaBottom"/>
              <a:pathLst>
                <a:path w="756920" h="756920">
                  <a:moveTo>
                    <a:pt x="0" y="378460"/>
                  </a:moveTo>
                  <a:cubicBezTo>
                    <a:pt x="0" y="169418"/>
                    <a:pt x="169418" y="0"/>
                    <a:pt x="378460" y="0"/>
                  </a:cubicBezTo>
                  <a:cubicBezTo>
                    <a:pt x="587502" y="0"/>
                    <a:pt x="756920" y="169418"/>
                    <a:pt x="756920" y="378460"/>
                  </a:cubicBezTo>
                  <a:cubicBezTo>
                    <a:pt x="756920" y="587502"/>
                    <a:pt x="587502" y="756920"/>
                    <a:pt x="378460" y="756920"/>
                  </a:cubicBezTo>
                  <a:cubicBezTo>
                    <a:pt x="169418" y="756920"/>
                    <a:pt x="0" y="587502"/>
                    <a:pt x="0" y="378460"/>
                  </a:cubicBezTo>
                  <a:close/>
                </a:path>
              </a:pathLst>
            </a:custGeom>
            <a:solidFill>
              <a:srgbClr val="e0e7ff"/>
            </a:solidFill>
            <a:ln cap="sq" w="19050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7" name="Group 40"/>
          <p:cNvGrpSpPr/>
          <p:nvPr/>
        </p:nvGrpSpPr>
        <p:grpSpPr>
          <a:xfrm>
            <a:off x="9052560" y="8303760"/>
            <a:ext cx="548280" cy="583920"/>
            <a:chOff x="9052560" y="8303760"/>
            <a:chExt cx="548280" cy="583920"/>
          </a:xfrm>
        </p:grpSpPr>
        <p:sp>
          <p:nvSpPr>
            <p:cNvPr id="458" name="Freeform 41"/>
            <p:cNvSpPr/>
            <p:nvPr/>
          </p:nvSpPr>
          <p:spPr>
            <a:xfrm>
              <a:off x="9052560" y="8339400"/>
              <a:ext cx="548280" cy="54828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9" name="TextBox 42"/>
            <p:cNvSpPr/>
            <p:nvPr/>
          </p:nvSpPr>
          <p:spPr>
            <a:xfrm>
              <a:off x="9052560" y="8303760"/>
              <a:ext cx="548280" cy="58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✓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0" name="Group 43"/>
          <p:cNvGrpSpPr/>
          <p:nvPr/>
        </p:nvGrpSpPr>
        <p:grpSpPr>
          <a:xfrm>
            <a:off x="9807120" y="8235000"/>
            <a:ext cx="7653240" cy="721080"/>
            <a:chOff x="9807120" y="8235000"/>
            <a:chExt cx="7653240" cy="721080"/>
          </a:xfrm>
        </p:grpSpPr>
        <p:sp>
          <p:nvSpPr>
            <p:cNvPr id="461" name="Freeform 44"/>
            <p:cNvSpPr/>
            <p:nvPr/>
          </p:nvSpPr>
          <p:spPr>
            <a:xfrm>
              <a:off x="9807120" y="8270640"/>
              <a:ext cx="7653240" cy="685440"/>
            </a:xfrm>
            <a:custGeom>
              <a:avLst/>
              <a:gdLst>
                <a:gd name="textAreaLeft" fmla="*/ 0 w 7653240"/>
                <a:gd name="textAreaRight" fmla="*/ 7653600 w 7653240"/>
                <a:gd name="textAreaTop" fmla="*/ 0 h 685440"/>
                <a:gd name="textAreaBottom" fmla="*/ 685800 h 685440"/>
              </a:gdLst>
              <a:ahLst/>
              <a:rect l="textAreaLeft" t="textAreaTop" r="textAreaRight" b="textAreaBottom"/>
              <a:pathLst>
                <a:path w="10204704" h="914400">
                  <a:moveTo>
                    <a:pt x="0" y="0"/>
                  </a:moveTo>
                  <a:lnTo>
                    <a:pt x="10204704" y="0"/>
                  </a:lnTo>
                  <a:lnTo>
                    <a:pt x="10204704" y="914400"/>
                  </a:lnTo>
                  <a:lnTo>
                    <a:pt x="0" y="914400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2" name="TextBox 45"/>
            <p:cNvSpPr/>
            <p:nvPr/>
          </p:nvSpPr>
          <p:spPr>
            <a:xfrm>
              <a:off x="9807120" y="8235000"/>
              <a:ext cx="7653240" cy="72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Outcome: </a:t>
              </a:r>
              <a:r>
                <a:rPr b="0" lang="en-US" sz="2100" spc="-1" strike="noStrike">
                  <a:solidFill>
                    <a:srgbClr val="0f172a"/>
                  </a:solidFill>
                  <a:latin typeface="Calibri (MS)"/>
                  <a:ea typeface="Calibri (MS)"/>
                </a:rPr>
                <a:t>one consistent workflow, live status shared everywhere.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63" name="TextBox 46"/>
          <p:cNvSpPr/>
          <p:nvPr/>
        </p:nvSpPr>
        <p:spPr>
          <a:xfrm>
            <a:off x="16550640" y="9608760"/>
            <a:ext cx="8179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64748b"/>
                </a:solidFill>
                <a:latin typeface="Calibri (MS)"/>
                <a:ea typeface="Calibri (MS)"/>
              </a:rPr>
              <a:t>8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Freeform 47"/>
          <p:cNvSpPr/>
          <p:nvPr/>
        </p:nvSpPr>
        <p:spPr>
          <a:xfrm>
            <a:off x="8777880" y="2757240"/>
            <a:ext cx="9159120" cy="4865400"/>
          </a:xfrm>
          <a:custGeom>
            <a:avLst/>
            <a:gdLst>
              <a:gd name="textAreaLeft" fmla="*/ 0 w 9159120"/>
              <a:gd name="textAreaRight" fmla="*/ 9159480 w 9159120"/>
              <a:gd name="textAreaTop" fmla="*/ 0 h 4865400"/>
              <a:gd name="textAreaBottom" fmla="*/ 4865760 h 4865400"/>
            </a:gdLst>
            <a:ahLst/>
            <a:rect l="textAreaLeft" t="textAreaTop" r="textAreaRight" b="textAreaBottom"/>
            <a:pathLst>
              <a:path w="9159322" h="4865890">
                <a:moveTo>
                  <a:pt x="0" y="0"/>
                </a:moveTo>
                <a:lnTo>
                  <a:pt x="9159322" y="0"/>
                </a:lnTo>
                <a:lnTo>
                  <a:pt x="9159322" y="4865890"/>
                </a:lnTo>
                <a:lnTo>
                  <a:pt x="0" y="48658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5" name="Group 2"/>
          <p:cNvGrpSpPr/>
          <p:nvPr/>
        </p:nvGrpSpPr>
        <p:grpSpPr>
          <a:xfrm>
            <a:off x="822960" y="9572760"/>
            <a:ext cx="8229240" cy="439560"/>
            <a:chOff x="822960" y="9572760"/>
            <a:chExt cx="8229240" cy="439560"/>
          </a:xfrm>
        </p:grpSpPr>
        <p:sp>
          <p:nvSpPr>
            <p:cNvPr id="466" name="Freeform 3"/>
            <p:cNvSpPr/>
            <p:nvPr/>
          </p:nvSpPr>
          <p:spPr>
            <a:xfrm>
              <a:off x="822960" y="9601200"/>
              <a:ext cx="8229240" cy="411120"/>
            </a:xfrm>
            <a:custGeom>
              <a:avLst/>
              <a:gdLst>
                <a:gd name="textAreaLeft" fmla="*/ 0 w 8229240"/>
                <a:gd name="textAreaRight" fmla="*/ 8229600 w 822924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7" name="TextBox 4"/>
            <p:cNvSpPr/>
            <p:nvPr/>
          </p:nvSpPr>
          <p:spPr>
            <a:xfrm>
              <a:off x="822960" y="9572760"/>
              <a:ext cx="8229240" cy="43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800"/>
                </a:lnSpc>
              </a:pPr>
              <a:r>
                <a:rPr b="0" lang="en-US" sz="1500" spc="-1" strike="noStrike">
                  <a:solidFill>
                    <a:srgbClr val="64748b"/>
                  </a:solidFill>
                  <a:latin typeface="Calibri (MS)"/>
                  <a:ea typeface="Calibri (MS)"/>
                </a:rPr>
                <a:t>SQMS  ·  DAO Kathmandu</a:t>
              </a:r>
              <a:endParaRPr b="0" lang="en-US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8" name="Group 5"/>
          <p:cNvGrpSpPr/>
          <p:nvPr/>
        </p:nvGrpSpPr>
        <p:grpSpPr>
          <a:xfrm>
            <a:off x="815760" y="678600"/>
            <a:ext cx="3696840" cy="480240"/>
            <a:chOff x="815760" y="678600"/>
            <a:chExt cx="3696840" cy="480240"/>
          </a:xfrm>
        </p:grpSpPr>
        <p:sp>
          <p:nvSpPr>
            <p:cNvPr id="469" name="Freeform 6"/>
            <p:cNvSpPr/>
            <p:nvPr/>
          </p:nvSpPr>
          <p:spPr>
            <a:xfrm>
              <a:off x="815760" y="678600"/>
              <a:ext cx="3696840" cy="480240"/>
            </a:xfrm>
            <a:custGeom>
              <a:avLst/>
              <a:gdLst>
                <a:gd name="textAreaLeft" fmla="*/ 0 w 3696840"/>
                <a:gd name="textAreaRight" fmla="*/ 3697200 w 369684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4929378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4608957" y="0"/>
                  </a:lnTo>
                  <a:cubicBezTo>
                    <a:pt x="4785868" y="0"/>
                    <a:pt x="4929378" y="143510"/>
                    <a:pt x="4929378" y="320421"/>
                  </a:cubicBezTo>
                  <a:cubicBezTo>
                    <a:pt x="4929378" y="497332"/>
                    <a:pt x="4785868" y="640842"/>
                    <a:pt x="4608957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e0e7ff"/>
            </a:solidFill>
            <a:ln cap="sq" w="14288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70" name="Group 7"/>
          <p:cNvGrpSpPr/>
          <p:nvPr/>
        </p:nvGrpSpPr>
        <p:grpSpPr>
          <a:xfrm>
            <a:off x="822960" y="664200"/>
            <a:ext cx="3682440" cy="487440"/>
            <a:chOff x="822960" y="664200"/>
            <a:chExt cx="3682440" cy="487440"/>
          </a:xfrm>
        </p:grpSpPr>
        <p:sp>
          <p:nvSpPr>
            <p:cNvPr id="471" name="Freeform 8"/>
            <p:cNvSpPr/>
            <p:nvPr/>
          </p:nvSpPr>
          <p:spPr>
            <a:xfrm>
              <a:off x="822960" y="685800"/>
              <a:ext cx="3682440" cy="465840"/>
            </a:xfrm>
            <a:custGeom>
              <a:avLst/>
              <a:gdLst>
                <a:gd name="textAreaLeft" fmla="*/ 0 w 3682440"/>
                <a:gd name="textAreaRight" fmla="*/ 3682800 w 368244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4910328" h="621792">
                  <a:moveTo>
                    <a:pt x="0" y="0"/>
                  </a:moveTo>
                  <a:lnTo>
                    <a:pt x="4910328" y="0"/>
                  </a:lnTo>
                  <a:lnTo>
                    <a:pt x="4910328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2" name="TextBox 9"/>
            <p:cNvSpPr/>
            <p:nvPr/>
          </p:nvSpPr>
          <p:spPr>
            <a:xfrm>
              <a:off x="822960" y="664200"/>
              <a:ext cx="368244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ADMIN PORTAL  ·  09</a:t>
              </a:r>
              <a:endParaRPr b="0" lang="en-US" sz="1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73" name="Group 10"/>
          <p:cNvGrpSpPr/>
          <p:nvPr/>
        </p:nvGrpSpPr>
        <p:grpSpPr>
          <a:xfrm>
            <a:off x="815760" y="2667600"/>
            <a:ext cx="7695000" cy="1659960"/>
            <a:chOff x="815760" y="2667600"/>
            <a:chExt cx="7695000" cy="1659960"/>
          </a:xfrm>
        </p:grpSpPr>
        <p:sp>
          <p:nvSpPr>
            <p:cNvPr id="474" name="Freeform 11"/>
            <p:cNvSpPr/>
            <p:nvPr/>
          </p:nvSpPr>
          <p:spPr>
            <a:xfrm>
              <a:off x="815760" y="266760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75" name="Group 12"/>
          <p:cNvGrpSpPr/>
          <p:nvPr/>
        </p:nvGrpSpPr>
        <p:grpSpPr>
          <a:xfrm>
            <a:off x="1161000" y="3115800"/>
            <a:ext cx="763560" cy="763560"/>
            <a:chOff x="1161000" y="3115800"/>
            <a:chExt cx="763560" cy="763560"/>
          </a:xfrm>
        </p:grpSpPr>
        <p:sp>
          <p:nvSpPr>
            <p:cNvPr id="476" name="Freeform 13"/>
            <p:cNvSpPr/>
            <p:nvPr/>
          </p:nvSpPr>
          <p:spPr>
            <a:xfrm>
              <a:off x="1161000" y="311580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77" name="Group 14"/>
          <p:cNvGrpSpPr/>
          <p:nvPr/>
        </p:nvGrpSpPr>
        <p:grpSpPr>
          <a:xfrm>
            <a:off x="1354320" y="3309120"/>
            <a:ext cx="376920" cy="376920"/>
            <a:chOff x="1354320" y="3309120"/>
            <a:chExt cx="376920" cy="376920"/>
          </a:xfrm>
        </p:grpSpPr>
        <p:sp>
          <p:nvSpPr>
            <p:cNvPr id="478" name="Freeform 15"/>
            <p:cNvSpPr/>
            <p:nvPr/>
          </p:nvSpPr>
          <p:spPr>
            <a:xfrm>
              <a:off x="1354320" y="330912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79" name="Group 16"/>
          <p:cNvGrpSpPr/>
          <p:nvPr/>
        </p:nvGrpSpPr>
        <p:grpSpPr>
          <a:xfrm>
            <a:off x="2194560" y="2646000"/>
            <a:ext cx="6103440" cy="1674360"/>
            <a:chOff x="2194560" y="2646000"/>
            <a:chExt cx="6103440" cy="1674360"/>
          </a:xfrm>
        </p:grpSpPr>
        <p:sp>
          <p:nvSpPr>
            <p:cNvPr id="480" name="Freeform 17"/>
            <p:cNvSpPr/>
            <p:nvPr/>
          </p:nvSpPr>
          <p:spPr>
            <a:xfrm>
              <a:off x="2194560" y="267480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1" name="TextBox 18"/>
            <p:cNvSpPr/>
            <p:nvPr/>
          </p:nvSpPr>
          <p:spPr>
            <a:xfrm>
              <a:off x="2194560" y="264600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Department queue monitoring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Waiting, in-service, completed and abandoned tokens.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2" name="Group 19"/>
          <p:cNvGrpSpPr/>
          <p:nvPr/>
        </p:nvGrpSpPr>
        <p:grpSpPr>
          <a:xfrm>
            <a:off x="815760" y="4519080"/>
            <a:ext cx="7695000" cy="1659960"/>
            <a:chOff x="815760" y="4519080"/>
            <a:chExt cx="7695000" cy="1659960"/>
          </a:xfrm>
        </p:grpSpPr>
        <p:sp>
          <p:nvSpPr>
            <p:cNvPr id="483" name="Freeform 20"/>
            <p:cNvSpPr/>
            <p:nvPr/>
          </p:nvSpPr>
          <p:spPr>
            <a:xfrm>
              <a:off x="815760" y="451908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4" name="Group 21"/>
          <p:cNvGrpSpPr/>
          <p:nvPr/>
        </p:nvGrpSpPr>
        <p:grpSpPr>
          <a:xfrm>
            <a:off x="1161000" y="4967280"/>
            <a:ext cx="763560" cy="763560"/>
            <a:chOff x="1161000" y="4967280"/>
            <a:chExt cx="763560" cy="763560"/>
          </a:xfrm>
        </p:grpSpPr>
        <p:sp>
          <p:nvSpPr>
            <p:cNvPr id="485" name="Freeform 22"/>
            <p:cNvSpPr/>
            <p:nvPr/>
          </p:nvSpPr>
          <p:spPr>
            <a:xfrm>
              <a:off x="1161000" y="496728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6" name="Group 23"/>
          <p:cNvGrpSpPr/>
          <p:nvPr/>
        </p:nvGrpSpPr>
        <p:grpSpPr>
          <a:xfrm>
            <a:off x="1354320" y="5160600"/>
            <a:ext cx="376920" cy="376920"/>
            <a:chOff x="1354320" y="5160600"/>
            <a:chExt cx="376920" cy="376920"/>
          </a:xfrm>
        </p:grpSpPr>
        <p:sp>
          <p:nvSpPr>
            <p:cNvPr id="487" name="Freeform 24"/>
            <p:cNvSpPr/>
            <p:nvPr/>
          </p:nvSpPr>
          <p:spPr>
            <a:xfrm>
              <a:off x="1354320" y="516060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8" name="Group 25"/>
          <p:cNvGrpSpPr/>
          <p:nvPr/>
        </p:nvGrpSpPr>
        <p:grpSpPr>
          <a:xfrm>
            <a:off x="2194560" y="4497840"/>
            <a:ext cx="6103440" cy="1674000"/>
            <a:chOff x="2194560" y="4497840"/>
            <a:chExt cx="6103440" cy="1674000"/>
          </a:xfrm>
        </p:grpSpPr>
        <p:sp>
          <p:nvSpPr>
            <p:cNvPr id="489" name="Freeform 26"/>
            <p:cNvSpPr/>
            <p:nvPr/>
          </p:nvSpPr>
          <p:spPr>
            <a:xfrm>
              <a:off x="2194560" y="452628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0" name="TextBox 27"/>
            <p:cNvSpPr/>
            <p:nvPr/>
          </p:nvSpPr>
          <p:spPr>
            <a:xfrm>
              <a:off x="2194560" y="449784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Live counter status board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Status across Counters 1 through 5 at a glance.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1" name="Group 28"/>
          <p:cNvGrpSpPr/>
          <p:nvPr/>
        </p:nvGrpSpPr>
        <p:grpSpPr>
          <a:xfrm>
            <a:off x="815760" y="6370920"/>
            <a:ext cx="7695000" cy="1659960"/>
            <a:chOff x="815760" y="6370920"/>
            <a:chExt cx="7695000" cy="1659960"/>
          </a:xfrm>
        </p:grpSpPr>
        <p:sp>
          <p:nvSpPr>
            <p:cNvPr id="492" name="Freeform 29"/>
            <p:cNvSpPr/>
            <p:nvPr/>
          </p:nvSpPr>
          <p:spPr>
            <a:xfrm>
              <a:off x="815760" y="6370920"/>
              <a:ext cx="7695000" cy="1659960"/>
            </a:xfrm>
            <a:custGeom>
              <a:avLst/>
              <a:gdLst>
                <a:gd name="textAreaLeft" fmla="*/ 0 w 7695000"/>
                <a:gd name="textAreaRight" fmla="*/ 7695360 w 7695000"/>
                <a:gd name="textAreaTop" fmla="*/ 0 h 1659960"/>
                <a:gd name="textAreaBottom" fmla="*/ 1660320 h 1659960"/>
              </a:gdLst>
              <a:ahLst/>
              <a:rect l="textAreaLeft" t="textAreaTop" r="textAreaRight" b="textAreaBottom"/>
              <a:pathLst>
                <a:path w="10260330" h="2213610">
                  <a:moveTo>
                    <a:pt x="0" y="258318"/>
                  </a:moveTo>
                  <a:cubicBezTo>
                    <a:pt x="0" y="115570"/>
                    <a:pt x="115570" y="0"/>
                    <a:pt x="258318" y="0"/>
                  </a:cubicBezTo>
                  <a:lnTo>
                    <a:pt x="10002012" y="0"/>
                  </a:lnTo>
                  <a:cubicBezTo>
                    <a:pt x="10144760" y="0"/>
                    <a:pt x="10260330" y="115570"/>
                    <a:pt x="10260330" y="258318"/>
                  </a:cubicBezTo>
                  <a:lnTo>
                    <a:pt x="10260330" y="1955292"/>
                  </a:lnTo>
                  <a:cubicBezTo>
                    <a:pt x="10260330" y="2097913"/>
                    <a:pt x="10144761" y="2213610"/>
                    <a:pt x="10002012" y="2213610"/>
                  </a:cubicBezTo>
                  <a:lnTo>
                    <a:pt x="258318" y="2213610"/>
                  </a:lnTo>
                  <a:cubicBezTo>
                    <a:pt x="115570" y="2213610"/>
                    <a:pt x="0" y="2098040"/>
                    <a:pt x="0" y="1955292"/>
                  </a:cubicBezTo>
                  <a:close/>
                </a:path>
              </a:pathLst>
            </a:custGeom>
            <a:solidFill>
              <a:srgbClr val="ffffff"/>
            </a:solidFill>
            <a:ln cap="sq" w="14288">
              <a:solidFill>
                <a:srgbClr val="d5deea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3" name="Group 30"/>
          <p:cNvGrpSpPr/>
          <p:nvPr/>
        </p:nvGrpSpPr>
        <p:grpSpPr>
          <a:xfrm>
            <a:off x="1161000" y="6819120"/>
            <a:ext cx="763560" cy="763560"/>
            <a:chOff x="1161000" y="6819120"/>
            <a:chExt cx="763560" cy="763560"/>
          </a:xfrm>
        </p:grpSpPr>
        <p:sp>
          <p:nvSpPr>
            <p:cNvPr id="494" name="Freeform 31"/>
            <p:cNvSpPr/>
            <p:nvPr/>
          </p:nvSpPr>
          <p:spPr>
            <a:xfrm>
              <a:off x="1161000" y="6819120"/>
              <a:ext cx="763560" cy="763560"/>
            </a:xfrm>
            <a:custGeom>
              <a:avLst/>
              <a:gdLst>
                <a:gd name="textAreaLeft" fmla="*/ 0 w 763560"/>
                <a:gd name="textAreaRight" fmla="*/ 763920 w 763560"/>
                <a:gd name="textAreaTop" fmla="*/ 0 h 763560"/>
                <a:gd name="textAreaBottom" fmla="*/ 763920 h 763560"/>
              </a:gdLst>
              <a:ahLst/>
              <a:rect l="textAreaLeft" t="textAreaTop" r="textAreaRight" b="textAreaBottom"/>
              <a:pathLst>
                <a:path w="1018540" h="1018540">
                  <a:moveTo>
                    <a:pt x="0" y="509270"/>
                  </a:moveTo>
                  <a:cubicBezTo>
                    <a:pt x="0" y="227965"/>
                    <a:pt x="227965" y="0"/>
                    <a:pt x="509270" y="0"/>
                  </a:cubicBezTo>
                  <a:cubicBezTo>
                    <a:pt x="790575" y="0"/>
                    <a:pt x="1018540" y="227965"/>
                    <a:pt x="1018540" y="509270"/>
                  </a:cubicBezTo>
                  <a:cubicBezTo>
                    <a:pt x="1018540" y="790575"/>
                    <a:pt x="790575" y="1018540"/>
                    <a:pt x="509270" y="1018540"/>
                  </a:cubicBezTo>
                  <a:cubicBezTo>
                    <a:pt x="227965" y="1018540"/>
                    <a:pt x="0" y="790575"/>
                    <a:pt x="0" y="509270"/>
                  </a:cubicBezTo>
                  <a:close/>
                </a:path>
              </a:pathLst>
            </a:custGeom>
            <a:solidFill>
              <a:srgbClr val="e0e7ff"/>
            </a:solidFill>
            <a:ln cap="sq" w="9525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5" name="Group 32"/>
          <p:cNvGrpSpPr/>
          <p:nvPr/>
        </p:nvGrpSpPr>
        <p:grpSpPr>
          <a:xfrm>
            <a:off x="1354320" y="7012440"/>
            <a:ext cx="376920" cy="376920"/>
            <a:chOff x="1354320" y="7012440"/>
            <a:chExt cx="376920" cy="376920"/>
          </a:xfrm>
        </p:grpSpPr>
        <p:sp>
          <p:nvSpPr>
            <p:cNvPr id="496" name="Freeform 33"/>
            <p:cNvSpPr/>
            <p:nvPr/>
          </p:nvSpPr>
          <p:spPr>
            <a:xfrm>
              <a:off x="1354320" y="7012440"/>
              <a:ext cx="376920" cy="376920"/>
            </a:xfrm>
            <a:custGeom>
              <a:avLst/>
              <a:gdLst>
                <a:gd name="textAreaLeft" fmla="*/ 0 w 376920"/>
                <a:gd name="textAreaRight" fmla="*/ 377280 w 376920"/>
                <a:gd name="textAreaTop" fmla="*/ 0 h 376920"/>
                <a:gd name="textAreaBottom" fmla="*/ 377280 h 376920"/>
              </a:gdLst>
              <a:ahLst/>
              <a:rect l="textAreaLeft" t="textAreaTop" r="textAreaRight" b="textAreaBottom"/>
              <a:pathLst>
                <a:path w="502920" h="502920">
                  <a:moveTo>
                    <a:pt x="0" y="0"/>
                  </a:moveTo>
                  <a:lnTo>
                    <a:pt x="502920" y="0"/>
                  </a:lnTo>
                  <a:lnTo>
                    <a:pt x="502920" y="502920"/>
                  </a:lnTo>
                  <a:lnTo>
                    <a:pt x="0" y="50292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7" name="Group 34"/>
          <p:cNvGrpSpPr/>
          <p:nvPr/>
        </p:nvGrpSpPr>
        <p:grpSpPr>
          <a:xfrm>
            <a:off x="2194560" y="6349320"/>
            <a:ext cx="6103440" cy="1674360"/>
            <a:chOff x="2194560" y="6349320"/>
            <a:chExt cx="6103440" cy="1674360"/>
          </a:xfrm>
        </p:grpSpPr>
        <p:sp>
          <p:nvSpPr>
            <p:cNvPr id="498" name="Freeform 35"/>
            <p:cNvSpPr/>
            <p:nvPr/>
          </p:nvSpPr>
          <p:spPr>
            <a:xfrm>
              <a:off x="2194560" y="6378120"/>
              <a:ext cx="6103440" cy="1645560"/>
            </a:xfrm>
            <a:custGeom>
              <a:avLst/>
              <a:gdLst>
                <a:gd name="textAreaLeft" fmla="*/ 0 w 6103440"/>
                <a:gd name="textAreaRight" fmla="*/ 6103800 w 6103440"/>
                <a:gd name="textAreaTop" fmla="*/ 0 h 1645560"/>
                <a:gd name="textAreaBottom" fmla="*/ 1645920 h 1645560"/>
              </a:gdLst>
              <a:ahLst/>
              <a:rect l="textAreaLeft" t="textAreaTop" r="textAreaRight" b="textAreaBottom"/>
              <a:pathLst>
                <a:path w="8138160" h="2194560">
                  <a:moveTo>
                    <a:pt x="0" y="0"/>
                  </a:moveTo>
                  <a:lnTo>
                    <a:pt x="8138160" y="0"/>
                  </a:lnTo>
                  <a:lnTo>
                    <a:pt x="8138160" y="2194560"/>
                  </a:lnTo>
                  <a:lnTo>
                    <a:pt x="0" y="2194560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9" name="TextBox 36"/>
            <p:cNvSpPr/>
            <p:nvPr/>
          </p:nvSpPr>
          <p:spPr>
            <a:xfrm>
              <a:off x="2194560" y="6349320"/>
              <a:ext cx="6103440" cy="167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880"/>
                </a:lnSpc>
              </a:pPr>
              <a:r>
                <a:rPr b="1" lang="en-US" sz="2400" spc="-1" strike="noStrike">
                  <a:solidFill>
                    <a:srgbClr val="0f172a"/>
                  </a:solidFill>
                  <a:latin typeface="Calibri (MS) Bold"/>
                  <a:ea typeface="Calibri (MS) Bold"/>
                </a:rPr>
                <a:t>Benchmarks &amp; daily volume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475569"/>
                  </a:solidFill>
                  <a:latin typeface="Calibri (MS)"/>
                  <a:ea typeface="Calibri (MS)"/>
                </a:rPr>
                <a:t>Service speed benchmarks and daily volume counters.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0" name="Group 37"/>
          <p:cNvGrpSpPr/>
          <p:nvPr/>
        </p:nvGrpSpPr>
        <p:grpSpPr>
          <a:xfrm>
            <a:off x="9043200" y="8329680"/>
            <a:ext cx="567360" cy="567360"/>
            <a:chOff x="9043200" y="8329680"/>
            <a:chExt cx="567360" cy="567360"/>
          </a:xfrm>
        </p:grpSpPr>
        <p:sp>
          <p:nvSpPr>
            <p:cNvPr id="501" name="Freeform 38"/>
            <p:cNvSpPr/>
            <p:nvPr/>
          </p:nvSpPr>
          <p:spPr>
            <a:xfrm>
              <a:off x="9043200" y="8329680"/>
              <a:ext cx="567360" cy="567360"/>
            </a:xfrm>
            <a:custGeom>
              <a:avLst/>
              <a:gdLst>
                <a:gd name="textAreaLeft" fmla="*/ 0 w 567360"/>
                <a:gd name="textAreaRight" fmla="*/ 567720 w 567360"/>
                <a:gd name="textAreaTop" fmla="*/ 0 h 567360"/>
                <a:gd name="textAreaBottom" fmla="*/ 567720 h 567360"/>
              </a:gdLst>
              <a:ahLst/>
              <a:rect l="textAreaLeft" t="textAreaTop" r="textAreaRight" b="textAreaBottom"/>
              <a:pathLst>
                <a:path w="756920" h="756920">
                  <a:moveTo>
                    <a:pt x="0" y="378460"/>
                  </a:moveTo>
                  <a:cubicBezTo>
                    <a:pt x="0" y="169418"/>
                    <a:pt x="169418" y="0"/>
                    <a:pt x="378460" y="0"/>
                  </a:cubicBezTo>
                  <a:cubicBezTo>
                    <a:pt x="587502" y="0"/>
                    <a:pt x="756920" y="169418"/>
                    <a:pt x="756920" y="378460"/>
                  </a:cubicBezTo>
                  <a:cubicBezTo>
                    <a:pt x="756920" y="587502"/>
                    <a:pt x="587502" y="756920"/>
                    <a:pt x="378460" y="756920"/>
                  </a:cubicBezTo>
                  <a:cubicBezTo>
                    <a:pt x="169418" y="756920"/>
                    <a:pt x="0" y="587502"/>
                    <a:pt x="0" y="378460"/>
                  </a:cubicBezTo>
                  <a:close/>
                </a:path>
              </a:pathLst>
            </a:custGeom>
            <a:solidFill>
              <a:srgbClr val="e0e7ff"/>
            </a:solidFill>
            <a:ln cap="sq" w="19050">
              <a:solidFill>
                <a:srgbClr val="e0e7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2" name="Group 39"/>
          <p:cNvGrpSpPr/>
          <p:nvPr/>
        </p:nvGrpSpPr>
        <p:grpSpPr>
          <a:xfrm>
            <a:off x="9052560" y="8303760"/>
            <a:ext cx="548280" cy="583920"/>
            <a:chOff x="9052560" y="8303760"/>
            <a:chExt cx="548280" cy="583920"/>
          </a:xfrm>
        </p:grpSpPr>
        <p:sp>
          <p:nvSpPr>
            <p:cNvPr id="503" name="Freeform 40"/>
            <p:cNvSpPr/>
            <p:nvPr/>
          </p:nvSpPr>
          <p:spPr>
            <a:xfrm>
              <a:off x="9052560" y="8339400"/>
              <a:ext cx="548280" cy="54828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4" name="TextBox 41"/>
            <p:cNvSpPr/>
            <p:nvPr/>
          </p:nvSpPr>
          <p:spPr>
            <a:xfrm>
              <a:off x="9052560" y="8303760"/>
              <a:ext cx="548280" cy="58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✓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5" name="Group 42"/>
          <p:cNvGrpSpPr/>
          <p:nvPr/>
        </p:nvGrpSpPr>
        <p:grpSpPr>
          <a:xfrm>
            <a:off x="9807120" y="8235000"/>
            <a:ext cx="7653240" cy="721080"/>
            <a:chOff x="9807120" y="8235000"/>
            <a:chExt cx="7653240" cy="721080"/>
          </a:xfrm>
        </p:grpSpPr>
        <p:sp>
          <p:nvSpPr>
            <p:cNvPr id="506" name="Freeform 43"/>
            <p:cNvSpPr/>
            <p:nvPr/>
          </p:nvSpPr>
          <p:spPr>
            <a:xfrm>
              <a:off x="9807120" y="8270640"/>
              <a:ext cx="7653240" cy="685440"/>
            </a:xfrm>
            <a:custGeom>
              <a:avLst/>
              <a:gdLst>
                <a:gd name="textAreaLeft" fmla="*/ 0 w 7653240"/>
                <a:gd name="textAreaRight" fmla="*/ 7653600 w 7653240"/>
                <a:gd name="textAreaTop" fmla="*/ 0 h 685440"/>
                <a:gd name="textAreaBottom" fmla="*/ 685800 h 685440"/>
              </a:gdLst>
              <a:ahLst/>
              <a:rect l="textAreaLeft" t="textAreaTop" r="textAreaRight" b="textAreaBottom"/>
              <a:pathLst>
                <a:path w="10204704" h="914400">
                  <a:moveTo>
                    <a:pt x="0" y="0"/>
                  </a:moveTo>
                  <a:lnTo>
                    <a:pt x="10204704" y="0"/>
                  </a:lnTo>
                  <a:lnTo>
                    <a:pt x="10204704" y="914400"/>
                  </a:lnTo>
                  <a:lnTo>
                    <a:pt x="0" y="914400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7" name="TextBox 44"/>
            <p:cNvSpPr/>
            <p:nvPr/>
          </p:nvSpPr>
          <p:spPr>
            <a:xfrm>
              <a:off x="9807120" y="8235000"/>
              <a:ext cx="7653240" cy="72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2520"/>
                </a:lnSpc>
              </a:pPr>
              <a:r>
                <a:rPr b="1" lang="en-US" sz="2100" spc="-1" strike="noStrike">
                  <a:solidFill>
                    <a:srgbClr val="4338ca"/>
                  </a:solidFill>
                  <a:latin typeface="Calibri (MS) Bold"/>
                  <a:ea typeface="Calibri (MS) Bold"/>
                </a:rPr>
                <a:t>Outcome: </a:t>
              </a:r>
              <a:r>
                <a:rPr b="0" lang="en-US" sz="2100" spc="-1" strike="noStrike">
                  <a:solidFill>
                    <a:srgbClr val="0f172a"/>
                  </a:solidFill>
                  <a:latin typeface="Calibri (MS)"/>
                  <a:ea typeface="Calibri (MS)"/>
                </a:rPr>
                <a:t>supervisors rebalance counters from live data.</a:t>
              </a:r>
              <a:endParaRPr b="0" lang="en-U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08" name="Freeform 45"/>
          <p:cNvSpPr/>
          <p:nvPr/>
        </p:nvSpPr>
        <p:spPr>
          <a:xfrm>
            <a:off x="8977680" y="2512440"/>
            <a:ext cx="8926560" cy="5110200"/>
          </a:xfrm>
          <a:custGeom>
            <a:avLst/>
            <a:gdLst>
              <a:gd name="textAreaLeft" fmla="*/ 0 w 8926560"/>
              <a:gd name="textAreaRight" fmla="*/ 8926920 w 8926560"/>
              <a:gd name="textAreaTop" fmla="*/ 0 h 5110200"/>
              <a:gd name="textAreaBottom" fmla="*/ 5110560 h 5110200"/>
            </a:gdLst>
            <a:ahLst/>
            <a:rect l="textAreaLeft" t="textAreaTop" r="textAreaRight" b="textAreaBottom"/>
            <a:pathLst>
              <a:path w="8926780" h="5110581">
                <a:moveTo>
                  <a:pt x="0" y="0"/>
                </a:moveTo>
                <a:lnTo>
                  <a:pt x="8926779" y="0"/>
                </a:lnTo>
                <a:lnTo>
                  <a:pt x="8926779" y="5110581"/>
                </a:lnTo>
                <a:lnTo>
                  <a:pt x="0" y="51105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46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Real-time Queue Monitor &amp; Analytics</a:t>
            </a:r>
            <a:endParaRPr b="0" lang="en-US" sz="5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47"/>
          <p:cNvSpPr/>
          <p:nvPr/>
        </p:nvSpPr>
        <p:spPr>
          <a:xfrm>
            <a:off x="16550640" y="9608760"/>
            <a:ext cx="8179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1800"/>
              </a:lnSpc>
            </a:pPr>
            <a:r>
              <a:rPr b="0" lang="en-US" sz="1500" spc="-1" strike="noStrike">
                <a:solidFill>
                  <a:srgbClr val="64748b"/>
                </a:solidFill>
                <a:latin typeface="Calibri (MS)"/>
                <a:ea typeface="Calibri (MS)"/>
              </a:rPr>
              <a:t>9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1" name="Group 2"/>
          <p:cNvGrpSpPr/>
          <p:nvPr/>
        </p:nvGrpSpPr>
        <p:grpSpPr>
          <a:xfrm>
            <a:off x="815760" y="678600"/>
            <a:ext cx="3223440" cy="480240"/>
            <a:chOff x="815760" y="678600"/>
            <a:chExt cx="3223440" cy="480240"/>
          </a:xfrm>
        </p:grpSpPr>
        <p:sp>
          <p:nvSpPr>
            <p:cNvPr id="512" name="Freeform 3"/>
            <p:cNvSpPr/>
            <p:nvPr/>
          </p:nvSpPr>
          <p:spPr>
            <a:xfrm>
              <a:off x="815760" y="678600"/>
              <a:ext cx="3223440" cy="480240"/>
            </a:xfrm>
            <a:custGeom>
              <a:avLst/>
              <a:gdLst>
                <a:gd name="textAreaLeft" fmla="*/ 0 w 3223440"/>
                <a:gd name="textAreaRight" fmla="*/ 3223800 w 322344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4298442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3978021" y="0"/>
                  </a:lnTo>
                  <a:cubicBezTo>
                    <a:pt x="4154932" y="0"/>
                    <a:pt x="4298442" y="143510"/>
                    <a:pt x="4298442" y="320421"/>
                  </a:cubicBezTo>
                  <a:cubicBezTo>
                    <a:pt x="4298442" y="497332"/>
                    <a:pt x="4154932" y="640842"/>
                    <a:pt x="3978021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13" name="Group 4"/>
          <p:cNvGrpSpPr/>
          <p:nvPr/>
        </p:nvGrpSpPr>
        <p:grpSpPr>
          <a:xfrm>
            <a:off x="822960" y="664200"/>
            <a:ext cx="3209040" cy="487440"/>
            <a:chOff x="822960" y="664200"/>
            <a:chExt cx="3209040" cy="487440"/>
          </a:xfrm>
        </p:grpSpPr>
        <p:sp>
          <p:nvSpPr>
            <p:cNvPr id="514" name="Freeform 5"/>
            <p:cNvSpPr/>
            <p:nvPr/>
          </p:nvSpPr>
          <p:spPr>
            <a:xfrm>
              <a:off x="822960" y="685800"/>
              <a:ext cx="3209040" cy="465840"/>
            </a:xfrm>
            <a:custGeom>
              <a:avLst/>
              <a:gdLst>
                <a:gd name="textAreaLeft" fmla="*/ 0 w 3209040"/>
                <a:gd name="textAreaRight" fmla="*/ 3209400 w 320904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4279392" h="621792">
                  <a:moveTo>
                    <a:pt x="0" y="0"/>
                  </a:moveTo>
                  <a:lnTo>
                    <a:pt x="4279392" y="0"/>
                  </a:lnTo>
                  <a:lnTo>
                    <a:pt x="4279392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5" name="TextBox 6"/>
            <p:cNvSpPr/>
            <p:nvPr/>
          </p:nvSpPr>
          <p:spPr>
            <a:xfrm>
              <a:off x="822960" y="664200"/>
              <a:ext cx="320904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2dd4bf"/>
                  </a:solidFill>
                  <a:latin typeface="Calibri (MS) Bold"/>
                  <a:ea typeface="Calibri (MS) Bold"/>
                </a:rPr>
                <a:t>IMPACT &amp; ROADMAP</a:t>
              </a:r>
              <a:endParaRPr b="0" lang="en-US" sz="165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516" name="TextBox 7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Operational Impact &amp; What’s Next</a:t>
            </a:r>
            <a:endParaRPr b="0" lang="en-US" sz="51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17" name="Group 8"/>
          <p:cNvGrpSpPr/>
          <p:nvPr/>
        </p:nvGrpSpPr>
        <p:grpSpPr>
          <a:xfrm>
            <a:off x="815760" y="2667600"/>
            <a:ext cx="5363280" cy="3305880"/>
            <a:chOff x="815760" y="2667600"/>
            <a:chExt cx="5363280" cy="3305880"/>
          </a:xfrm>
        </p:grpSpPr>
        <p:sp>
          <p:nvSpPr>
            <p:cNvPr id="518" name="Freeform 9"/>
            <p:cNvSpPr/>
            <p:nvPr/>
          </p:nvSpPr>
          <p:spPr>
            <a:xfrm>
              <a:off x="815760" y="2667600"/>
              <a:ext cx="5363280" cy="3305880"/>
            </a:xfrm>
            <a:custGeom>
              <a:avLst/>
              <a:gdLst>
                <a:gd name="textAreaLeft" fmla="*/ 0 w 5363280"/>
                <a:gd name="textAreaRight" fmla="*/ 5363640 w 5363280"/>
                <a:gd name="textAreaTop" fmla="*/ 0 h 3305880"/>
                <a:gd name="textAreaBottom" fmla="*/ 3306240 h 3305880"/>
              </a:gdLst>
              <a:ahLst/>
              <a:rect l="textAreaLeft" t="textAreaTop" r="textAreaRight" b="textAreaBottom"/>
              <a:pathLst>
                <a:path w="7151370" h="4408170">
                  <a:moveTo>
                    <a:pt x="0" y="257175"/>
                  </a:moveTo>
                  <a:cubicBezTo>
                    <a:pt x="0" y="115062"/>
                    <a:pt x="115062" y="0"/>
                    <a:pt x="257175" y="0"/>
                  </a:cubicBezTo>
                  <a:lnTo>
                    <a:pt x="6894195" y="0"/>
                  </a:lnTo>
                  <a:cubicBezTo>
                    <a:pt x="7036181" y="0"/>
                    <a:pt x="7151370" y="115062"/>
                    <a:pt x="7151370" y="257175"/>
                  </a:cubicBezTo>
                  <a:lnTo>
                    <a:pt x="7151370" y="4150995"/>
                  </a:lnTo>
                  <a:cubicBezTo>
                    <a:pt x="7151370" y="4292981"/>
                    <a:pt x="7036308" y="4408170"/>
                    <a:pt x="6894195" y="4408170"/>
                  </a:cubicBezTo>
                  <a:lnTo>
                    <a:pt x="257175" y="4408170"/>
                  </a:lnTo>
                  <a:cubicBezTo>
                    <a:pt x="115062" y="4408170"/>
                    <a:pt x="0" y="4293108"/>
                    <a:pt x="0" y="4150995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19" name="Group 10"/>
          <p:cNvGrpSpPr/>
          <p:nvPr/>
        </p:nvGrpSpPr>
        <p:grpSpPr>
          <a:xfrm>
            <a:off x="1303200" y="2874600"/>
            <a:ext cx="4388760" cy="1651320"/>
            <a:chOff x="1303200" y="2874600"/>
            <a:chExt cx="4388760" cy="1651320"/>
          </a:xfrm>
        </p:grpSpPr>
        <p:sp>
          <p:nvSpPr>
            <p:cNvPr id="520" name="Freeform 11"/>
            <p:cNvSpPr/>
            <p:nvPr/>
          </p:nvSpPr>
          <p:spPr>
            <a:xfrm>
              <a:off x="1303200" y="3017520"/>
              <a:ext cx="4388760" cy="1508400"/>
            </a:xfrm>
            <a:custGeom>
              <a:avLst/>
              <a:gdLst>
                <a:gd name="textAreaLeft" fmla="*/ 0 w 4388760"/>
                <a:gd name="textAreaRight" fmla="*/ 4389120 w 4388760"/>
                <a:gd name="textAreaTop" fmla="*/ 0 h 1508400"/>
                <a:gd name="textAreaBottom" fmla="*/ 1508760 h 1508400"/>
              </a:gdLst>
              <a:ahLst/>
              <a:rect l="textAreaLeft" t="textAreaTop" r="textAreaRight" b="textAreaBottom"/>
              <a:pathLst>
                <a:path w="5852160" h="2011680">
                  <a:moveTo>
                    <a:pt x="0" y="0"/>
                  </a:moveTo>
                  <a:lnTo>
                    <a:pt x="5852160" y="0"/>
                  </a:lnTo>
                  <a:lnTo>
                    <a:pt x="5852160" y="2011680"/>
                  </a:lnTo>
                  <a:lnTo>
                    <a:pt x="0" y="2011680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1" name="TextBox 12"/>
            <p:cNvSpPr/>
            <p:nvPr/>
          </p:nvSpPr>
          <p:spPr>
            <a:xfrm>
              <a:off x="1303200" y="2874600"/>
              <a:ext cx="4388760" cy="1651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0800"/>
                </a:lnSpc>
              </a:pPr>
              <a:r>
                <a:rPr b="1" lang="en-US" sz="9000" spc="-1" strike="noStrike">
                  <a:solidFill>
                    <a:srgbClr val="2dd4bf"/>
                  </a:solidFill>
                  <a:latin typeface="Calibri (MS) Bold"/>
                  <a:ea typeface="Calibri (MS) Bold"/>
                </a:rPr>
                <a:t>40%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522" name="TextBox 13"/>
          <p:cNvSpPr/>
          <p:nvPr/>
        </p:nvSpPr>
        <p:spPr>
          <a:xfrm>
            <a:off x="1303200" y="4606200"/>
            <a:ext cx="4388760" cy="68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b="0" lang="en-US" sz="2250" spc="-1" strike="noStrike">
                <a:solidFill>
                  <a:srgbClr val="cbd5e1"/>
                </a:solidFill>
                <a:latin typeface="Calibri (MS)"/>
                <a:ea typeface="Calibri (MS)"/>
              </a:rPr>
              <a:t>reduction in on-premise waiting lobby congestion</a:t>
            </a:r>
            <a:endParaRPr b="0" lang="en-US" sz="225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23" name="Group 14"/>
          <p:cNvGrpSpPr/>
          <p:nvPr/>
        </p:nvGrpSpPr>
        <p:grpSpPr>
          <a:xfrm>
            <a:off x="6459840" y="2667600"/>
            <a:ext cx="5363280" cy="3305880"/>
            <a:chOff x="6459840" y="2667600"/>
            <a:chExt cx="5363280" cy="3305880"/>
          </a:xfrm>
        </p:grpSpPr>
        <p:sp>
          <p:nvSpPr>
            <p:cNvPr id="524" name="Freeform 15"/>
            <p:cNvSpPr/>
            <p:nvPr/>
          </p:nvSpPr>
          <p:spPr>
            <a:xfrm>
              <a:off x="6459840" y="2667600"/>
              <a:ext cx="5363280" cy="3305880"/>
            </a:xfrm>
            <a:custGeom>
              <a:avLst/>
              <a:gdLst>
                <a:gd name="textAreaLeft" fmla="*/ 0 w 5363280"/>
                <a:gd name="textAreaRight" fmla="*/ 5363640 w 5363280"/>
                <a:gd name="textAreaTop" fmla="*/ 0 h 3305880"/>
                <a:gd name="textAreaBottom" fmla="*/ 3306240 h 3305880"/>
              </a:gdLst>
              <a:ahLst/>
              <a:rect l="textAreaLeft" t="textAreaTop" r="textAreaRight" b="textAreaBottom"/>
              <a:pathLst>
                <a:path w="7151370" h="4408170">
                  <a:moveTo>
                    <a:pt x="0" y="257175"/>
                  </a:moveTo>
                  <a:cubicBezTo>
                    <a:pt x="0" y="115062"/>
                    <a:pt x="115062" y="0"/>
                    <a:pt x="257175" y="0"/>
                  </a:cubicBezTo>
                  <a:lnTo>
                    <a:pt x="6894195" y="0"/>
                  </a:lnTo>
                  <a:cubicBezTo>
                    <a:pt x="7036181" y="0"/>
                    <a:pt x="7151370" y="115062"/>
                    <a:pt x="7151370" y="257175"/>
                  </a:cubicBezTo>
                  <a:lnTo>
                    <a:pt x="7151370" y="4150995"/>
                  </a:lnTo>
                  <a:cubicBezTo>
                    <a:pt x="7151370" y="4292981"/>
                    <a:pt x="7036308" y="4408170"/>
                    <a:pt x="6894195" y="4408170"/>
                  </a:cubicBezTo>
                  <a:lnTo>
                    <a:pt x="257175" y="4408170"/>
                  </a:lnTo>
                  <a:cubicBezTo>
                    <a:pt x="115062" y="4408170"/>
                    <a:pt x="0" y="4293108"/>
                    <a:pt x="0" y="4150995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25" name="Group 16"/>
          <p:cNvGrpSpPr/>
          <p:nvPr/>
        </p:nvGrpSpPr>
        <p:grpSpPr>
          <a:xfrm>
            <a:off x="6947280" y="2874600"/>
            <a:ext cx="4388760" cy="1651320"/>
            <a:chOff x="6947280" y="2874600"/>
            <a:chExt cx="4388760" cy="1651320"/>
          </a:xfrm>
        </p:grpSpPr>
        <p:sp>
          <p:nvSpPr>
            <p:cNvPr id="526" name="Freeform 17"/>
            <p:cNvSpPr/>
            <p:nvPr/>
          </p:nvSpPr>
          <p:spPr>
            <a:xfrm>
              <a:off x="6947280" y="3017520"/>
              <a:ext cx="4388760" cy="1508400"/>
            </a:xfrm>
            <a:custGeom>
              <a:avLst/>
              <a:gdLst>
                <a:gd name="textAreaLeft" fmla="*/ 0 w 4388760"/>
                <a:gd name="textAreaRight" fmla="*/ 4389120 w 4388760"/>
                <a:gd name="textAreaTop" fmla="*/ 0 h 1508400"/>
                <a:gd name="textAreaBottom" fmla="*/ 1508760 h 1508400"/>
              </a:gdLst>
              <a:ahLst/>
              <a:rect l="textAreaLeft" t="textAreaTop" r="textAreaRight" b="textAreaBottom"/>
              <a:pathLst>
                <a:path w="5852160" h="2011680">
                  <a:moveTo>
                    <a:pt x="0" y="0"/>
                  </a:moveTo>
                  <a:lnTo>
                    <a:pt x="5852160" y="0"/>
                  </a:lnTo>
                  <a:lnTo>
                    <a:pt x="5852160" y="2011680"/>
                  </a:lnTo>
                  <a:lnTo>
                    <a:pt x="0" y="2011680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7" name="TextBox 18"/>
            <p:cNvSpPr/>
            <p:nvPr/>
          </p:nvSpPr>
          <p:spPr>
            <a:xfrm>
              <a:off x="6947280" y="2874600"/>
              <a:ext cx="4388760" cy="1651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0800"/>
                </a:lnSpc>
              </a:pPr>
              <a:r>
                <a:rPr b="1" lang="en-US" sz="9000" spc="-1" strike="noStrike">
                  <a:solidFill>
                    <a:srgbClr val="2dd4bf"/>
                  </a:solidFill>
                  <a:latin typeface="Calibri (MS) Bold"/>
                  <a:ea typeface="Calibri (MS) Bold"/>
                </a:rPr>
                <a:t>85%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528" name="TextBox 19"/>
          <p:cNvSpPr/>
          <p:nvPr/>
        </p:nvSpPr>
        <p:spPr>
          <a:xfrm>
            <a:off x="6947280" y="4606200"/>
            <a:ext cx="4388760" cy="68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b="0" lang="en-US" sz="2250" spc="-1" strike="noStrike">
                <a:solidFill>
                  <a:srgbClr val="cbd5e1"/>
                </a:solidFill>
                <a:latin typeface="Calibri (MS)"/>
                <a:ea typeface="Calibri (MS)"/>
              </a:rPr>
              <a:t>drop in document-rejection rates via pre-visit checklists</a:t>
            </a:r>
            <a:endParaRPr b="0" lang="en-US" sz="225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29" name="Group 20"/>
          <p:cNvGrpSpPr/>
          <p:nvPr/>
        </p:nvGrpSpPr>
        <p:grpSpPr>
          <a:xfrm>
            <a:off x="12103920" y="2667600"/>
            <a:ext cx="5363280" cy="3305880"/>
            <a:chOff x="12103920" y="2667600"/>
            <a:chExt cx="5363280" cy="3305880"/>
          </a:xfrm>
        </p:grpSpPr>
        <p:sp>
          <p:nvSpPr>
            <p:cNvPr id="530" name="Freeform 21"/>
            <p:cNvSpPr/>
            <p:nvPr/>
          </p:nvSpPr>
          <p:spPr>
            <a:xfrm>
              <a:off x="12103920" y="2667600"/>
              <a:ext cx="5363280" cy="3305880"/>
            </a:xfrm>
            <a:custGeom>
              <a:avLst/>
              <a:gdLst>
                <a:gd name="textAreaLeft" fmla="*/ 0 w 5363280"/>
                <a:gd name="textAreaRight" fmla="*/ 5363640 w 5363280"/>
                <a:gd name="textAreaTop" fmla="*/ 0 h 3305880"/>
                <a:gd name="textAreaBottom" fmla="*/ 3306240 h 3305880"/>
              </a:gdLst>
              <a:ahLst/>
              <a:rect l="textAreaLeft" t="textAreaTop" r="textAreaRight" b="textAreaBottom"/>
              <a:pathLst>
                <a:path w="7151370" h="4408170">
                  <a:moveTo>
                    <a:pt x="0" y="257175"/>
                  </a:moveTo>
                  <a:cubicBezTo>
                    <a:pt x="0" y="115062"/>
                    <a:pt x="115062" y="0"/>
                    <a:pt x="257175" y="0"/>
                  </a:cubicBezTo>
                  <a:lnTo>
                    <a:pt x="6894195" y="0"/>
                  </a:lnTo>
                  <a:cubicBezTo>
                    <a:pt x="7036181" y="0"/>
                    <a:pt x="7151370" y="115062"/>
                    <a:pt x="7151370" y="257175"/>
                  </a:cubicBezTo>
                  <a:lnTo>
                    <a:pt x="7151370" y="4150995"/>
                  </a:lnTo>
                  <a:cubicBezTo>
                    <a:pt x="7151370" y="4292981"/>
                    <a:pt x="7036308" y="4408170"/>
                    <a:pt x="6894195" y="4408170"/>
                  </a:cubicBezTo>
                  <a:lnTo>
                    <a:pt x="257175" y="4408170"/>
                  </a:lnTo>
                  <a:cubicBezTo>
                    <a:pt x="115062" y="4408170"/>
                    <a:pt x="0" y="4293108"/>
                    <a:pt x="0" y="4150995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31" name="Group 22"/>
          <p:cNvGrpSpPr/>
          <p:nvPr/>
        </p:nvGrpSpPr>
        <p:grpSpPr>
          <a:xfrm>
            <a:off x="12591360" y="2874600"/>
            <a:ext cx="4388760" cy="1651320"/>
            <a:chOff x="12591360" y="2874600"/>
            <a:chExt cx="4388760" cy="1651320"/>
          </a:xfrm>
        </p:grpSpPr>
        <p:sp>
          <p:nvSpPr>
            <p:cNvPr id="532" name="Freeform 23"/>
            <p:cNvSpPr/>
            <p:nvPr/>
          </p:nvSpPr>
          <p:spPr>
            <a:xfrm>
              <a:off x="12591360" y="3017520"/>
              <a:ext cx="4388760" cy="1508400"/>
            </a:xfrm>
            <a:custGeom>
              <a:avLst/>
              <a:gdLst>
                <a:gd name="textAreaLeft" fmla="*/ 0 w 4388760"/>
                <a:gd name="textAreaRight" fmla="*/ 4389120 w 4388760"/>
                <a:gd name="textAreaTop" fmla="*/ 0 h 1508400"/>
                <a:gd name="textAreaBottom" fmla="*/ 1508760 h 1508400"/>
              </a:gdLst>
              <a:ahLst/>
              <a:rect l="textAreaLeft" t="textAreaTop" r="textAreaRight" b="textAreaBottom"/>
              <a:pathLst>
                <a:path w="5852160" h="2011680">
                  <a:moveTo>
                    <a:pt x="0" y="0"/>
                  </a:moveTo>
                  <a:lnTo>
                    <a:pt x="5852160" y="0"/>
                  </a:lnTo>
                  <a:lnTo>
                    <a:pt x="5852160" y="2011680"/>
                  </a:lnTo>
                  <a:lnTo>
                    <a:pt x="0" y="2011680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3" name="TextBox 24"/>
            <p:cNvSpPr/>
            <p:nvPr/>
          </p:nvSpPr>
          <p:spPr>
            <a:xfrm>
              <a:off x="12591360" y="2874600"/>
              <a:ext cx="4388760" cy="1651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10800"/>
                </a:lnSpc>
              </a:pPr>
              <a:r>
                <a:rPr b="1" lang="en-US" sz="9000" spc="-1" strike="noStrike">
                  <a:solidFill>
                    <a:srgbClr val="2dd4bf"/>
                  </a:solidFill>
                  <a:latin typeface="Calibri (MS) Bold"/>
                  <a:ea typeface="Calibri (MS) Bold"/>
                </a:rPr>
                <a:t>100%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534" name="TextBox 25"/>
          <p:cNvSpPr/>
          <p:nvPr/>
        </p:nvSpPr>
        <p:spPr>
          <a:xfrm>
            <a:off x="12591360" y="4606200"/>
            <a:ext cx="4388760" cy="68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b="0" lang="en-US" sz="2250" spc="-1" strike="noStrike">
                <a:solidFill>
                  <a:srgbClr val="cbd5e1"/>
                </a:solidFill>
                <a:latin typeface="Calibri (MS)"/>
                <a:ea typeface="Calibri (MS)"/>
              </a:rPr>
              <a:t>transparency through a public digital audit trail</a:t>
            </a:r>
            <a:endParaRPr b="0" lang="en-US" sz="2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26"/>
          <p:cNvSpPr/>
          <p:nvPr/>
        </p:nvSpPr>
        <p:spPr>
          <a:xfrm>
            <a:off x="822960" y="6614280"/>
            <a:ext cx="68576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60"/>
              </a:lnSpc>
            </a:pPr>
            <a:r>
              <a:rPr b="1" lang="en-US" sz="1800" spc="299" strike="noStrike">
                <a:solidFill>
                  <a:srgbClr val="94a3b8"/>
                </a:solidFill>
                <a:latin typeface="Calibri (MS) Bold"/>
                <a:ea typeface="Calibri (MS) Bold"/>
              </a:rPr>
              <a:t>NEXT STEPS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6" name="Group 27"/>
          <p:cNvGrpSpPr/>
          <p:nvPr/>
        </p:nvGrpSpPr>
        <p:grpSpPr>
          <a:xfrm>
            <a:off x="818280" y="7333200"/>
            <a:ext cx="831960" cy="831960"/>
            <a:chOff x="818280" y="7333200"/>
            <a:chExt cx="831960" cy="831960"/>
          </a:xfrm>
        </p:grpSpPr>
        <p:sp>
          <p:nvSpPr>
            <p:cNvPr id="537" name="Freeform 28"/>
            <p:cNvSpPr/>
            <p:nvPr/>
          </p:nvSpPr>
          <p:spPr>
            <a:xfrm>
              <a:off x="818280" y="733320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1e293b"/>
            </a:solidFill>
            <a:ln cap="sq" w="9525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38" name="Group 29"/>
          <p:cNvGrpSpPr/>
          <p:nvPr/>
        </p:nvGrpSpPr>
        <p:grpSpPr>
          <a:xfrm>
            <a:off x="1028880" y="7543800"/>
            <a:ext cx="411120" cy="411120"/>
            <a:chOff x="1028880" y="7543800"/>
            <a:chExt cx="411120" cy="411120"/>
          </a:xfrm>
        </p:grpSpPr>
        <p:sp>
          <p:nvSpPr>
            <p:cNvPr id="539" name="Freeform 30"/>
            <p:cNvSpPr/>
            <p:nvPr/>
          </p:nvSpPr>
          <p:spPr>
            <a:xfrm>
              <a:off x="1028880" y="754380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40" name="TextBox 31"/>
          <p:cNvSpPr/>
          <p:nvPr/>
        </p:nvSpPr>
        <p:spPr>
          <a:xfrm>
            <a:off x="1920240" y="7231320"/>
            <a:ext cx="411444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8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Nagarik App integration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94a3b8"/>
                </a:solidFill>
                <a:latin typeface="Calibri (MS)"/>
                <a:ea typeface="Calibri (MS)"/>
              </a:rPr>
              <a:t>Tokens and live status inside the mobile app.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41" name="Group 32"/>
          <p:cNvGrpSpPr/>
          <p:nvPr/>
        </p:nvGrpSpPr>
        <p:grpSpPr>
          <a:xfrm>
            <a:off x="6462360" y="7333200"/>
            <a:ext cx="831960" cy="831960"/>
            <a:chOff x="6462360" y="7333200"/>
            <a:chExt cx="831960" cy="831960"/>
          </a:xfrm>
        </p:grpSpPr>
        <p:sp>
          <p:nvSpPr>
            <p:cNvPr id="542" name="Freeform 33"/>
            <p:cNvSpPr/>
            <p:nvPr/>
          </p:nvSpPr>
          <p:spPr>
            <a:xfrm>
              <a:off x="6462360" y="733320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1e293b"/>
            </a:solidFill>
            <a:ln cap="sq" w="9525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43" name="Group 34"/>
          <p:cNvGrpSpPr/>
          <p:nvPr/>
        </p:nvGrpSpPr>
        <p:grpSpPr>
          <a:xfrm>
            <a:off x="6672960" y="7543800"/>
            <a:ext cx="411120" cy="411120"/>
            <a:chOff x="6672960" y="7543800"/>
            <a:chExt cx="411120" cy="411120"/>
          </a:xfrm>
        </p:grpSpPr>
        <p:sp>
          <p:nvSpPr>
            <p:cNvPr id="544" name="Freeform 35"/>
            <p:cNvSpPr/>
            <p:nvPr/>
          </p:nvSpPr>
          <p:spPr>
            <a:xfrm>
              <a:off x="6672960" y="754380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45" name="TextBox 36"/>
          <p:cNvSpPr/>
          <p:nvPr/>
        </p:nvSpPr>
        <p:spPr>
          <a:xfrm>
            <a:off x="7564320" y="7231320"/>
            <a:ext cx="411444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8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Automated SMS pinging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94a3b8"/>
                </a:solidFill>
                <a:latin typeface="Calibri (MS)"/>
                <a:ea typeface="Calibri (MS)"/>
              </a:rPr>
              <a:t>Alert citizens as their turn approaches.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46" name="Group 37"/>
          <p:cNvGrpSpPr/>
          <p:nvPr/>
        </p:nvGrpSpPr>
        <p:grpSpPr>
          <a:xfrm>
            <a:off x="12106440" y="7333200"/>
            <a:ext cx="831960" cy="831960"/>
            <a:chOff x="12106440" y="7333200"/>
            <a:chExt cx="831960" cy="831960"/>
          </a:xfrm>
        </p:grpSpPr>
        <p:sp>
          <p:nvSpPr>
            <p:cNvPr id="547" name="Freeform 38"/>
            <p:cNvSpPr/>
            <p:nvPr/>
          </p:nvSpPr>
          <p:spPr>
            <a:xfrm>
              <a:off x="12106440" y="733320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1e293b"/>
            </a:solidFill>
            <a:ln cap="sq" w="9525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48" name="Group 39"/>
          <p:cNvGrpSpPr/>
          <p:nvPr/>
        </p:nvGrpSpPr>
        <p:grpSpPr>
          <a:xfrm>
            <a:off x="12317040" y="7543800"/>
            <a:ext cx="411120" cy="411120"/>
            <a:chOff x="12317040" y="7543800"/>
            <a:chExt cx="411120" cy="411120"/>
          </a:xfrm>
        </p:grpSpPr>
        <p:sp>
          <p:nvSpPr>
            <p:cNvPr id="549" name="Freeform 40"/>
            <p:cNvSpPr/>
            <p:nvPr/>
          </p:nvSpPr>
          <p:spPr>
            <a:xfrm>
              <a:off x="12317040" y="754380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50" name="TextBox 41"/>
          <p:cNvSpPr/>
          <p:nvPr/>
        </p:nvSpPr>
        <p:spPr>
          <a:xfrm>
            <a:off x="13208400" y="7231320"/>
            <a:ext cx="411444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88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Multi-district scaling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520"/>
              </a:lnSpc>
            </a:pPr>
            <a:r>
              <a:rPr b="0" lang="en-US" sz="2100" spc="-1" strike="noStrike">
                <a:solidFill>
                  <a:srgbClr val="94a3b8"/>
                </a:solidFill>
                <a:latin typeface="Calibri (MS)"/>
                <a:ea typeface="Calibri (MS)"/>
              </a:rPr>
              <a:t>Replicate beyond DAO Kathmandu.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1" name="Group 2"/>
          <p:cNvGrpSpPr/>
          <p:nvPr/>
        </p:nvGrpSpPr>
        <p:grpSpPr>
          <a:xfrm>
            <a:off x="815760" y="678600"/>
            <a:ext cx="2757240" cy="480240"/>
            <a:chOff x="815760" y="678600"/>
            <a:chExt cx="2757240" cy="480240"/>
          </a:xfrm>
        </p:grpSpPr>
        <p:sp>
          <p:nvSpPr>
            <p:cNvPr id="552" name="Freeform 3"/>
            <p:cNvSpPr/>
            <p:nvPr/>
          </p:nvSpPr>
          <p:spPr>
            <a:xfrm>
              <a:off x="815760" y="678600"/>
              <a:ext cx="2757240" cy="480240"/>
            </a:xfrm>
            <a:custGeom>
              <a:avLst/>
              <a:gdLst>
                <a:gd name="textAreaLeft" fmla="*/ 0 w 2757240"/>
                <a:gd name="textAreaRight" fmla="*/ 2757600 w 2757240"/>
                <a:gd name="textAreaTop" fmla="*/ 0 h 480240"/>
                <a:gd name="textAreaBottom" fmla="*/ 480600 h 480240"/>
              </a:gdLst>
              <a:ahLst/>
              <a:rect l="textAreaLeft" t="textAreaTop" r="textAreaRight" b="textAreaBottom"/>
              <a:pathLst>
                <a:path w="3676650" h="640842">
                  <a:moveTo>
                    <a:pt x="0" y="320421"/>
                  </a:moveTo>
                  <a:cubicBezTo>
                    <a:pt x="0" y="143510"/>
                    <a:pt x="143510" y="0"/>
                    <a:pt x="320421" y="0"/>
                  </a:cubicBezTo>
                  <a:lnTo>
                    <a:pt x="3356229" y="0"/>
                  </a:lnTo>
                  <a:cubicBezTo>
                    <a:pt x="3533140" y="0"/>
                    <a:pt x="3676650" y="143510"/>
                    <a:pt x="3676650" y="320421"/>
                  </a:cubicBezTo>
                  <a:cubicBezTo>
                    <a:pt x="3676650" y="497332"/>
                    <a:pt x="3533140" y="640842"/>
                    <a:pt x="3356229" y="640842"/>
                  </a:cubicBezTo>
                  <a:lnTo>
                    <a:pt x="320421" y="640842"/>
                  </a:lnTo>
                  <a:cubicBezTo>
                    <a:pt x="143510" y="640842"/>
                    <a:pt x="0" y="497332"/>
                    <a:pt x="0" y="320421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53" name="Group 4"/>
          <p:cNvGrpSpPr/>
          <p:nvPr/>
        </p:nvGrpSpPr>
        <p:grpSpPr>
          <a:xfrm>
            <a:off x="822960" y="664200"/>
            <a:ext cx="2742840" cy="487440"/>
            <a:chOff x="822960" y="664200"/>
            <a:chExt cx="2742840" cy="487440"/>
          </a:xfrm>
        </p:grpSpPr>
        <p:sp>
          <p:nvSpPr>
            <p:cNvPr id="554" name="Freeform 5"/>
            <p:cNvSpPr/>
            <p:nvPr/>
          </p:nvSpPr>
          <p:spPr>
            <a:xfrm>
              <a:off x="822960" y="685800"/>
              <a:ext cx="2742840" cy="465840"/>
            </a:xfrm>
            <a:custGeom>
              <a:avLst/>
              <a:gdLst>
                <a:gd name="textAreaLeft" fmla="*/ 0 w 2742840"/>
                <a:gd name="textAreaRight" fmla="*/ 2743200 w 274284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3657600" h="621792">
                  <a:moveTo>
                    <a:pt x="0" y="0"/>
                  </a:moveTo>
                  <a:lnTo>
                    <a:pt x="3657600" y="0"/>
                  </a:lnTo>
                  <a:lnTo>
                    <a:pt x="3657600" y="621792"/>
                  </a:lnTo>
                  <a:lnTo>
                    <a:pt x="0" y="621792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5" name="TextBox 6"/>
            <p:cNvSpPr/>
            <p:nvPr/>
          </p:nvSpPr>
          <p:spPr>
            <a:xfrm>
              <a:off x="822960" y="664200"/>
              <a:ext cx="274284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1981"/>
                </a:lnSpc>
              </a:pPr>
              <a:r>
                <a:rPr b="1" lang="en-US" sz="1650" spc="222" strike="noStrike">
                  <a:solidFill>
                    <a:srgbClr val="2dd4bf"/>
                  </a:solidFill>
                  <a:latin typeface="Calibri (MS) Bold"/>
                  <a:ea typeface="Calibri (MS) Bold"/>
                </a:rPr>
                <a:t>CONCLUSION</a:t>
              </a:r>
              <a:endParaRPr b="0" lang="en-US" sz="165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556" name="TextBox 7"/>
          <p:cNvSpPr/>
          <p:nvPr/>
        </p:nvSpPr>
        <p:spPr>
          <a:xfrm>
            <a:off x="822960" y="1229760"/>
            <a:ext cx="16596000" cy="77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120"/>
              </a:lnSpc>
            </a:pPr>
            <a:r>
              <a:rPr b="1" lang="en-US" sz="5100" spc="-1" strike="noStrike">
                <a:solidFill>
                  <a:srgbClr val="ffffff"/>
                </a:solidFill>
                <a:latin typeface="Calibri (MS) Bold"/>
                <a:ea typeface="Calibri (MS) Bold"/>
              </a:rPr>
              <a:t>Conclusion &amp; Discussion</a:t>
            </a:r>
            <a:endParaRPr b="0" lang="en-US" sz="51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57" name="Group 8"/>
          <p:cNvGrpSpPr/>
          <p:nvPr/>
        </p:nvGrpSpPr>
        <p:grpSpPr>
          <a:xfrm>
            <a:off x="815760" y="2667600"/>
            <a:ext cx="9066600" cy="1934280"/>
            <a:chOff x="815760" y="2667600"/>
            <a:chExt cx="9066600" cy="1934280"/>
          </a:xfrm>
        </p:grpSpPr>
        <p:sp>
          <p:nvSpPr>
            <p:cNvPr id="558" name="Freeform 9"/>
            <p:cNvSpPr/>
            <p:nvPr/>
          </p:nvSpPr>
          <p:spPr>
            <a:xfrm>
              <a:off x="815760" y="2667600"/>
              <a:ext cx="9066600" cy="1934280"/>
            </a:xfrm>
            <a:custGeom>
              <a:avLst/>
              <a:gdLst>
                <a:gd name="textAreaLeft" fmla="*/ 0 w 9066600"/>
                <a:gd name="textAreaRight" fmla="*/ 9066960 w 9066600"/>
                <a:gd name="textAreaTop" fmla="*/ 0 h 1934280"/>
                <a:gd name="textAreaBottom" fmla="*/ 1934640 h 1934280"/>
              </a:gdLst>
              <a:ahLst/>
              <a:rect l="textAreaLeft" t="textAreaTop" r="textAreaRight" b="textAreaBottom"/>
              <a:pathLst>
                <a:path w="12089130" h="2579370">
                  <a:moveTo>
                    <a:pt x="0" y="257937"/>
                  </a:moveTo>
                  <a:cubicBezTo>
                    <a:pt x="0" y="115443"/>
                    <a:pt x="115443" y="0"/>
                    <a:pt x="257937" y="0"/>
                  </a:cubicBezTo>
                  <a:lnTo>
                    <a:pt x="11831193" y="0"/>
                  </a:lnTo>
                  <a:cubicBezTo>
                    <a:pt x="11973687" y="0"/>
                    <a:pt x="12089130" y="115443"/>
                    <a:pt x="12089130" y="257937"/>
                  </a:cubicBezTo>
                  <a:lnTo>
                    <a:pt x="12089130" y="2321433"/>
                  </a:lnTo>
                  <a:cubicBezTo>
                    <a:pt x="12089130" y="2463927"/>
                    <a:pt x="11973687" y="2579370"/>
                    <a:pt x="11831193" y="2579370"/>
                  </a:cubicBezTo>
                  <a:lnTo>
                    <a:pt x="257937" y="2579370"/>
                  </a:lnTo>
                  <a:cubicBezTo>
                    <a:pt x="115443" y="2579370"/>
                    <a:pt x="0" y="2463927"/>
                    <a:pt x="0" y="2321433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59" name="Group 10"/>
          <p:cNvGrpSpPr/>
          <p:nvPr/>
        </p:nvGrpSpPr>
        <p:grpSpPr>
          <a:xfrm>
            <a:off x="1229760" y="3218400"/>
            <a:ext cx="831960" cy="831960"/>
            <a:chOff x="1229760" y="3218400"/>
            <a:chExt cx="831960" cy="831960"/>
          </a:xfrm>
        </p:grpSpPr>
        <p:sp>
          <p:nvSpPr>
            <p:cNvPr id="560" name="Freeform 11"/>
            <p:cNvSpPr/>
            <p:nvPr/>
          </p:nvSpPr>
          <p:spPr>
            <a:xfrm>
              <a:off x="1229760" y="321840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1e293b"/>
            </a:solidFill>
            <a:ln cap="sq" w="9525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61" name="Group 12"/>
          <p:cNvGrpSpPr/>
          <p:nvPr/>
        </p:nvGrpSpPr>
        <p:grpSpPr>
          <a:xfrm>
            <a:off x="1440360" y="3429000"/>
            <a:ext cx="411120" cy="411120"/>
            <a:chOff x="1440360" y="3429000"/>
            <a:chExt cx="411120" cy="411120"/>
          </a:xfrm>
        </p:grpSpPr>
        <p:sp>
          <p:nvSpPr>
            <p:cNvPr id="562" name="Freeform 13"/>
            <p:cNvSpPr/>
            <p:nvPr/>
          </p:nvSpPr>
          <p:spPr>
            <a:xfrm>
              <a:off x="1440360" y="342900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3" name="Group 14"/>
          <p:cNvGrpSpPr/>
          <p:nvPr/>
        </p:nvGrpSpPr>
        <p:grpSpPr>
          <a:xfrm>
            <a:off x="2468880" y="2631600"/>
            <a:ext cx="7131960" cy="1963080"/>
            <a:chOff x="2468880" y="2631600"/>
            <a:chExt cx="7131960" cy="1963080"/>
          </a:xfrm>
        </p:grpSpPr>
        <p:sp>
          <p:nvSpPr>
            <p:cNvPr id="564" name="Freeform 15"/>
            <p:cNvSpPr/>
            <p:nvPr/>
          </p:nvSpPr>
          <p:spPr>
            <a:xfrm>
              <a:off x="2468880" y="2674800"/>
              <a:ext cx="7131960" cy="1919880"/>
            </a:xfrm>
            <a:custGeom>
              <a:avLst/>
              <a:gdLst>
                <a:gd name="textAreaLeft" fmla="*/ 0 w 7131960"/>
                <a:gd name="textAreaRight" fmla="*/ 7132320 w 7131960"/>
                <a:gd name="textAreaTop" fmla="*/ 0 h 1919880"/>
                <a:gd name="textAreaBottom" fmla="*/ 1920240 h 1919880"/>
              </a:gdLst>
              <a:ahLst/>
              <a:rect l="textAreaLeft" t="textAreaTop" r="textAreaRight" b="textAreaBottom"/>
              <a:pathLst>
                <a:path w="9509760" h="2560320">
                  <a:moveTo>
                    <a:pt x="0" y="0"/>
                  </a:moveTo>
                  <a:lnTo>
                    <a:pt x="9509760" y="0"/>
                  </a:lnTo>
                  <a:lnTo>
                    <a:pt x="9509760" y="2560320"/>
                  </a:lnTo>
                  <a:lnTo>
                    <a:pt x="0" y="2560320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5" name="TextBox 16"/>
            <p:cNvSpPr/>
            <p:nvPr/>
          </p:nvSpPr>
          <p:spPr>
            <a:xfrm>
              <a:off x="2468880" y="2631600"/>
              <a:ext cx="7131960" cy="1962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3240"/>
                </a:lnSpc>
              </a:pPr>
              <a:r>
                <a:rPr b="1" lang="en-US" sz="2700" spc="-1" strike="noStrike">
                  <a:solidFill>
                    <a:srgbClr val="ffffff"/>
                  </a:solidFill>
                  <a:latin typeface="Calibri (MS) Bold"/>
                  <a:ea typeface="Calibri (MS) Bold"/>
                </a:rPr>
                <a:t>Better citizen experience</a:t>
              </a:r>
              <a:endParaRPr b="0" lang="en-US" sz="2700" spc="-1" strike="noStrike">
                <a:solidFill>
                  <a:srgbClr val="ffffff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cbd5e1"/>
                  </a:solidFill>
                  <a:latin typeface="Calibri (MS)"/>
                  <a:ea typeface="Calibri (MS)"/>
                </a:rPr>
                <a:t>Live tracking, AI assistance and checklists cut waiting and confusion.</a:t>
              </a:r>
              <a:endParaRPr b="0" lang="en-US" sz="2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66" name="Group 17"/>
          <p:cNvGrpSpPr/>
          <p:nvPr/>
        </p:nvGrpSpPr>
        <p:grpSpPr>
          <a:xfrm>
            <a:off x="815760" y="4793400"/>
            <a:ext cx="9066600" cy="1934280"/>
            <a:chOff x="815760" y="4793400"/>
            <a:chExt cx="9066600" cy="1934280"/>
          </a:xfrm>
        </p:grpSpPr>
        <p:sp>
          <p:nvSpPr>
            <p:cNvPr id="567" name="Freeform 18"/>
            <p:cNvSpPr/>
            <p:nvPr/>
          </p:nvSpPr>
          <p:spPr>
            <a:xfrm>
              <a:off x="815760" y="4793400"/>
              <a:ext cx="9066600" cy="1934280"/>
            </a:xfrm>
            <a:custGeom>
              <a:avLst/>
              <a:gdLst>
                <a:gd name="textAreaLeft" fmla="*/ 0 w 9066600"/>
                <a:gd name="textAreaRight" fmla="*/ 9066960 w 9066600"/>
                <a:gd name="textAreaTop" fmla="*/ 0 h 1934280"/>
                <a:gd name="textAreaBottom" fmla="*/ 1934640 h 1934280"/>
              </a:gdLst>
              <a:ahLst/>
              <a:rect l="textAreaLeft" t="textAreaTop" r="textAreaRight" b="textAreaBottom"/>
              <a:pathLst>
                <a:path w="12089130" h="2579370">
                  <a:moveTo>
                    <a:pt x="0" y="257937"/>
                  </a:moveTo>
                  <a:cubicBezTo>
                    <a:pt x="0" y="115443"/>
                    <a:pt x="115443" y="0"/>
                    <a:pt x="257937" y="0"/>
                  </a:cubicBezTo>
                  <a:lnTo>
                    <a:pt x="11831193" y="0"/>
                  </a:lnTo>
                  <a:cubicBezTo>
                    <a:pt x="11973687" y="0"/>
                    <a:pt x="12089130" y="115443"/>
                    <a:pt x="12089130" y="257937"/>
                  </a:cubicBezTo>
                  <a:lnTo>
                    <a:pt x="12089130" y="2321433"/>
                  </a:lnTo>
                  <a:cubicBezTo>
                    <a:pt x="12089130" y="2463927"/>
                    <a:pt x="11973687" y="2579370"/>
                    <a:pt x="11831193" y="2579370"/>
                  </a:cubicBezTo>
                  <a:lnTo>
                    <a:pt x="257937" y="2579370"/>
                  </a:lnTo>
                  <a:cubicBezTo>
                    <a:pt x="115443" y="2579370"/>
                    <a:pt x="0" y="2463927"/>
                    <a:pt x="0" y="2321433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68" name="Group 19"/>
          <p:cNvGrpSpPr/>
          <p:nvPr/>
        </p:nvGrpSpPr>
        <p:grpSpPr>
          <a:xfrm>
            <a:off x="1229760" y="5344560"/>
            <a:ext cx="831960" cy="831960"/>
            <a:chOff x="1229760" y="5344560"/>
            <a:chExt cx="831960" cy="831960"/>
          </a:xfrm>
        </p:grpSpPr>
        <p:sp>
          <p:nvSpPr>
            <p:cNvPr id="569" name="Freeform 20"/>
            <p:cNvSpPr/>
            <p:nvPr/>
          </p:nvSpPr>
          <p:spPr>
            <a:xfrm>
              <a:off x="1229760" y="534456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1e293b"/>
            </a:solidFill>
            <a:ln cap="sq" w="9525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70" name="Group 21"/>
          <p:cNvGrpSpPr/>
          <p:nvPr/>
        </p:nvGrpSpPr>
        <p:grpSpPr>
          <a:xfrm>
            <a:off x="1440360" y="5555160"/>
            <a:ext cx="411120" cy="411120"/>
            <a:chOff x="1440360" y="5555160"/>
            <a:chExt cx="411120" cy="411120"/>
          </a:xfrm>
        </p:grpSpPr>
        <p:sp>
          <p:nvSpPr>
            <p:cNvPr id="571" name="Freeform 22"/>
            <p:cNvSpPr/>
            <p:nvPr/>
          </p:nvSpPr>
          <p:spPr>
            <a:xfrm>
              <a:off x="1440360" y="555516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72" name="Group 23"/>
          <p:cNvGrpSpPr/>
          <p:nvPr/>
        </p:nvGrpSpPr>
        <p:grpSpPr>
          <a:xfrm>
            <a:off x="2468880" y="4757760"/>
            <a:ext cx="7131960" cy="1962720"/>
            <a:chOff x="2468880" y="4757760"/>
            <a:chExt cx="7131960" cy="1962720"/>
          </a:xfrm>
        </p:grpSpPr>
        <p:sp>
          <p:nvSpPr>
            <p:cNvPr id="573" name="Freeform 24"/>
            <p:cNvSpPr/>
            <p:nvPr/>
          </p:nvSpPr>
          <p:spPr>
            <a:xfrm>
              <a:off x="2468880" y="4800600"/>
              <a:ext cx="7131960" cy="1919880"/>
            </a:xfrm>
            <a:custGeom>
              <a:avLst/>
              <a:gdLst>
                <a:gd name="textAreaLeft" fmla="*/ 0 w 7131960"/>
                <a:gd name="textAreaRight" fmla="*/ 7132320 w 7131960"/>
                <a:gd name="textAreaTop" fmla="*/ 0 h 1919880"/>
                <a:gd name="textAreaBottom" fmla="*/ 1920240 h 1919880"/>
              </a:gdLst>
              <a:ahLst/>
              <a:rect l="textAreaLeft" t="textAreaTop" r="textAreaRight" b="textAreaBottom"/>
              <a:pathLst>
                <a:path w="9509760" h="2560320">
                  <a:moveTo>
                    <a:pt x="0" y="0"/>
                  </a:moveTo>
                  <a:lnTo>
                    <a:pt x="9509760" y="0"/>
                  </a:lnTo>
                  <a:lnTo>
                    <a:pt x="9509760" y="2560320"/>
                  </a:lnTo>
                  <a:lnTo>
                    <a:pt x="0" y="2560320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4" name="TextBox 25"/>
            <p:cNvSpPr/>
            <p:nvPr/>
          </p:nvSpPr>
          <p:spPr>
            <a:xfrm>
              <a:off x="2468880" y="4757760"/>
              <a:ext cx="7131960" cy="1962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3240"/>
                </a:lnSpc>
              </a:pPr>
              <a:r>
                <a:rPr b="1" lang="en-US" sz="2700" spc="-1" strike="noStrike">
                  <a:solidFill>
                    <a:srgbClr val="ffffff"/>
                  </a:solidFill>
                  <a:latin typeface="Calibri (MS) Bold"/>
                  <a:ea typeface="Calibri (MS) Bold"/>
                </a:rPr>
                <a:t>Smarter counter operations</a:t>
              </a:r>
              <a:endParaRPr b="0" lang="en-US" sz="2700" spc="-1" strike="noStrike">
                <a:solidFill>
                  <a:srgbClr val="ffffff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cbd5e1"/>
                  </a:solidFill>
                  <a:latin typeface="Calibri (MS)"/>
                  <a:ea typeface="Calibri (MS)"/>
                </a:rPr>
                <a:t>Operator console, transfers and live monitoring balance the workload.</a:t>
              </a:r>
              <a:endParaRPr b="0" lang="en-US" sz="2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75" name="Group 26"/>
          <p:cNvGrpSpPr/>
          <p:nvPr/>
        </p:nvGrpSpPr>
        <p:grpSpPr>
          <a:xfrm>
            <a:off x="815760" y="6919560"/>
            <a:ext cx="9066600" cy="1934280"/>
            <a:chOff x="815760" y="6919560"/>
            <a:chExt cx="9066600" cy="1934280"/>
          </a:xfrm>
        </p:grpSpPr>
        <p:sp>
          <p:nvSpPr>
            <p:cNvPr id="576" name="Freeform 27"/>
            <p:cNvSpPr/>
            <p:nvPr/>
          </p:nvSpPr>
          <p:spPr>
            <a:xfrm>
              <a:off x="815760" y="6919560"/>
              <a:ext cx="9066600" cy="1934280"/>
            </a:xfrm>
            <a:custGeom>
              <a:avLst/>
              <a:gdLst>
                <a:gd name="textAreaLeft" fmla="*/ 0 w 9066600"/>
                <a:gd name="textAreaRight" fmla="*/ 9066960 w 9066600"/>
                <a:gd name="textAreaTop" fmla="*/ 0 h 1934280"/>
                <a:gd name="textAreaBottom" fmla="*/ 1934640 h 1934280"/>
              </a:gdLst>
              <a:ahLst/>
              <a:rect l="textAreaLeft" t="textAreaTop" r="textAreaRight" b="textAreaBottom"/>
              <a:pathLst>
                <a:path w="12089130" h="2579370">
                  <a:moveTo>
                    <a:pt x="0" y="257937"/>
                  </a:moveTo>
                  <a:cubicBezTo>
                    <a:pt x="0" y="115443"/>
                    <a:pt x="115443" y="0"/>
                    <a:pt x="257937" y="0"/>
                  </a:cubicBezTo>
                  <a:lnTo>
                    <a:pt x="11831193" y="0"/>
                  </a:lnTo>
                  <a:cubicBezTo>
                    <a:pt x="11973687" y="0"/>
                    <a:pt x="12089130" y="115443"/>
                    <a:pt x="12089130" y="257937"/>
                  </a:cubicBezTo>
                  <a:lnTo>
                    <a:pt x="12089130" y="2321433"/>
                  </a:lnTo>
                  <a:cubicBezTo>
                    <a:pt x="12089130" y="2463927"/>
                    <a:pt x="11973687" y="2579370"/>
                    <a:pt x="11831193" y="2579370"/>
                  </a:cubicBezTo>
                  <a:lnTo>
                    <a:pt x="257937" y="2579370"/>
                  </a:lnTo>
                  <a:cubicBezTo>
                    <a:pt x="115443" y="2579370"/>
                    <a:pt x="0" y="2463927"/>
                    <a:pt x="0" y="2321433"/>
                  </a:cubicBezTo>
                  <a:close/>
                </a:path>
              </a:pathLst>
            </a:custGeom>
            <a:solidFill>
              <a:srgbClr val="1e293b"/>
            </a:solidFill>
            <a:ln cap="sq" w="14288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77" name="Group 28"/>
          <p:cNvGrpSpPr/>
          <p:nvPr/>
        </p:nvGrpSpPr>
        <p:grpSpPr>
          <a:xfrm>
            <a:off x="1229760" y="7470360"/>
            <a:ext cx="831960" cy="831960"/>
            <a:chOff x="1229760" y="7470360"/>
            <a:chExt cx="831960" cy="831960"/>
          </a:xfrm>
        </p:grpSpPr>
        <p:sp>
          <p:nvSpPr>
            <p:cNvPr id="578" name="Freeform 29"/>
            <p:cNvSpPr/>
            <p:nvPr/>
          </p:nvSpPr>
          <p:spPr>
            <a:xfrm>
              <a:off x="1229760" y="7470360"/>
              <a:ext cx="831960" cy="831960"/>
            </a:xfrm>
            <a:custGeom>
              <a:avLst/>
              <a:gdLst>
                <a:gd name="textAreaLeft" fmla="*/ 0 w 831960"/>
                <a:gd name="textAreaRight" fmla="*/ 832320 w 831960"/>
                <a:gd name="textAreaTop" fmla="*/ 0 h 831960"/>
                <a:gd name="textAreaBottom" fmla="*/ 832320 h 831960"/>
              </a:gdLst>
              <a:ahLst/>
              <a:rect l="textAreaLeft" t="textAreaTop" r="textAreaRight" b="textAreaBottom"/>
              <a:pathLst>
                <a:path w="1109980" h="1109980">
                  <a:moveTo>
                    <a:pt x="0" y="554990"/>
                  </a:moveTo>
                  <a:cubicBezTo>
                    <a:pt x="0" y="248539"/>
                    <a:pt x="248539" y="0"/>
                    <a:pt x="554990" y="0"/>
                  </a:cubicBezTo>
                  <a:cubicBezTo>
                    <a:pt x="861441" y="0"/>
                    <a:pt x="1109980" y="248539"/>
                    <a:pt x="1109980" y="554990"/>
                  </a:cubicBezTo>
                  <a:cubicBezTo>
                    <a:pt x="1109980" y="861441"/>
                    <a:pt x="861441" y="1109980"/>
                    <a:pt x="554990" y="1109980"/>
                  </a:cubicBezTo>
                  <a:cubicBezTo>
                    <a:pt x="248539" y="1109980"/>
                    <a:pt x="0" y="861441"/>
                    <a:pt x="0" y="554990"/>
                  </a:cubicBezTo>
                  <a:close/>
                </a:path>
              </a:pathLst>
            </a:custGeom>
            <a:solidFill>
              <a:srgbClr val="1e293b"/>
            </a:solidFill>
            <a:ln cap="sq" w="9525">
              <a:solidFill>
                <a:srgbClr val="33415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79" name="Group 30"/>
          <p:cNvGrpSpPr/>
          <p:nvPr/>
        </p:nvGrpSpPr>
        <p:grpSpPr>
          <a:xfrm>
            <a:off x="1440360" y="7680960"/>
            <a:ext cx="411120" cy="411120"/>
            <a:chOff x="1440360" y="7680960"/>
            <a:chExt cx="411120" cy="411120"/>
          </a:xfrm>
        </p:grpSpPr>
        <p:sp>
          <p:nvSpPr>
            <p:cNvPr id="580" name="Freeform 31"/>
            <p:cNvSpPr/>
            <p:nvPr/>
          </p:nvSpPr>
          <p:spPr>
            <a:xfrm>
              <a:off x="1440360" y="7680960"/>
              <a:ext cx="411120" cy="411120"/>
            </a:xfrm>
            <a:custGeom>
              <a:avLst/>
              <a:gdLst>
                <a:gd name="textAreaLeft" fmla="*/ 0 w 411120"/>
                <a:gd name="textAreaRight" fmla="*/ 411480 w 411120"/>
                <a:gd name="textAreaTop" fmla="*/ 0 h 411120"/>
                <a:gd name="textAreaBottom" fmla="*/ 411480 h 411120"/>
              </a:gdLst>
              <a:ahLst/>
              <a:rect l="textAreaLeft" t="textAreaTop" r="textAreaRight" b="textAreaBottom"/>
              <a:pathLst>
                <a:path w="548640" h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81" name="Group 32"/>
          <p:cNvGrpSpPr/>
          <p:nvPr/>
        </p:nvGrpSpPr>
        <p:grpSpPr>
          <a:xfrm>
            <a:off x="2468880" y="6883560"/>
            <a:ext cx="7131960" cy="1963080"/>
            <a:chOff x="2468880" y="6883560"/>
            <a:chExt cx="7131960" cy="1963080"/>
          </a:xfrm>
        </p:grpSpPr>
        <p:sp>
          <p:nvSpPr>
            <p:cNvPr id="582" name="Freeform 33"/>
            <p:cNvSpPr/>
            <p:nvPr/>
          </p:nvSpPr>
          <p:spPr>
            <a:xfrm>
              <a:off x="2468880" y="6926760"/>
              <a:ext cx="7131960" cy="1919880"/>
            </a:xfrm>
            <a:custGeom>
              <a:avLst/>
              <a:gdLst>
                <a:gd name="textAreaLeft" fmla="*/ 0 w 7131960"/>
                <a:gd name="textAreaRight" fmla="*/ 7132320 w 7131960"/>
                <a:gd name="textAreaTop" fmla="*/ 0 h 1919880"/>
                <a:gd name="textAreaBottom" fmla="*/ 1920240 h 1919880"/>
              </a:gdLst>
              <a:ahLst/>
              <a:rect l="textAreaLeft" t="textAreaTop" r="textAreaRight" b="textAreaBottom"/>
              <a:pathLst>
                <a:path w="9509760" h="2560320">
                  <a:moveTo>
                    <a:pt x="0" y="0"/>
                  </a:moveTo>
                  <a:lnTo>
                    <a:pt x="9509760" y="0"/>
                  </a:lnTo>
                  <a:lnTo>
                    <a:pt x="9509760" y="2560320"/>
                  </a:lnTo>
                  <a:lnTo>
                    <a:pt x="0" y="2560320"/>
                  </a:lnTo>
                  <a:close/>
                </a:path>
              </a:pathLst>
            </a:custGeom>
            <a:blipFill rotWithShape="0">
              <a:blip r:embed="rId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83" name="TextBox 34"/>
            <p:cNvSpPr/>
            <p:nvPr/>
          </p:nvSpPr>
          <p:spPr>
            <a:xfrm>
              <a:off x="2468880" y="6883560"/>
              <a:ext cx="7131960" cy="1962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ts val="3240"/>
                </a:lnSpc>
              </a:pPr>
              <a:r>
                <a:rPr b="1" lang="en-US" sz="2700" spc="-1" strike="noStrike">
                  <a:solidFill>
                    <a:srgbClr val="ffffff"/>
                  </a:solidFill>
                  <a:latin typeface="Calibri (MS) Bold"/>
                  <a:ea typeface="Calibri (MS) Bold"/>
                </a:rPr>
                <a:t>Ready to scale</a:t>
              </a:r>
              <a:endParaRPr b="0" lang="en-US" sz="2700" spc="-1" strike="noStrike">
                <a:solidFill>
                  <a:srgbClr val="ffffff"/>
                </a:solidFill>
                <a:latin typeface="Arial"/>
              </a:endParaRPr>
            </a:p>
            <a:p>
              <a:pPr defTabSz="914400">
                <a:lnSpc>
                  <a:spcPts val="2520"/>
                </a:lnSpc>
              </a:pPr>
              <a:r>
                <a:rPr b="0" lang="en-US" sz="2100" spc="-1" strike="noStrike">
                  <a:solidFill>
                    <a:srgbClr val="cbd5e1"/>
                  </a:solidFill>
                  <a:latin typeface="Calibri (MS)"/>
                  <a:ea typeface="Calibri (MS)"/>
                </a:rPr>
                <a:t>Nagarik App, SMS alerts and multi-district rollout come next.</a:t>
              </a:r>
              <a:endParaRPr b="0" lang="en-US" sz="2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84" name="Group 35"/>
          <p:cNvGrpSpPr/>
          <p:nvPr/>
        </p:nvGrpSpPr>
        <p:grpSpPr>
          <a:xfrm>
            <a:off x="10414800" y="2665080"/>
            <a:ext cx="7054920" cy="6190920"/>
            <a:chOff x="10414800" y="2665080"/>
            <a:chExt cx="7054920" cy="6190920"/>
          </a:xfrm>
        </p:grpSpPr>
        <p:sp>
          <p:nvSpPr>
            <p:cNvPr id="585" name="Freeform 36"/>
            <p:cNvSpPr/>
            <p:nvPr/>
          </p:nvSpPr>
          <p:spPr>
            <a:xfrm>
              <a:off x="10414800" y="2665080"/>
              <a:ext cx="7054920" cy="6190920"/>
            </a:xfrm>
            <a:custGeom>
              <a:avLst/>
              <a:gdLst>
                <a:gd name="textAreaLeft" fmla="*/ 0 w 7054920"/>
                <a:gd name="textAreaRight" fmla="*/ 7055280 w 7054920"/>
                <a:gd name="textAreaTop" fmla="*/ 0 h 6190920"/>
                <a:gd name="textAreaBottom" fmla="*/ 6191280 h 6190920"/>
              </a:gdLst>
              <a:ahLst/>
              <a:rect l="textAreaLeft" t="textAreaTop" r="textAreaRight" b="textAreaBottom"/>
              <a:pathLst>
                <a:path w="9407144" h="8255000">
                  <a:moveTo>
                    <a:pt x="0" y="256794"/>
                  </a:moveTo>
                  <a:cubicBezTo>
                    <a:pt x="0" y="114935"/>
                    <a:pt x="114935" y="0"/>
                    <a:pt x="256794" y="0"/>
                  </a:cubicBezTo>
                  <a:lnTo>
                    <a:pt x="9150350" y="0"/>
                  </a:lnTo>
                  <a:cubicBezTo>
                    <a:pt x="9292209" y="0"/>
                    <a:pt x="9407144" y="114935"/>
                    <a:pt x="9407144" y="256794"/>
                  </a:cubicBezTo>
                  <a:lnTo>
                    <a:pt x="9407144" y="7998206"/>
                  </a:lnTo>
                  <a:cubicBezTo>
                    <a:pt x="9407144" y="8140065"/>
                    <a:pt x="9292209" y="8255000"/>
                    <a:pt x="9150350" y="8255000"/>
                  </a:cubicBezTo>
                  <a:lnTo>
                    <a:pt x="256794" y="8255000"/>
                  </a:lnTo>
                  <a:cubicBezTo>
                    <a:pt x="114935" y="8255000"/>
                    <a:pt x="0" y="8140065"/>
                    <a:pt x="0" y="7998206"/>
                  </a:cubicBezTo>
                  <a:close/>
                </a:path>
              </a:pathLst>
            </a:custGeom>
            <a:solidFill>
              <a:srgbClr val="2dd4bf"/>
            </a:solidFill>
            <a:ln cap="sq" w="19050">
              <a:solidFill>
                <a:srgbClr val="2dd4b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86" name="TextBox 37"/>
          <p:cNvSpPr/>
          <p:nvPr/>
        </p:nvSpPr>
        <p:spPr>
          <a:xfrm>
            <a:off x="11361600" y="4383360"/>
            <a:ext cx="589752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920"/>
              </a:lnSpc>
            </a:pPr>
            <a:r>
              <a:rPr b="1" lang="en-US" sz="66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Thank you</a:t>
            </a:r>
            <a:endParaRPr b="0" lang="en-US" sz="6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Box 38"/>
          <p:cNvSpPr/>
          <p:nvPr/>
        </p:nvSpPr>
        <p:spPr>
          <a:xfrm>
            <a:off x="11361600" y="5424480"/>
            <a:ext cx="5897520" cy="5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b="1" lang="en-US" sz="3300" spc="-1" strike="noStrike">
                <a:solidFill>
                  <a:srgbClr val="0f172a"/>
                </a:solidFill>
                <a:latin typeface="Calibri (MS) Bold"/>
                <a:ea typeface="Calibri (MS) Bold"/>
              </a:rPr>
              <a:t>Questions &amp; Discussion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DAHXCmKZRCE</dc:identifier>
  <dc:language>en-US</dc:language>
  <cp:lastModifiedBy/>
  <dcterms:modified xsi:type="dcterms:W3CDTF">2026-10-07T20:14:06Z</dcterms:modified>
  <cp:revision>2</cp:revision>
  <dc:subject/>
  <dc:title>SQMS_DAO_Kathmandu.pptx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