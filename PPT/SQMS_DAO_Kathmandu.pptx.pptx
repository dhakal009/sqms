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0136" y="952976"/>
            <a:ext cx="3991928" cy="480632"/>
            <a:chOff x="0" y="0"/>
            <a:chExt cx="5322570" cy="6408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22570" cy="640842"/>
            </a:xfrm>
            <a:custGeom>
              <a:avLst/>
              <a:gdLst/>
              <a:ahLst/>
              <a:cxnLst/>
              <a:rect r="r" b="b" t="t" l="l"/>
              <a:pathLst>
                <a:path h="640842" w="5322570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lnTo>
                    <a:pt x="5002149" y="0"/>
                  </a:lnTo>
                  <a:cubicBezTo>
                    <a:pt x="5179060" y="0"/>
                    <a:pt x="5322570" y="143510"/>
                    <a:pt x="5322570" y="320421"/>
                  </a:cubicBezTo>
                  <a:cubicBezTo>
                    <a:pt x="5322570" y="497332"/>
                    <a:pt x="5179060" y="640842"/>
                    <a:pt x="5002149" y="640842"/>
                  </a:cubicBezTo>
                  <a:lnTo>
                    <a:pt x="320421" y="640842"/>
                  </a:ln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960120"/>
            <a:ext cx="3977640" cy="466344"/>
            <a:chOff x="0" y="0"/>
            <a:chExt cx="5303520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03520" cy="621792"/>
            </a:xfrm>
            <a:custGeom>
              <a:avLst/>
              <a:gdLst/>
              <a:ahLst/>
              <a:cxnLst/>
              <a:rect r="r" b="b" t="t" l="l"/>
              <a:pathLst>
                <a:path h="621792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195" r="0" b="-11619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5303520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25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DIGITAL NEPAL INITIATIVE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97280" y="1914525"/>
            <a:ext cx="9875520" cy="384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Smart Queue</a:t>
            </a:r>
          </a:p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Management System</a:t>
            </a:r>
          </a:p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(SQMS)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7280" y="5840730"/>
            <a:ext cx="9052560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Modernizing Citizen Service Delivery &amp; Counter Operations at DAO Kathmandu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7280" y="7103745"/>
            <a:ext cx="54864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PRESENTED BY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7280" y="7614285"/>
            <a:ext cx="4294865" cy="89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306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Bikash Dhakal</a:t>
            </a:r>
          </a:p>
          <a:p>
            <a:pPr algn="l">
              <a:lnSpc>
                <a:spcPts val="2940"/>
              </a:lnSpc>
            </a:pPr>
            <a:r>
              <a:rPr lang="en-US" sz="2450" b="true">
                <a:solidFill>
                  <a:srgbClr val="94A3B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HCE080CSIT13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57700" y="7623810"/>
            <a:ext cx="4012170" cy="832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3"/>
              </a:lnSpc>
            </a:pPr>
            <a:r>
              <a:rPr lang="en-US" sz="286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Manjil Chhetri</a:t>
            </a:r>
          </a:p>
          <a:p>
            <a:pPr algn="l">
              <a:lnSpc>
                <a:spcPts val="2747"/>
              </a:lnSpc>
            </a:pPr>
            <a:r>
              <a:rPr lang="en-US" sz="2289" b="true">
                <a:solidFill>
                  <a:srgbClr val="94A3B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HCE080CSIT13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18120" y="7633335"/>
            <a:ext cx="3970496" cy="814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lang="en-US" sz="283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Deepak Singh</a:t>
            </a:r>
          </a:p>
          <a:p>
            <a:pPr algn="l">
              <a:lnSpc>
                <a:spcPts val="2718"/>
              </a:lnSpc>
            </a:pPr>
            <a:r>
              <a:rPr lang="en-US" sz="226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[HCE080CSIT13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334875" y="1362075"/>
            <a:ext cx="5368290" cy="6465570"/>
            <a:chOff x="0" y="0"/>
            <a:chExt cx="7157720" cy="86207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57720" cy="8620760"/>
            </a:xfrm>
            <a:custGeom>
              <a:avLst/>
              <a:gdLst/>
              <a:ahLst/>
              <a:cxnLst/>
              <a:rect r="r" b="b" t="t" l="l"/>
              <a:pathLst>
                <a:path h="8620760" w="7157720">
                  <a:moveTo>
                    <a:pt x="0" y="367030"/>
                  </a:moveTo>
                  <a:cubicBezTo>
                    <a:pt x="0" y="164338"/>
                    <a:pt x="164338" y="0"/>
                    <a:pt x="367030" y="0"/>
                  </a:cubicBezTo>
                  <a:lnTo>
                    <a:pt x="6790690" y="0"/>
                  </a:lnTo>
                  <a:cubicBezTo>
                    <a:pt x="6993382" y="0"/>
                    <a:pt x="7157720" y="164338"/>
                    <a:pt x="7157720" y="367030"/>
                  </a:cubicBezTo>
                  <a:lnTo>
                    <a:pt x="7157720" y="8253730"/>
                  </a:lnTo>
                  <a:cubicBezTo>
                    <a:pt x="7157720" y="8456422"/>
                    <a:pt x="6993382" y="8620760"/>
                    <a:pt x="6790690" y="8620760"/>
                  </a:cubicBezTo>
                  <a:lnTo>
                    <a:pt x="367030" y="8620760"/>
                  </a:lnTo>
                  <a:cubicBezTo>
                    <a:pt x="164338" y="8620760"/>
                    <a:pt x="0" y="8456422"/>
                    <a:pt x="0" y="8253730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788616" y="1913096"/>
            <a:ext cx="5363528" cy="6460808"/>
            <a:chOff x="0" y="0"/>
            <a:chExt cx="7151370" cy="86144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51370" cy="8614410"/>
            </a:xfrm>
            <a:custGeom>
              <a:avLst/>
              <a:gdLst/>
              <a:ahLst/>
              <a:cxnLst/>
              <a:rect r="r" b="b" t="t" l="l"/>
              <a:pathLst>
                <a:path h="8614410" w="7151370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lnTo>
                    <a:pt x="6784594" y="0"/>
                  </a:lnTo>
                  <a:cubicBezTo>
                    <a:pt x="6987159" y="0"/>
                    <a:pt x="7151370" y="164211"/>
                    <a:pt x="7151370" y="366776"/>
                  </a:cubicBezTo>
                  <a:lnTo>
                    <a:pt x="7151370" y="8247634"/>
                  </a:lnTo>
                  <a:cubicBezTo>
                    <a:pt x="7151370" y="8450199"/>
                    <a:pt x="6987159" y="8614410"/>
                    <a:pt x="6784594" y="8614410"/>
                  </a:cubicBezTo>
                  <a:lnTo>
                    <a:pt x="366776" y="8614410"/>
                  </a:lnTo>
                  <a:cubicBezTo>
                    <a:pt x="164211" y="8614410"/>
                    <a:pt x="0" y="8450199"/>
                    <a:pt x="0" y="824763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275820" y="2362200"/>
            <a:ext cx="438912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300">
                <a:solidFill>
                  <a:srgbClr val="0F766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NOW SERVING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75820" y="2670810"/>
            <a:ext cx="4389120" cy="185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0"/>
              </a:lnSpc>
            </a:pPr>
            <a:r>
              <a:rPr lang="en-US" sz="99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A-042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75820" y="4488180"/>
            <a:ext cx="438912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Counter 3  ·  Room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75820" y="5457825"/>
            <a:ext cx="438912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CROWD ADVISORY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266295" y="5998083"/>
            <a:ext cx="979170" cy="238506"/>
            <a:chOff x="0" y="0"/>
            <a:chExt cx="1305560" cy="3180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05560" cy="318008"/>
            </a:xfrm>
            <a:custGeom>
              <a:avLst/>
              <a:gdLst/>
              <a:ahLst/>
              <a:cxnLst/>
              <a:rect r="r" b="b" t="t" l="l"/>
              <a:pathLst>
                <a:path h="318008" w="1305560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lnTo>
                    <a:pt x="1146556" y="0"/>
                  </a:lnTo>
                  <a:cubicBezTo>
                    <a:pt x="1234313" y="0"/>
                    <a:pt x="1305560" y="71247"/>
                    <a:pt x="1305560" y="159004"/>
                  </a:cubicBezTo>
                  <a:cubicBezTo>
                    <a:pt x="1305560" y="246761"/>
                    <a:pt x="1234313" y="318008"/>
                    <a:pt x="1146556" y="318008"/>
                  </a:cubicBezTo>
                  <a:lnTo>
                    <a:pt x="159004" y="318008"/>
                  </a:ln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0D9488"/>
            </a:solidFill>
            <a:ln w="1905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363575" y="5998083"/>
            <a:ext cx="979170" cy="238506"/>
            <a:chOff x="0" y="0"/>
            <a:chExt cx="1305560" cy="3180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05560" cy="318008"/>
            </a:xfrm>
            <a:custGeom>
              <a:avLst/>
              <a:gdLst/>
              <a:ahLst/>
              <a:cxnLst/>
              <a:rect r="r" b="b" t="t" l="l"/>
              <a:pathLst>
                <a:path h="318008" w="1305560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lnTo>
                    <a:pt x="1146556" y="0"/>
                  </a:lnTo>
                  <a:cubicBezTo>
                    <a:pt x="1234313" y="0"/>
                    <a:pt x="1305560" y="71247"/>
                    <a:pt x="1305560" y="159004"/>
                  </a:cubicBezTo>
                  <a:cubicBezTo>
                    <a:pt x="1305560" y="246761"/>
                    <a:pt x="1234313" y="318008"/>
                    <a:pt x="1146556" y="318008"/>
                  </a:cubicBezTo>
                  <a:lnTo>
                    <a:pt x="159004" y="318008"/>
                  </a:ln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4460855" y="5998083"/>
            <a:ext cx="979170" cy="238506"/>
            <a:chOff x="0" y="0"/>
            <a:chExt cx="1305560" cy="3180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05560" cy="318008"/>
            </a:xfrm>
            <a:custGeom>
              <a:avLst/>
              <a:gdLst/>
              <a:ahLst/>
              <a:cxnLst/>
              <a:rect r="r" b="b" t="t" l="l"/>
              <a:pathLst>
                <a:path h="318008" w="1305560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lnTo>
                    <a:pt x="1146556" y="0"/>
                  </a:lnTo>
                  <a:cubicBezTo>
                    <a:pt x="1234313" y="0"/>
                    <a:pt x="1305560" y="71247"/>
                    <a:pt x="1305560" y="159004"/>
                  </a:cubicBezTo>
                  <a:cubicBezTo>
                    <a:pt x="1305560" y="246761"/>
                    <a:pt x="1234313" y="318008"/>
                    <a:pt x="1146556" y="318008"/>
                  </a:cubicBezTo>
                  <a:lnTo>
                    <a:pt x="159004" y="318008"/>
                  </a:ln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5558135" y="5998083"/>
            <a:ext cx="979170" cy="238506"/>
            <a:chOff x="0" y="0"/>
            <a:chExt cx="1305560" cy="3180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05560" cy="318008"/>
            </a:xfrm>
            <a:custGeom>
              <a:avLst/>
              <a:gdLst/>
              <a:ahLst/>
              <a:cxnLst/>
              <a:rect r="r" b="b" t="t" l="l"/>
              <a:pathLst>
                <a:path h="318008" w="1305560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lnTo>
                    <a:pt x="1146556" y="0"/>
                  </a:lnTo>
                  <a:cubicBezTo>
                    <a:pt x="1234313" y="0"/>
                    <a:pt x="1305560" y="71247"/>
                    <a:pt x="1305560" y="159004"/>
                  </a:cubicBezTo>
                  <a:cubicBezTo>
                    <a:pt x="1305560" y="246761"/>
                    <a:pt x="1234313" y="318008"/>
                    <a:pt x="1146556" y="318008"/>
                  </a:cubicBezTo>
                  <a:lnTo>
                    <a:pt x="159004" y="318008"/>
                  </a:ln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E2E8F0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275820" y="6398895"/>
            <a:ext cx="452628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Moderate</a:t>
            </a:r>
            <a:r>
              <a:rPr lang="en-US" sz="21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   ·   est. wait ~12 min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75820" y="7574280"/>
            <a:ext cx="438912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Illustrative token card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SQMS  ·  DAO Kathmandu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5816" y="678656"/>
            <a:ext cx="2757488" cy="480632"/>
            <a:chOff x="0" y="0"/>
            <a:chExt cx="3676650" cy="6408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76650" cy="640842"/>
            </a:xfrm>
            <a:custGeom>
              <a:avLst/>
              <a:gdLst/>
              <a:ahLst/>
              <a:cxnLst/>
              <a:rect r="r" b="b" t="t" l="l"/>
              <a:pathLst>
                <a:path h="640842" w="3676650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lnTo>
                    <a:pt x="3356229" y="0"/>
                  </a:lnTo>
                  <a:cubicBezTo>
                    <a:pt x="3533140" y="0"/>
                    <a:pt x="3676650" y="143510"/>
                    <a:pt x="3676650" y="320421"/>
                  </a:cubicBezTo>
                  <a:cubicBezTo>
                    <a:pt x="3676650" y="497332"/>
                    <a:pt x="3533140" y="640842"/>
                    <a:pt x="3356229" y="640842"/>
                  </a:cubicBezTo>
                  <a:lnTo>
                    <a:pt x="320421" y="640842"/>
                  </a:ln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FFE4E6"/>
            </a:solidFill>
            <a:ln w="14288" cap="sq">
              <a:solidFill>
                <a:srgbClr val="FFE4E6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685800"/>
            <a:ext cx="2743200" cy="466344"/>
            <a:chOff x="0" y="0"/>
            <a:chExt cx="365760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57600" cy="621792"/>
            </a:xfrm>
            <a:custGeom>
              <a:avLst/>
              <a:gdLst/>
              <a:ahLst/>
              <a:cxnLst/>
              <a:rect r="r" b="b" t="t" l="l"/>
              <a:pathLst>
                <a:path h="6217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3657600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25">
                  <a:solidFill>
                    <a:srgbClr val="BE12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1229868"/>
            <a:ext cx="1659636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Problem &amp; Our Vision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5816" y="2667476"/>
            <a:ext cx="4129088" cy="3031808"/>
            <a:chOff x="0" y="0"/>
            <a:chExt cx="5505450" cy="40424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05450" cy="4042410"/>
            </a:xfrm>
            <a:custGeom>
              <a:avLst/>
              <a:gdLst/>
              <a:ahLst/>
              <a:cxnLst/>
              <a:rect r="r" b="b" t="t" l="l"/>
              <a:pathLst>
                <a:path h="4042410" w="5505450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5248148" y="0"/>
                  </a:lnTo>
                  <a:cubicBezTo>
                    <a:pt x="5390261" y="0"/>
                    <a:pt x="5505450" y="115189"/>
                    <a:pt x="5505450" y="257302"/>
                  </a:cubicBezTo>
                  <a:lnTo>
                    <a:pt x="5505450" y="3785108"/>
                  </a:lnTo>
                  <a:cubicBezTo>
                    <a:pt x="5505450" y="3927221"/>
                    <a:pt x="5390261" y="4042410"/>
                    <a:pt x="5248148" y="4042410"/>
                  </a:cubicBezTo>
                  <a:lnTo>
                    <a:pt x="257302" y="4042410"/>
                  </a:lnTo>
                  <a:cubicBezTo>
                    <a:pt x="115189" y="4042410"/>
                    <a:pt x="0" y="3927221"/>
                    <a:pt x="0" y="378510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61098" y="3012758"/>
            <a:ext cx="832485" cy="832485"/>
            <a:chOff x="0" y="0"/>
            <a:chExt cx="1109980" cy="11099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9980" cy="1109980"/>
            </a:xfrm>
            <a:custGeom>
              <a:avLst/>
              <a:gdLst/>
              <a:ahLst/>
              <a:cxnLst/>
              <a:rect r="r" b="b" t="t" l="l"/>
              <a:pathLst>
                <a:path h="1109980" w="1109980">
                  <a:moveTo>
                    <a:pt x="0" y="554990"/>
                  </a:moveTo>
                  <a:cubicBezTo>
                    <a:pt x="0" y="248539"/>
                    <a:pt x="248539" y="0"/>
                    <a:pt x="554990" y="0"/>
                  </a:cubicBezTo>
                  <a:cubicBezTo>
                    <a:pt x="861441" y="0"/>
                    <a:pt x="1109980" y="248539"/>
                    <a:pt x="1109980" y="554990"/>
                  </a:cubicBezTo>
                  <a:cubicBezTo>
                    <a:pt x="1109980" y="861441"/>
                    <a:pt x="861441" y="1109980"/>
                    <a:pt x="554990" y="1109980"/>
                  </a:cubicBezTo>
                  <a:cubicBezTo>
                    <a:pt x="248539" y="1109980"/>
                    <a:pt x="0" y="861441"/>
                    <a:pt x="0" y="554990"/>
                  </a:cubicBezTo>
                  <a:close/>
                </a:path>
              </a:pathLst>
            </a:custGeom>
            <a:solidFill>
              <a:srgbClr val="FFE4E6"/>
            </a:solidFill>
            <a:ln w="9525" cap="sq">
              <a:solidFill>
                <a:srgbClr val="FFE4E6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371600" y="3223260"/>
            <a:ext cx="411480" cy="411480"/>
            <a:chOff x="0" y="0"/>
            <a:chExt cx="548640" cy="54864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65860" y="4008120"/>
            <a:ext cx="356616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Crowded waiting halls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5860" y="4547235"/>
            <a:ext cx="356616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Citizens queue physically for hours.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204936" y="2667476"/>
            <a:ext cx="4129088" cy="3031808"/>
            <a:chOff x="0" y="0"/>
            <a:chExt cx="5505450" cy="40424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05450" cy="4042410"/>
            </a:xfrm>
            <a:custGeom>
              <a:avLst/>
              <a:gdLst/>
              <a:ahLst/>
              <a:cxnLst/>
              <a:rect r="r" b="b" t="t" l="l"/>
              <a:pathLst>
                <a:path h="4042410" w="5505450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5248148" y="0"/>
                  </a:lnTo>
                  <a:cubicBezTo>
                    <a:pt x="5390261" y="0"/>
                    <a:pt x="5505450" y="115189"/>
                    <a:pt x="5505450" y="257302"/>
                  </a:cubicBezTo>
                  <a:lnTo>
                    <a:pt x="5505450" y="3785108"/>
                  </a:lnTo>
                  <a:cubicBezTo>
                    <a:pt x="5505450" y="3927221"/>
                    <a:pt x="5390261" y="4042410"/>
                    <a:pt x="5248148" y="4042410"/>
                  </a:cubicBezTo>
                  <a:lnTo>
                    <a:pt x="257302" y="4042410"/>
                  </a:lnTo>
                  <a:cubicBezTo>
                    <a:pt x="115189" y="4042410"/>
                    <a:pt x="0" y="3927221"/>
                    <a:pt x="0" y="378510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550218" y="3012758"/>
            <a:ext cx="832485" cy="832485"/>
            <a:chOff x="0" y="0"/>
            <a:chExt cx="1109980" cy="11099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9980" cy="1109980"/>
            </a:xfrm>
            <a:custGeom>
              <a:avLst/>
              <a:gdLst/>
              <a:ahLst/>
              <a:cxnLst/>
              <a:rect r="r" b="b" t="t" l="l"/>
              <a:pathLst>
                <a:path h="1109980" w="1109980">
                  <a:moveTo>
                    <a:pt x="0" y="554990"/>
                  </a:moveTo>
                  <a:cubicBezTo>
                    <a:pt x="0" y="248539"/>
                    <a:pt x="248539" y="0"/>
                    <a:pt x="554990" y="0"/>
                  </a:cubicBezTo>
                  <a:cubicBezTo>
                    <a:pt x="861441" y="0"/>
                    <a:pt x="1109980" y="248539"/>
                    <a:pt x="1109980" y="554990"/>
                  </a:cubicBezTo>
                  <a:cubicBezTo>
                    <a:pt x="1109980" y="861441"/>
                    <a:pt x="861441" y="1109980"/>
                    <a:pt x="554990" y="1109980"/>
                  </a:cubicBezTo>
                  <a:cubicBezTo>
                    <a:pt x="248539" y="1109980"/>
                    <a:pt x="0" y="861441"/>
                    <a:pt x="0" y="554990"/>
                  </a:cubicBezTo>
                  <a:close/>
                </a:path>
              </a:pathLst>
            </a:custGeom>
            <a:solidFill>
              <a:srgbClr val="FFE4E6"/>
            </a:solidFill>
            <a:ln w="9525" cap="sq">
              <a:solidFill>
                <a:srgbClr val="FFE4E6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760720" y="3223260"/>
            <a:ext cx="411480" cy="411480"/>
            <a:chOff x="0" y="0"/>
            <a:chExt cx="548640" cy="54864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554980" y="4008120"/>
            <a:ext cx="356616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live transparency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54980" y="4547235"/>
            <a:ext cx="356616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No public view of who is being served.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15816" y="5959316"/>
            <a:ext cx="4129088" cy="3031808"/>
            <a:chOff x="0" y="0"/>
            <a:chExt cx="5505450" cy="40424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05450" cy="4042410"/>
            </a:xfrm>
            <a:custGeom>
              <a:avLst/>
              <a:gdLst/>
              <a:ahLst/>
              <a:cxnLst/>
              <a:rect r="r" b="b" t="t" l="l"/>
              <a:pathLst>
                <a:path h="4042410" w="5505450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5248148" y="0"/>
                  </a:lnTo>
                  <a:cubicBezTo>
                    <a:pt x="5390261" y="0"/>
                    <a:pt x="5505450" y="115189"/>
                    <a:pt x="5505450" y="257302"/>
                  </a:cubicBezTo>
                  <a:lnTo>
                    <a:pt x="5505450" y="3785108"/>
                  </a:lnTo>
                  <a:cubicBezTo>
                    <a:pt x="5505450" y="3927221"/>
                    <a:pt x="5390261" y="4042410"/>
                    <a:pt x="5248148" y="4042410"/>
                  </a:cubicBezTo>
                  <a:lnTo>
                    <a:pt x="257302" y="4042410"/>
                  </a:lnTo>
                  <a:cubicBezTo>
                    <a:pt x="115189" y="4042410"/>
                    <a:pt x="0" y="3927221"/>
                    <a:pt x="0" y="378510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61098" y="6304597"/>
            <a:ext cx="832485" cy="832485"/>
            <a:chOff x="0" y="0"/>
            <a:chExt cx="1109980" cy="11099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09980" cy="1109980"/>
            </a:xfrm>
            <a:custGeom>
              <a:avLst/>
              <a:gdLst/>
              <a:ahLst/>
              <a:cxnLst/>
              <a:rect r="r" b="b" t="t" l="l"/>
              <a:pathLst>
                <a:path h="1109980" w="1109980">
                  <a:moveTo>
                    <a:pt x="0" y="554990"/>
                  </a:moveTo>
                  <a:cubicBezTo>
                    <a:pt x="0" y="248539"/>
                    <a:pt x="248539" y="0"/>
                    <a:pt x="554990" y="0"/>
                  </a:cubicBezTo>
                  <a:cubicBezTo>
                    <a:pt x="861441" y="0"/>
                    <a:pt x="1109980" y="248539"/>
                    <a:pt x="1109980" y="554990"/>
                  </a:cubicBezTo>
                  <a:cubicBezTo>
                    <a:pt x="1109980" y="861441"/>
                    <a:pt x="861441" y="1109980"/>
                    <a:pt x="554990" y="1109980"/>
                  </a:cubicBezTo>
                  <a:cubicBezTo>
                    <a:pt x="248539" y="1109980"/>
                    <a:pt x="0" y="861441"/>
                    <a:pt x="0" y="554990"/>
                  </a:cubicBezTo>
                  <a:close/>
                </a:path>
              </a:pathLst>
            </a:custGeom>
            <a:solidFill>
              <a:srgbClr val="FFE4E6"/>
            </a:solidFill>
            <a:ln w="9525" cap="sq">
              <a:solidFill>
                <a:srgbClr val="FFE4E6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371600" y="6515100"/>
            <a:ext cx="411480" cy="411480"/>
            <a:chOff x="0" y="0"/>
            <a:chExt cx="548640" cy="54864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65860" y="7299960"/>
            <a:ext cx="356616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Unclear checklists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65860" y="7839075"/>
            <a:ext cx="356616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Citizens arrive missing documents.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204936" y="5959316"/>
            <a:ext cx="4129088" cy="3031808"/>
            <a:chOff x="0" y="0"/>
            <a:chExt cx="5505450" cy="40424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505450" cy="4042410"/>
            </a:xfrm>
            <a:custGeom>
              <a:avLst/>
              <a:gdLst/>
              <a:ahLst/>
              <a:cxnLst/>
              <a:rect r="r" b="b" t="t" l="l"/>
              <a:pathLst>
                <a:path h="4042410" w="5505450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5248148" y="0"/>
                  </a:lnTo>
                  <a:cubicBezTo>
                    <a:pt x="5390261" y="0"/>
                    <a:pt x="5505450" y="115189"/>
                    <a:pt x="5505450" y="257302"/>
                  </a:cubicBezTo>
                  <a:lnTo>
                    <a:pt x="5505450" y="3785108"/>
                  </a:lnTo>
                  <a:cubicBezTo>
                    <a:pt x="5505450" y="3927221"/>
                    <a:pt x="5390261" y="4042410"/>
                    <a:pt x="5248148" y="4042410"/>
                  </a:cubicBezTo>
                  <a:lnTo>
                    <a:pt x="257302" y="4042410"/>
                  </a:lnTo>
                  <a:cubicBezTo>
                    <a:pt x="115189" y="4042410"/>
                    <a:pt x="0" y="3927221"/>
                    <a:pt x="0" y="378510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550218" y="6304597"/>
            <a:ext cx="832485" cy="832485"/>
            <a:chOff x="0" y="0"/>
            <a:chExt cx="1109980" cy="11099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09980" cy="1109980"/>
            </a:xfrm>
            <a:custGeom>
              <a:avLst/>
              <a:gdLst/>
              <a:ahLst/>
              <a:cxnLst/>
              <a:rect r="r" b="b" t="t" l="l"/>
              <a:pathLst>
                <a:path h="1109980" w="1109980">
                  <a:moveTo>
                    <a:pt x="0" y="554990"/>
                  </a:moveTo>
                  <a:cubicBezTo>
                    <a:pt x="0" y="248539"/>
                    <a:pt x="248539" y="0"/>
                    <a:pt x="554990" y="0"/>
                  </a:cubicBezTo>
                  <a:cubicBezTo>
                    <a:pt x="861441" y="0"/>
                    <a:pt x="1109980" y="248539"/>
                    <a:pt x="1109980" y="554990"/>
                  </a:cubicBezTo>
                  <a:cubicBezTo>
                    <a:pt x="1109980" y="861441"/>
                    <a:pt x="861441" y="1109980"/>
                    <a:pt x="554990" y="1109980"/>
                  </a:cubicBezTo>
                  <a:cubicBezTo>
                    <a:pt x="248539" y="1109980"/>
                    <a:pt x="0" y="861441"/>
                    <a:pt x="0" y="554990"/>
                  </a:cubicBezTo>
                  <a:close/>
                </a:path>
              </a:pathLst>
            </a:custGeom>
            <a:solidFill>
              <a:srgbClr val="FFE4E6"/>
            </a:solidFill>
            <a:ln w="9525" cap="sq">
              <a:solidFill>
                <a:srgbClr val="FFE4E6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5760720" y="6515100"/>
            <a:ext cx="411480" cy="411480"/>
            <a:chOff x="0" y="0"/>
            <a:chExt cx="548640" cy="54864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5554980" y="7299960"/>
            <a:ext cx="356616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Manual load balancing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554980" y="7839075"/>
            <a:ext cx="356616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Staff shift work between desks by hand.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875520" y="2674620"/>
            <a:ext cx="7584948" cy="6309360"/>
            <a:chOff x="0" y="0"/>
            <a:chExt cx="10113264" cy="84124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113263" cy="8412480"/>
            </a:xfrm>
            <a:custGeom>
              <a:avLst/>
              <a:gdLst/>
              <a:ahLst/>
              <a:cxnLst/>
              <a:rect r="r" b="b" t="t" l="l"/>
              <a:pathLst>
                <a:path h="8412480" w="10113263">
                  <a:moveTo>
                    <a:pt x="0" y="256032"/>
                  </a:moveTo>
                  <a:cubicBezTo>
                    <a:pt x="0" y="114554"/>
                    <a:pt x="114554" y="0"/>
                    <a:pt x="256032" y="0"/>
                  </a:cubicBezTo>
                  <a:lnTo>
                    <a:pt x="9857232" y="0"/>
                  </a:lnTo>
                  <a:cubicBezTo>
                    <a:pt x="9998583" y="0"/>
                    <a:pt x="10113263" y="114554"/>
                    <a:pt x="10113263" y="256032"/>
                  </a:cubicBezTo>
                  <a:lnTo>
                    <a:pt x="10113263" y="8156448"/>
                  </a:lnTo>
                  <a:cubicBezTo>
                    <a:pt x="10113263" y="8297799"/>
                    <a:pt x="9998710" y="8412480"/>
                    <a:pt x="9857232" y="8412480"/>
                  </a:cubicBezTo>
                  <a:lnTo>
                    <a:pt x="256032" y="8412480"/>
                  </a:lnTo>
                  <a:cubicBezTo>
                    <a:pt x="114554" y="8412480"/>
                    <a:pt x="0" y="8297926"/>
                    <a:pt x="0" y="8156448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417016" y="3147536"/>
            <a:ext cx="2620328" cy="480632"/>
            <a:chOff x="0" y="0"/>
            <a:chExt cx="3493770" cy="64084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93770" cy="640842"/>
            </a:xfrm>
            <a:custGeom>
              <a:avLst/>
              <a:gdLst/>
              <a:ahLst/>
              <a:cxnLst/>
              <a:rect r="r" b="b" t="t" l="l"/>
              <a:pathLst>
                <a:path h="640842" w="3493770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lnTo>
                    <a:pt x="3173349" y="0"/>
                  </a:lnTo>
                  <a:cubicBezTo>
                    <a:pt x="3350260" y="0"/>
                    <a:pt x="3493770" y="143510"/>
                    <a:pt x="3493770" y="320421"/>
                  </a:cubicBezTo>
                  <a:cubicBezTo>
                    <a:pt x="3493770" y="497332"/>
                    <a:pt x="3350260" y="640842"/>
                    <a:pt x="3173349" y="640842"/>
                  </a:cubicBezTo>
                  <a:lnTo>
                    <a:pt x="320421" y="640842"/>
                  </a:ln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0424160" y="3154680"/>
            <a:ext cx="2606040" cy="466344"/>
            <a:chOff x="0" y="0"/>
            <a:chExt cx="3474720" cy="6217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3474720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25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SOLUTION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424160" y="3842385"/>
            <a:ext cx="6446520" cy="1986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One synchronized ecosystem that eliminates queues and streamlines service delivery.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0417016" y="6027896"/>
            <a:ext cx="6501956" cy="1111568"/>
            <a:chOff x="0" y="0"/>
            <a:chExt cx="8669274" cy="148209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669274" cy="1481963"/>
            </a:xfrm>
            <a:custGeom>
              <a:avLst/>
              <a:gdLst/>
              <a:ahLst/>
              <a:cxnLst/>
              <a:rect r="r" b="b" t="t" l="l"/>
              <a:pathLst>
                <a:path h="1481963" w="8669274">
                  <a:moveTo>
                    <a:pt x="0" y="222250"/>
                  </a:moveTo>
                  <a:cubicBezTo>
                    <a:pt x="0" y="99568"/>
                    <a:pt x="99568" y="0"/>
                    <a:pt x="222250" y="0"/>
                  </a:cubicBezTo>
                  <a:lnTo>
                    <a:pt x="8447024" y="0"/>
                  </a:lnTo>
                  <a:cubicBezTo>
                    <a:pt x="8569833" y="0"/>
                    <a:pt x="8669274" y="99568"/>
                    <a:pt x="8669274" y="222250"/>
                  </a:cubicBezTo>
                  <a:lnTo>
                    <a:pt x="8669274" y="1259713"/>
                  </a:lnTo>
                  <a:cubicBezTo>
                    <a:pt x="8669274" y="1382522"/>
                    <a:pt x="8569706" y="1481963"/>
                    <a:pt x="8447024" y="1481963"/>
                  </a:cubicBezTo>
                  <a:lnTo>
                    <a:pt x="222250" y="1481963"/>
                  </a:lnTo>
                  <a:cubicBezTo>
                    <a:pt x="99568" y="1482090"/>
                    <a:pt x="0" y="1382522"/>
                    <a:pt x="0" y="1259713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0767060" y="6035040"/>
            <a:ext cx="5897880" cy="1097280"/>
            <a:chOff x="0" y="0"/>
            <a:chExt cx="7863840" cy="1463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863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78638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Citizen Public Portal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417016" y="7399496"/>
            <a:ext cx="6501956" cy="1111568"/>
            <a:chOff x="0" y="0"/>
            <a:chExt cx="8669274" cy="148209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669274" cy="1481963"/>
            </a:xfrm>
            <a:custGeom>
              <a:avLst/>
              <a:gdLst/>
              <a:ahLst/>
              <a:cxnLst/>
              <a:rect r="r" b="b" t="t" l="l"/>
              <a:pathLst>
                <a:path h="1481963" w="8669274">
                  <a:moveTo>
                    <a:pt x="0" y="222250"/>
                  </a:moveTo>
                  <a:cubicBezTo>
                    <a:pt x="0" y="99568"/>
                    <a:pt x="99568" y="0"/>
                    <a:pt x="222250" y="0"/>
                  </a:cubicBezTo>
                  <a:lnTo>
                    <a:pt x="8447024" y="0"/>
                  </a:lnTo>
                  <a:cubicBezTo>
                    <a:pt x="8569833" y="0"/>
                    <a:pt x="8669274" y="99568"/>
                    <a:pt x="8669274" y="222250"/>
                  </a:cubicBezTo>
                  <a:lnTo>
                    <a:pt x="8669274" y="1259713"/>
                  </a:lnTo>
                  <a:cubicBezTo>
                    <a:pt x="8669274" y="1382522"/>
                    <a:pt x="8569706" y="1481963"/>
                    <a:pt x="8447024" y="1481963"/>
                  </a:cubicBezTo>
                  <a:lnTo>
                    <a:pt x="222250" y="1481963"/>
                  </a:lnTo>
                  <a:cubicBezTo>
                    <a:pt x="99568" y="1482090"/>
                    <a:pt x="0" y="1382522"/>
                    <a:pt x="0" y="1259713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0767060" y="7406640"/>
            <a:ext cx="5897880" cy="1097280"/>
            <a:chOff x="0" y="0"/>
            <a:chExt cx="7863840" cy="14630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863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78638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Operator Workstation Terminal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3990320" y="7186041"/>
            <a:ext cx="288036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2DD4BF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sync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550640" y="9608820"/>
            <a:ext cx="81838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SQMS  ·  DAO Kathmandu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5816" y="678656"/>
            <a:ext cx="2757488" cy="480632"/>
            <a:chOff x="0" y="0"/>
            <a:chExt cx="3676650" cy="6408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76650" cy="640842"/>
            </a:xfrm>
            <a:custGeom>
              <a:avLst/>
              <a:gdLst/>
              <a:ahLst/>
              <a:cxnLst/>
              <a:rect r="r" b="b" t="t" l="l"/>
              <a:pathLst>
                <a:path h="640842" w="3676650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lnTo>
                    <a:pt x="3356229" y="0"/>
                  </a:lnTo>
                  <a:cubicBezTo>
                    <a:pt x="3533140" y="0"/>
                    <a:pt x="3676650" y="143510"/>
                    <a:pt x="3676650" y="320421"/>
                  </a:cubicBezTo>
                  <a:cubicBezTo>
                    <a:pt x="3676650" y="497332"/>
                    <a:pt x="3533140" y="640842"/>
                    <a:pt x="3356229" y="640842"/>
                  </a:cubicBezTo>
                  <a:lnTo>
                    <a:pt x="320421" y="640842"/>
                  </a:ln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CCFBF1"/>
            </a:solidFill>
            <a:ln w="14288" cap="sq">
              <a:solidFill>
                <a:srgbClr val="CCFBF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685800"/>
            <a:ext cx="2743200" cy="466344"/>
            <a:chOff x="0" y="0"/>
            <a:chExt cx="365760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57600" cy="621792"/>
            </a:xfrm>
            <a:custGeom>
              <a:avLst/>
              <a:gdLst/>
              <a:ahLst/>
              <a:cxnLst/>
              <a:rect r="r" b="b" t="t" l="l"/>
              <a:pathLst>
                <a:path h="6217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3657600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25">
                  <a:solidFill>
                    <a:srgbClr val="0F76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1229868"/>
            <a:ext cx="1659636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Two-Tier Digital Ecosystem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5816" y="2667476"/>
            <a:ext cx="7558088" cy="4334828"/>
            <a:chOff x="0" y="0"/>
            <a:chExt cx="10077450" cy="57797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77450" cy="5779770"/>
            </a:xfrm>
            <a:custGeom>
              <a:avLst/>
              <a:gdLst/>
              <a:ahLst/>
              <a:cxnLst/>
              <a:rect r="r" b="b" t="t" l="l"/>
              <a:pathLst>
                <a:path h="5779770" w="10077450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9820656" y="0"/>
                  </a:lnTo>
                  <a:cubicBezTo>
                    <a:pt x="9962515" y="0"/>
                    <a:pt x="10077450" y="114935"/>
                    <a:pt x="10077450" y="256794"/>
                  </a:cubicBezTo>
                  <a:lnTo>
                    <a:pt x="10077450" y="5522976"/>
                  </a:lnTo>
                  <a:cubicBezTo>
                    <a:pt x="10077450" y="5664835"/>
                    <a:pt x="9962515" y="5779770"/>
                    <a:pt x="9820656" y="5779770"/>
                  </a:cubicBezTo>
                  <a:lnTo>
                    <a:pt x="256794" y="5779770"/>
                  </a:lnTo>
                  <a:cubicBezTo>
                    <a:pt x="114935" y="5779770"/>
                    <a:pt x="0" y="5664835"/>
                    <a:pt x="0" y="552297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98258" y="3012758"/>
            <a:ext cx="832485" cy="832485"/>
            <a:chOff x="0" y="0"/>
            <a:chExt cx="1109980" cy="11099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9980" cy="1109980"/>
            </a:xfrm>
            <a:custGeom>
              <a:avLst/>
              <a:gdLst/>
              <a:ahLst/>
              <a:cxnLst/>
              <a:rect r="r" b="b" t="t" l="l"/>
              <a:pathLst>
                <a:path h="1109980" w="1109980">
                  <a:moveTo>
                    <a:pt x="0" y="554990"/>
                  </a:moveTo>
                  <a:cubicBezTo>
                    <a:pt x="0" y="248539"/>
                    <a:pt x="248539" y="0"/>
                    <a:pt x="554990" y="0"/>
                  </a:cubicBezTo>
                  <a:cubicBezTo>
                    <a:pt x="861441" y="0"/>
                    <a:pt x="1109980" y="248539"/>
                    <a:pt x="1109980" y="554990"/>
                  </a:cubicBezTo>
                  <a:cubicBezTo>
                    <a:pt x="1109980" y="861441"/>
                    <a:pt x="861441" y="1109980"/>
                    <a:pt x="554990" y="1109980"/>
                  </a:cubicBezTo>
                  <a:cubicBezTo>
                    <a:pt x="248539" y="1109980"/>
                    <a:pt x="0" y="861441"/>
                    <a:pt x="0" y="554990"/>
                  </a:cubicBezTo>
                  <a:close/>
                </a:path>
              </a:pathLst>
            </a:custGeom>
            <a:solidFill>
              <a:srgbClr val="CCFBF1"/>
            </a:solidFill>
            <a:ln w="9525" cap="sq">
              <a:solidFill>
                <a:srgbClr val="CCFBF1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508760" y="3223260"/>
            <a:ext cx="411480" cy="411480"/>
            <a:chOff x="0" y="0"/>
            <a:chExt cx="548640" cy="54864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400300" y="2988945"/>
            <a:ext cx="41148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0F766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TIER 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00300" y="3303270"/>
            <a:ext cx="576072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Citizen Public Portal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3020" y="4135755"/>
            <a:ext cx="658368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Mobile-first web app for real-time tracking, AI assistance and document checklists.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3020" y="5233035"/>
            <a:ext cx="6583680" cy="148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Live queue &amp; crowd advisory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24/7 AI citizen assistant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Interactive document checklists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09524" y="2667476"/>
            <a:ext cx="7558088" cy="4334828"/>
            <a:chOff x="0" y="0"/>
            <a:chExt cx="10077450" cy="57797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77450" cy="5779770"/>
            </a:xfrm>
            <a:custGeom>
              <a:avLst/>
              <a:gdLst/>
              <a:ahLst/>
              <a:cxnLst/>
              <a:rect r="r" b="b" t="t" l="l"/>
              <a:pathLst>
                <a:path h="5779770" w="10077450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9820656" y="0"/>
                  </a:lnTo>
                  <a:cubicBezTo>
                    <a:pt x="9962515" y="0"/>
                    <a:pt x="10077450" y="114935"/>
                    <a:pt x="10077450" y="256794"/>
                  </a:cubicBezTo>
                  <a:lnTo>
                    <a:pt x="10077450" y="5522976"/>
                  </a:lnTo>
                  <a:cubicBezTo>
                    <a:pt x="10077450" y="5664835"/>
                    <a:pt x="9962515" y="5779770"/>
                    <a:pt x="9820656" y="5779770"/>
                  </a:cubicBezTo>
                  <a:lnTo>
                    <a:pt x="256794" y="5779770"/>
                  </a:lnTo>
                  <a:cubicBezTo>
                    <a:pt x="114935" y="5779770"/>
                    <a:pt x="0" y="5664835"/>
                    <a:pt x="0" y="552297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391966" y="3012758"/>
            <a:ext cx="832485" cy="832485"/>
            <a:chOff x="0" y="0"/>
            <a:chExt cx="1109980" cy="11099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9980" cy="1109980"/>
            </a:xfrm>
            <a:custGeom>
              <a:avLst/>
              <a:gdLst/>
              <a:ahLst/>
              <a:cxnLst/>
              <a:rect r="r" b="b" t="t" l="l"/>
              <a:pathLst>
                <a:path h="1109980" w="1109980">
                  <a:moveTo>
                    <a:pt x="0" y="554990"/>
                  </a:moveTo>
                  <a:cubicBezTo>
                    <a:pt x="0" y="248539"/>
                    <a:pt x="248539" y="0"/>
                    <a:pt x="554990" y="0"/>
                  </a:cubicBezTo>
                  <a:cubicBezTo>
                    <a:pt x="861441" y="0"/>
                    <a:pt x="1109980" y="248539"/>
                    <a:pt x="1109980" y="554990"/>
                  </a:cubicBezTo>
                  <a:cubicBezTo>
                    <a:pt x="1109980" y="861441"/>
                    <a:pt x="861441" y="1109980"/>
                    <a:pt x="554990" y="1109980"/>
                  </a:cubicBezTo>
                  <a:cubicBezTo>
                    <a:pt x="248539" y="1109980"/>
                    <a:pt x="0" y="861441"/>
                    <a:pt x="0" y="554990"/>
                  </a:cubicBezTo>
                  <a:close/>
                </a:path>
              </a:pathLst>
            </a:custGeom>
            <a:solidFill>
              <a:srgbClr val="E0E7FF"/>
            </a:solidFill>
            <a:ln w="9525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602468" y="3223260"/>
            <a:ext cx="411480" cy="411480"/>
            <a:chOff x="0" y="0"/>
            <a:chExt cx="548640" cy="54864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494008" y="2988945"/>
            <a:ext cx="41148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4338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TIER 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94008" y="3303270"/>
            <a:ext cx="576072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Administrative &amp; Operator Terminal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96728" y="4135755"/>
            <a:ext cx="658368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Secure counter workstation for token calling, verification, transfer and analytics.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396728" y="5233035"/>
            <a:ext cx="6583680" cy="148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Token calling &amp; recall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Verification &amp; window transfer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Queue monitor &amp; analytics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524494" y="4183380"/>
            <a:ext cx="1234440" cy="1234440"/>
            <a:chOff x="0" y="0"/>
            <a:chExt cx="1645920" cy="1645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860536" y="4526280"/>
            <a:ext cx="548640" cy="548640"/>
            <a:chOff x="0" y="0"/>
            <a:chExt cx="731520" cy="73152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822960" y="7299960"/>
            <a:ext cx="82296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300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INTEGRATION HIGHLIGHTS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15816" y="7810976"/>
            <a:ext cx="5363528" cy="1385888"/>
            <a:chOff x="0" y="0"/>
            <a:chExt cx="7151370" cy="18478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51370" cy="1847850"/>
            </a:xfrm>
            <a:custGeom>
              <a:avLst/>
              <a:gdLst/>
              <a:ahLst/>
              <a:cxnLst/>
              <a:rect r="r" b="b" t="t" l="l"/>
              <a:pathLst>
                <a:path h="1847850" w="7151370">
                  <a:moveTo>
                    <a:pt x="0" y="258699"/>
                  </a:moveTo>
                  <a:cubicBezTo>
                    <a:pt x="0" y="115824"/>
                    <a:pt x="115824" y="0"/>
                    <a:pt x="258699" y="0"/>
                  </a:cubicBezTo>
                  <a:lnTo>
                    <a:pt x="6892671" y="0"/>
                  </a:lnTo>
                  <a:cubicBezTo>
                    <a:pt x="7035546" y="0"/>
                    <a:pt x="7151370" y="115824"/>
                    <a:pt x="7151370" y="258699"/>
                  </a:cubicBezTo>
                  <a:lnTo>
                    <a:pt x="7151370" y="1589151"/>
                  </a:lnTo>
                  <a:cubicBezTo>
                    <a:pt x="7151370" y="1732026"/>
                    <a:pt x="7035546" y="1847850"/>
                    <a:pt x="6892671" y="1847850"/>
                  </a:cubicBezTo>
                  <a:lnTo>
                    <a:pt x="258699" y="1847850"/>
                  </a:lnTo>
                  <a:cubicBezTo>
                    <a:pt x="115824" y="1847850"/>
                    <a:pt x="0" y="1732026"/>
                    <a:pt x="0" y="158915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161098" y="8087678"/>
            <a:ext cx="832485" cy="832485"/>
            <a:chOff x="0" y="0"/>
            <a:chExt cx="1109980" cy="11099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09980" cy="1109980"/>
            </a:xfrm>
            <a:custGeom>
              <a:avLst/>
              <a:gdLst/>
              <a:ahLst/>
              <a:cxnLst/>
              <a:rect r="r" b="b" t="t" l="l"/>
              <a:pathLst>
                <a:path h="1109980" w="1109980">
                  <a:moveTo>
                    <a:pt x="0" y="554990"/>
                  </a:moveTo>
                  <a:cubicBezTo>
                    <a:pt x="0" y="248539"/>
                    <a:pt x="248539" y="0"/>
                    <a:pt x="554990" y="0"/>
                  </a:cubicBezTo>
                  <a:cubicBezTo>
                    <a:pt x="861441" y="0"/>
                    <a:pt x="1109980" y="248539"/>
                    <a:pt x="1109980" y="554990"/>
                  </a:cubicBezTo>
                  <a:cubicBezTo>
                    <a:pt x="1109980" y="861441"/>
                    <a:pt x="861441" y="1109980"/>
                    <a:pt x="554990" y="1109980"/>
                  </a:cubicBezTo>
                  <a:cubicBezTo>
                    <a:pt x="248539" y="1109980"/>
                    <a:pt x="0" y="861441"/>
                    <a:pt x="0" y="554990"/>
                  </a:cubicBezTo>
                  <a:close/>
                </a:path>
              </a:pathLst>
            </a:custGeom>
            <a:solidFill>
              <a:srgbClr val="FEF3C7"/>
            </a:solidFill>
            <a:ln w="9525" cap="sq">
              <a:solidFill>
                <a:srgbClr val="FEF3C7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71600" y="8298180"/>
            <a:ext cx="411480" cy="411480"/>
            <a:chOff x="0" y="0"/>
            <a:chExt cx="548640" cy="54864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2263140" y="7818120"/>
            <a:ext cx="3771900" cy="1371600"/>
            <a:chOff x="0" y="0"/>
            <a:chExt cx="5029200" cy="1828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02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5029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Bilingual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English / Nepali support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459950" y="7810976"/>
            <a:ext cx="5363528" cy="1385888"/>
            <a:chOff x="0" y="0"/>
            <a:chExt cx="7151370" cy="18478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151370" cy="1847850"/>
            </a:xfrm>
            <a:custGeom>
              <a:avLst/>
              <a:gdLst/>
              <a:ahLst/>
              <a:cxnLst/>
              <a:rect r="r" b="b" t="t" l="l"/>
              <a:pathLst>
                <a:path h="1847850" w="7151370">
                  <a:moveTo>
                    <a:pt x="0" y="258699"/>
                  </a:moveTo>
                  <a:cubicBezTo>
                    <a:pt x="0" y="115824"/>
                    <a:pt x="115824" y="0"/>
                    <a:pt x="258699" y="0"/>
                  </a:cubicBezTo>
                  <a:lnTo>
                    <a:pt x="6892671" y="0"/>
                  </a:lnTo>
                  <a:cubicBezTo>
                    <a:pt x="7035546" y="0"/>
                    <a:pt x="7151370" y="115824"/>
                    <a:pt x="7151370" y="258699"/>
                  </a:cubicBezTo>
                  <a:lnTo>
                    <a:pt x="7151370" y="1589151"/>
                  </a:lnTo>
                  <a:cubicBezTo>
                    <a:pt x="7151370" y="1732026"/>
                    <a:pt x="7035546" y="1847850"/>
                    <a:pt x="6892671" y="1847850"/>
                  </a:cubicBezTo>
                  <a:lnTo>
                    <a:pt x="258699" y="1847850"/>
                  </a:lnTo>
                  <a:cubicBezTo>
                    <a:pt x="115824" y="1847850"/>
                    <a:pt x="0" y="1732026"/>
                    <a:pt x="0" y="158915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6805232" y="8087678"/>
            <a:ext cx="832485" cy="832485"/>
            <a:chOff x="0" y="0"/>
            <a:chExt cx="1109980" cy="11099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09980" cy="1109980"/>
            </a:xfrm>
            <a:custGeom>
              <a:avLst/>
              <a:gdLst/>
              <a:ahLst/>
              <a:cxnLst/>
              <a:rect r="r" b="b" t="t" l="l"/>
              <a:pathLst>
                <a:path h="1109980" w="1109980">
                  <a:moveTo>
                    <a:pt x="0" y="554990"/>
                  </a:moveTo>
                  <a:cubicBezTo>
                    <a:pt x="0" y="248539"/>
                    <a:pt x="248539" y="0"/>
                    <a:pt x="554990" y="0"/>
                  </a:cubicBezTo>
                  <a:cubicBezTo>
                    <a:pt x="861441" y="0"/>
                    <a:pt x="1109980" y="248539"/>
                    <a:pt x="1109980" y="554990"/>
                  </a:cubicBezTo>
                  <a:cubicBezTo>
                    <a:pt x="1109980" y="861441"/>
                    <a:pt x="861441" y="1109980"/>
                    <a:pt x="554990" y="1109980"/>
                  </a:cubicBezTo>
                  <a:cubicBezTo>
                    <a:pt x="248539" y="1109980"/>
                    <a:pt x="0" y="861441"/>
                    <a:pt x="0" y="554990"/>
                  </a:cubicBezTo>
                  <a:close/>
                </a:path>
              </a:pathLst>
            </a:custGeom>
            <a:solidFill>
              <a:srgbClr val="FEF3C7"/>
            </a:solidFill>
            <a:ln w="9525" cap="sq">
              <a:solidFill>
                <a:srgbClr val="FEF3C7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7015734" y="8298180"/>
            <a:ext cx="411480" cy="411480"/>
            <a:chOff x="0" y="0"/>
            <a:chExt cx="548640" cy="548640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907274" y="7818120"/>
            <a:ext cx="3771900" cy="1371600"/>
            <a:chOff x="0" y="0"/>
            <a:chExt cx="5029200" cy="1828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02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5029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Offline-resilient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Local sync keeps counters running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104084" y="7810976"/>
            <a:ext cx="5363528" cy="1385888"/>
            <a:chOff x="0" y="0"/>
            <a:chExt cx="7151370" cy="18478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151370" cy="1847850"/>
            </a:xfrm>
            <a:custGeom>
              <a:avLst/>
              <a:gdLst/>
              <a:ahLst/>
              <a:cxnLst/>
              <a:rect r="r" b="b" t="t" l="l"/>
              <a:pathLst>
                <a:path h="1847850" w="7151370">
                  <a:moveTo>
                    <a:pt x="0" y="258699"/>
                  </a:moveTo>
                  <a:cubicBezTo>
                    <a:pt x="0" y="115824"/>
                    <a:pt x="115824" y="0"/>
                    <a:pt x="258699" y="0"/>
                  </a:cubicBezTo>
                  <a:lnTo>
                    <a:pt x="6892671" y="0"/>
                  </a:lnTo>
                  <a:cubicBezTo>
                    <a:pt x="7035546" y="0"/>
                    <a:pt x="7151370" y="115824"/>
                    <a:pt x="7151370" y="258699"/>
                  </a:cubicBezTo>
                  <a:lnTo>
                    <a:pt x="7151370" y="1589151"/>
                  </a:lnTo>
                  <a:cubicBezTo>
                    <a:pt x="7151370" y="1732026"/>
                    <a:pt x="7035546" y="1847850"/>
                    <a:pt x="6892671" y="1847850"/>
                  </a:cubicBezTo>
                  <a:lnTo>
                    <a:pt x="258699" y="1847850"/>
                  </a:lnTo>
                  <a:cubicBezTo>
                    <a:pt x="115824" y="1847850"/>
                    <a:pt x="0" y="1732026"/>
                    <a:pt x="0" y="158915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2449366" y="8087678"/>
            <a:ext cx="832485" cy="832485"/>
            <a:chOff x="0" y="0"/>
            <a:chExt cx="1109980" cy="11099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09980" cy="1109980"/>
            </a:xfrm>
            <a:custGeom>
              <a:avLst/>
              <a:gdLst/>
              <a:ahLst/>
              <a:cxnLst/>
              <a:rect r="r" b="b" t="t" l="l"/>
              <a:pathLst>
                <a:path h="1109980" w="1109980">
                  <a:moveTo>
                    <a:pt x="0" y="554990"/>
                  </a:moveTo>
                  <a:cubicBezTo>
                    <a:pt x="0" y="248539"/>
                    <a:pt x="248539" y="0"/>
                    <a:pt x="554990" y="0"/>
                  </a:cubicBezTo>
                  <a:cubicBezTo>
                    <a:pt x="861441" y="0"/>
                    <a:pt x="1109980" y="248539"/>
                    <a:pt x="1109980" y="554990"/>
                  </a:cubicBezTo>
                  <a:cubicBezTo>
                    <a:pt x="1109980" y="861441"/>
                    <a:pt x="861441" y="1109980"/>
                    <a:pt x="554990" y="1109980"/>
                  </a:cubicBezTo>
                  <a:cubicBezTo>
                    <a:pt x="248539" y="1109980"/>
                    <a:pt x="0" y="861441"/>
                    <a:pt x="0" y="554990"/>
                  </a:cubicBezTo>
                  <a:close/>
                </a:path>
              </a:pathLst>
            </a:custGeom>
            <a:solidFill>
              <a:srgbClr val="FEF3C7"/>
            </a:solidFill>
            <a:ln w="9525" cap="sq">
              <a:solidFill>
                <a:srgbClr val="FEF3C7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2659868" y="8298180"/>
            <a:ext cx="411480" cy="411480"/>
            <a:chOff x="0" y="0"/>
            <a:chExt cx="548640" cy="548640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551408" y="7818120"/>
            <a:ext cx="3771900" cy="1371600"/>
            <a:chOff x="0" y="0"/>
            <a:chExt cx="5029200" cy="1828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02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5029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Accessible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for accessibility compliance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6550640" y="9608820"/>
            <a:ext cx="81838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SQMS  ·  DAO Kathmandu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5816" y="678656"/>
            <a:ext cx="4012502" cy="480632"/>
            <a:chOff x="0" y="0"/>
            <a:chExt cx="5350002" cy="6408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50002" cy="640842"/>
            </a:xfrm>
            <a:custGeom>
              <a:avLst/>
              <a:gdLst/>
              <a:ahLst/>
              <a:cxnLst/>
              <a:rect r="r" b="b" t="t" l="l"/>
              <a:pathLst>
                <a:path h="640842" w="5350002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lnTo>
                    <a:pt x="5029581" y="0"/>
                  </a:lnTo>
                  <a:cubicBezTo>
                    <a:pt x="5206492" y="0"/>
                    <a:pt x="5350002" y="143510"/>
                    <a:pt x="5350002" y="320421"/>
                  </a:cubicBezTo>
                  <a:cubicBezTo>
                    <a:pt x="5350002" y="497332"/>
                    <a:pt x="5206492" y="640842"/>
                    <a:pt x="5029581" y="640842"/>
                  </a:cubicBezTo>
                  <a:lnTo>
                    <a:pt x="320421" y="640842"/>
                  </a:ln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CCFBF1"/>
            </a:solidFill>
            <a:ln w="14288" cap="sq">
              <a:solidFill>
                <a:srgbClr val="CCFBF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685800"/>
            <a:ext cx="3998214" cy="466344"/>
            <a:chOff x="0" y="0"/>
            <a:chExt cx="5330952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30952" cy="621792"/>
            </a:xfrm>
            <a:custGeom>
              <a:avLst/>
              <a:gdLst/>
              <a:ahLst/>
              <a:cxnLst/>
              <a:rect r="r" b="b" t="t" l="l"/>
              <a:pathLst>
                <a:path h="621792" w="5330952">
                  <a:moveTo>
                    <a:pt x="0" y="0"/>
                  </a:moveTo>
                  <a:lnTo>
                    <a:pt x="5330952" y="0"/>
                  </a:lnTo>
                  <a:lnTo>
                    <a:pt x="533095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55" r="0" b="-11705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5330952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25">
                  <a:solidFill>
                    <a:srgbClr val="0F76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CITIZEN PORTAL  ·  04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5816" y="2667476"/>
            <a:ext cx="7695247" cy="1358456"/>
            <a:chOff x="0" y="0"/>
            <a:chExt cx="10260330" cy="18112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60330" cy="1811274"/>
            </a:xfrm>
            <a:custGeom>
              <a:avLst/>
              <a:gdLst/>
              <a:ahLst/>
              <a:cxnLst/>
              <a:rect r="r" b="b" t="t" l="l"/>
              <a:pathLst>
                <a:path h="1811274" w="10260330">
                  <a:moveTo>
                    <a:pt x="0" y="258699"/>
                  </a:moveTo>
                  <a:cubicBezTo>
                    <a:pt x="0" y="115824"/>
                    <a:pt x="115824" y="0"/>
                    <a:pt x="258699" y="0"/>
                  </a:cubicBezTo>
                  <a:lnTo>
                    <a:pt x="10001631" y="0"/>
                  </a:lnTo>
                  <a:cubicBezTo>
                    <a:pt x="10144506" y="0"/>
                    <a:pt x="10260330" y="115824"/>
                    <a:pt x="10260330" y="258699"/>
                  </a:cubicBezTo>
                  <a:lnTo>
                    <a:pt x="10260330" y="1552575"/>
                  </a:lnTo>
                  <a:cubicBezTo>
                    <a:pt x="10260330" y="1695450"/>
                    <a:pt x="10144506" y="1811274"/>
                    <a:pt x="10001631" y="1811274"/>
                  </a:cubicBezTo>
                  <a:lnTo>
                    <a:pt x="258699" y="1811274"/>
                  </a:lnTo>
                  <a:cubicBezTo>
                    <a:pt x="115824" y="1811274"/>
                    <a:pt x="0" y="1695450"/>
                    <a:pt x="0" y="15525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61098" y="2964752"/>
            <a:ext cx="763905" cy="763905"/>
            <a:chOff x="0" y="0"/>
            <a:chExt cx="1018540" cy="10185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8540" cy="1018540"/>
            </a:xfrm>
            <a:custGeom>
              <a:avLst/>
              <a:gdLst/>
              <a:ahLst/>
              <a:cxnLst/>
              <a:rect r="r" b="b" t="t" l="l"/>
              <a:pathLst>
                <a:path h="1018540" w="1018540">
                  <a:moveTo>
                    <a:pt x="0" y="509270"/>
                  </a:moveTo>
                  <a:cubicBezTo>
                    <a:pt x="0" y="227965"/>
                    <a:pt x="227965" y="0"/>
                    <a:pt x="509270" y="0"/>
                  </a:cubicBezTo>
                  <a:cubicBezTo>
                    <a:pt x="790575" y="0"/>
                    <a:pt x="1018540" y="227965"/>
                    <a:pt x="1018540" y="509270"/>
                  </a:cubicBezTo>
                  <a:cubicBezTo>
                    <a:pt x="1018540" y="790575"/>
                    <a:pt x="790575" y="1018540"/>
                    <a:pt x="509270" y="1018540"/>
                  </a:cubicBezTo>
                  <a:cubicBezTo>
                    <a:pt x="227965" y="1018540"/>
                    <a:pt x="0" y="790575"/>
                    <a:pt x="0" y="509270"/>
                  </a:cubicBezTo>
                  <a:close/>
                </a:path>
              </a:pathLst>
            </a:custGeom>
            <a:solidFill>
              <a:srgbClr val="CCFBF1"/>
            </a:solidFill>
            <a:ln w="9525" cap="sq">
              <a:solidFill>
                <a:srgbClr val="CCFBF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54455" y="3158109"/>
            <a:ext cx="377190" cy="377190"/>
            <a:chOff x="0" y="0"/>
            <a:chExt cx="502920" cy="50292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194560" y="2674620"/>
            <a:ext cx="6103620" cy="1344168"/>
            <a:chOff x="0" y="0"/>
            <a:chExt cx="8138160" cy="17922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3816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77" r="0" b="-3847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38160" cy="1830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token display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Token now serving vs. latest issued, in real time.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15816" y="4148804"/>
            <a:ext cx="7695247" cy="1358456"/>
            <a:chOff x="0" y="0"/>
            <a:chExt cx="10260330" cy="18112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60330" cy="1811274"/>
            </a:xfrm>
            <a:custGeom>
              <a:avLst/>
              <a:gdLst/>
              <a:ahLst/>
              <a:cxnLst/>
              <a:rect r="r" b="b" t="t" l="l"/>
              <a:pathLst>
                <a:path h="1811274" w="10260330">
                  <a:moveTo>
                    <a:pt x="0" y="258699"/>
                  </a:moveTo>
                  <a:cubicBezTo>
                    <a:pt x="0" y="115824"/>
                    <a:pt x="115824" y="0"/>
                    <a:pt x="258699" y="0"/>
                  </a:cubicBezTo>
                  <a:lnTo>
                    <a:pt x="10001631" y="0"/>
                  </a:lnTo>
                  <a:cubicBezTo>
                    <a:pt x="10144506" y="0"/>
                    <a:pt x="10260330" y="115824"/>
                    <a:pt x="10260330" y="258699"/>
                  </a:cubicBezTo>
                  <a:lnTo>
                    <a:pt x="10260330" y="1552575"/>
                  </a:lnTo>
                  <a:cubicBezTo>
                    <a:pt x="10260330" y="1695450"/>
                    <a:pt x="10144506" y="1811274"/>
                    <a:pt x="10001631" y="1811274"/>
                  </a:cubicBezTo>
                  <a:lnTo>
                    <a:pt x="258699" y="1811274"/>
                  </a:lnTo>
                  <a:cubicBezTo>
                    <a:pt x="115824" y="1811274"/>
                    <a:pt x="0" y="1695450"/>
                    <a:pt x="0" y="15525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61098" y="4446080"/>
            <a:ext cx="763905" cy="763905"/>
            <a:chOff x="0" y="0"/>
            <a:chExt cx="1018540" cy="10185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8540" cy="1018540"/>
            </a:xfrm>
            <a:custGeom>
              <a:avLst/>
              <a:gdLst/>
              <a:ahLst/>
              <a:cxnLst/>
              <a:rect r="r" b="b" t="t" l="l"/>
              <a:pathLst>
                <a:path h="1018540" w="1018540">
                  <a:moveTo>
                    <a:pt x="0" y="509270"/>
                  </a:moveTo>
                  <a:cubicBezTo>
                    <a:pt x="0" y="227965"/>
                    <a:pt x="227965" y="0"/>
                    <a:pt x="509270" y="0"/>
                  </a:cubicBezTo>
                  <a:cubicBezTo>
                    <a:pt x="790575" y="0"/>
                    <a:pt x="1018540" y="227965"/>
                    <a:pt x="1018540" y="509270"/>
                  </a:cubicBezTo>
                  <a:cubicBezTo>
                    <a:pt x="1018540" y="790575"/>
                    <a:pt x="790575" y="1018540"/>
                    <a:pt x="509270" y="1018540"/>
                  </a:cubicBezTo>
                  <a:cubicBezTo>
                    <a:pt x="227965" y="1018540"/>
                    <a:pt x="0" y="790575"/>
                    <a:pt x="0" y="509270"/>
                  </a:cubicBezTo>
                  <a:close/>
                </a:path>
              </a:pathLst>
            </a:custGeom>
            <a:solidFill>
              <a:srgbClr val="CCFBF1"/>
            </a:solidFill>
            <a:ln w="9525" cap="sq">
              <a:solidFill>
                <a:srgbClr val="CCFBF1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54455" y="4639437"/>
            <a:ext cx="377190" cy="377190"/>
            <a:chOff x="0" y="0"/>
            <a:chExt cx="502920" cy="50292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194560" y="4155948"/>
            <a:ext cx="6103620" cy="1344168"/>
            <a:chOff x="0" y="0"/>
            <a:chExt cx="8138160" cy="17922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3816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77" r="0" b="-3847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138160" cy="1830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Crowd advisory gauge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Low, Moderate, High and Very High levels.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5816" y="5630132"/>
            <a:ext cx="7695247" cy="1358456"/>
            <a:chOff x="0" y="0"/>
            <a:chExt cx="10260330" cy="181127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60330" cy="1811274"/>
            </a:xfrm>
            <a:custGeom>
              <a:avLst/>
              <a:gdLst/>
              <a:ahLst/>
              <a:cxnLst/>
              <a:rect r="r" b="b" t="t" l="l"/>
              <a:pathLst>
                <a:path h="1811274" w="10260330">
                  <a:moveTo>
                    <a:pt x="0" y="258699"/>
                  </a:moveTo>
                  <a:cubicBezTo>
                    <a:pt x="0" y="115824"/>
                    <a:pt x="115824" y="0"/>
                    <a:pt x="258699" y="0"/>
                  </a:cubicBezTo>
                  <a:lnTo>
                    <a:pt x="10001631" y="0"/>
                  </a:lnTo>
                  <a:cubicBezTo>
                    <a:pt x="10144506" y="0"/>
                    <a:pt x="10260330" y="115824"/>
                    <a:pt x="10260330" y="258699"/>
                  </a:cubicBezTo>
                  <a:lnTo>
                    <a:pt x="10260330" y="1552575"/>
                  </a:lnTo>
                  <a:cubicBezTo>
                    <a:pt x="10260330" y="1695450"/>
                    <a:pt x="10144506" y="1811274"/>
                    <a:pt x="10001631" y="1811274"/>
                  </a:cubicBezTo>
                  <a:lnTo>
                    <a:pt x="258699" y="1811274"/>
                  </a:lnTo>
                  <a:cubicBezTo>
                    <a:pt x="115824" y="1811274"/>
                    <a:pt x="0" y="1695450"/>
                    <a:pt x="0" y="15525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61098" y="5927408"/>
            <a:ext cx="763905" cy="763905"/>
            <a:chOff x="0" y="0"/>
            <a:chExt cx="1018540" cy="10185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8540" cy="1018540"/>
            </a:xfrm>
            <a:custGeom>
              <a:avLst/>
              <a:gdLst/>
              <a:ahLst/>
              <a:cxnLst/>
              <a:rect r="r" b="b" t="t" l="l"/>
              <a:pathLst>
                <a:path h="1018540" w="1018540">
                  <a:moveTo>
                    <a:pt x="0" y="509270"/>
                  </a:moveTo>
                  <a:cubicBezTo>
                    <a:pt x="0" y="227965"/>
                    <a:pt x="227965" y="0"/>
                    <a:pt x="509270" y="0"/>
                  </a:cubicBezTo>
                  <a:cubicBezTo>
                    <a:pt x="790575" y="0"/>
                    <a:pt x="1018540" y="227965"/>
                    <a:pt x="1018540" y="509270"/>
                  </a:cubicBezTo>
                  <a:cubicBezTo>
                    <a:pt x="1018540" y="790575"/>
                    <a:pt x="790575" y="1018540"/>
                    <a:pt x="509270" y="1018540"/>
                  </a:cubicBezTo>
                  <a:cubicBezTo>
                    <a:pt x="227965" y="1018540"/>
                    <a:pt x="0" y="790575"/>
                    <a:pt x="0" y="509270"/>
                  </a:cubicBezTo>
                  <a:close/>
                </a:path>
              </a:pathLst>
            </a:custGeom>
            <a:solidFill>
              <a:srgbClr val="CCFBF1"/>
            </a:solidFill>
            <a:ln w="9525" cap="sq">
              <a:solidFill>
                <a:srgbClr val="CCFBF1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54455" y="6120765"/>
            <a:ext cx="377190" cy="377190"/>
            <a:chOff x="0" y="0"/>
            <a:chExt cx="502920" cy="50292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194560" y="5637276"/>
            <a:ext cx="6103620" cy="1344168"/>
            <a:chOff x="0" y="0"/>
            <a:chExt cx="8138160" cy="179222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3816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77" r="0" b="-3847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138160" cy="1830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Wait-time &amp; room guidance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wait estimate with room direction indicators.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15816" y="7111460"/>
            <a:ext cx="7695247" cy="1358456"/>
            <a:chOff x="0" y="0"/>
            <a:chExt cx="10260330" cy="181127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60330" cy="1811274"/>
            </a:xfrm>
            <a:custGeom>
              <a:avLst/>
              <a:gdLst/>
              <a:ahLst/>
              <a:cxnLst/>
              <a:rect r="r" b="b" t="t" l="l"/>
              <a:pathLst>
                <a:path h="1811274" w="10260330">
                  <a:moveTo>
                    <a:pt x="0" y="258699"/>
                  </a:moveTo>
                  <a:cubicBezTo>
                    <a:pt x="0" y="115824"/>
                    <a:pt x="115824" y="0"/>
                    <a:pt x="258699" y="0"/>
                  </a:cubicBezTo>
                  <a:lnTo>
                    <a:pt x="10001631" y="0"/>
                  </a:lnTo>
                  <a:cubicBezTo>
                    <a:pt x="10144506" y="0"/>
                    <a:pt x="10260330" y="115824"/>
                    <a:pt x="10260330" y="258699"/>
                  </a:cubicBezTo>
                  <a:lnTo>
                    <a:pt x="10260330" y="1552575"/>
                  </a:lnTo>
                  <a:cubicBezTo>
                    <a:pt x="10260330" y="1695450"/>
                    <a:pt x="10144506" y="1811274"/>
                    <a:pt x="10001631" y="1811274"/>
                  </a:cubicBezTo>
                  <a:lnTo>
                    <a:pt x="258699" y="1811274"/>
                  </a:lnTo>
                  <a:cubicBezTo>
                    <a:pt x="115824" y="1811274"/>
                    <a:pt x="0" y="1695450"/>
                    <a:pt x="0" y="15525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161098" y="7408736"/>
            <a:ext cx="763905" cy="763905"/>
            <a:chOff x="0" y="0"/>
            <a:chExt cx="1018540" cy="10185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18540" cy="1018540"/>
            </a:xfrm>
            <a:custGeom>
              <a:avLst/>
              <a:gdLst/>
              <a:ahLst/>
              <a:cxnLst/>
              <a:rect r="r" b="b" t="t" l="l"/>
              <a:pathLst>
                <a:path h="1018540" w="1018540">
                  <a:moveTo>
                    <a:pt x="0" y="509270"/>
                  </a:moveTo>
                  <a:cubicBezTo>
                    <a:pt x="0" y="227965"/>
                    <a:pt x="227965" y="0"/>
                    <a:pt x="509270" y="0"/>
                  </a:cubicBezTo>
                  <a:cubicBezTo>
                    <a:pt x="790575" y="0"/>
                    <a:pt x="1018540" y="227965"/>
                    <a:pt x="1018540" y="509270"/>
                  </a:cubicBezTo>
                  <a:cubicBezTo>
                    <a:pt x="1018540" y="790575"/>
                    <a:pt x="790575" y="1018540"/>
                    <a:pt x="509270" y="1018540"/>
                  </a:cubicBezTo>
                  <a:cubicBezTo>
                    <a:pt x="227965" y="1018540"/>
                    <a:pt x="0" y="790575"/>
                    <a:pt x="0" y="509270"/>
                  </a:cubicBezTo>
                  <a:close/>
                </a:path>
              </a:pathLst>
            </a:custGeom>
            <a:solidFill>
              <a:srgbClr val="CCFBF1"/>
            </a:solidFill>
            <a:ln w="9525" cap="sq">
              <a:solidFill>
                <a:srgbClr val="CCFBF1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354455" y="7602093"/>
            <a:ext cx="377190" cy="377190"/>
            <a:chOff x="0" y="0"/>
            <a:chExt cx="502920" cy="502920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194560" y="7118604"/>
            <a:ext cx="6103620" cy="1344168"/>
            <a:chOff x="0" y="0"/>
            <a:chExt cx="8138160" cy="179222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38160" cy="1792224"/>
            </a:xfrm>
            <a:custGeom>
              <a:avLst/>
              <a:gdLst/>
              <a:ahLst/>
              <a:cxnLst/>
              <a:rect r="r" b="b" t="t" l="l"/>
              <a:pathLst>
                <a:path h="1792224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77" r="0" b="-3847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8138160" cy="1830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Department selector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Citizenship Services vs. National ID (NID).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777764" y="2774823"/>
            <a:ext cx="9330802" cy="5311807"/>
            <a:chOff x="0" y="0"/>
            <a:chExt cx="12658583" cy="720623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658583" cy="7206234"/>
            </a:xfrm>
            <a:custGeom>
              <a:avLst/>
              <a:gdLst/>
              <a:ahLst/>
              <a:cxnLst/>
              <a:rect r="r" b="b" t="t" l="l"/>
              <a:pathLst>
                <a:path h="7206234" w="12658583">
                  <a:moveTo>
                    <a:pt x="0" y="219964"/>
                  </a:moveTo>
                  <a:cubicBezTo>
                    <a:pt x="0" y="98552"/>
                    <a:pt x="111093" y="0"/>
                    <a:pt x="247955" y="0"/>
                  </a:cubicBezTo>
                  <a:lnTo>
                    <a:pt x="12410628" y="0"/>
                  </a:lnTo>
                  <a:cubicBezTo>
                    <a:pt x="12547633" y="0"/>
                    <a:pt x="12658583" y="98552"/>
                    <a:pt x="12658583" y="219964"/>
                  </a:cubicBezTo>
                  <a:lnTo>
                    <a:pt x="12658583" y="6986270"/>
                  </a:lnTo>
                  <a:cubicBezTo>
                    <a:pt x="12658583" y="7107809"/>
                    <a:pt x="12547490" y="7206234"/>
                    <a:pt x="12410628" y="7206234"/>
                  </a:cubicBezTo>
                  <a:lnTo>
                    <a:pt x="247955" y="7206234"/>
                  </a:lnTo>
                  <a:cubicBezTo>
                    <a:pt x="111093" y="7206234"/>
                    <a:pt x="0" y="7107682"/>
                    <a:pt x="0" y="698627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8989247" y="3483531"/>
            <a:ext cx="8907836" cy="3894392"/>
            <a:chOff x="0" y="0"/>
            <a:chExt cx="13510827" cy="59067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510828" cy="5906760"/>
            </a:xfrm>
            <a:custGeom>
              <a:avLst/>
              <a:gdLst/>
              <a:ahLst/>
              <a:cxnLst/>
              <a:rect r="r" b="b" t="t" l="l"/>
              <a:pathLst>
                <a:path h="5906760" w="13510828">
                  <a:moveTo>
                    <a:pt x="0" y="0"/>
                  </a:moveTo>
                  <a:lnTo>
                    <a:pt x="13510828" y="0"/>
                  </a:lnTo>
                  <a:lnTo>
                    <a:pt x="13510828" y="5906760"/>
                  </a:lnTo>
                  <a:lnTo>
                    <a:pt x="0" y="5906760"/>
                  </a:lnTo>
                  <a:close/>
                </a:path>
              </a:pathLst>
            </a:custGeom>
            <a:blipFill>
              <a:blip r:embed="rId8"/>
              <a:stretch>
                <a:fillRect l="-1509" t="0" r="-1509" b="0"/>
              </a:stretch>
            </a:blipFill>
            <a:ln w="19050" cap="sq">
              <a:solidFill>
                <a:srgbClr val="94A3B8"/>
              </a:solidFill>
              <a:prstDash val="dash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043035" y="8329803"/>
            <a:ext cx="567690" cy="567690"/>
            <a:chOff x="0" y="0"/>
            <a:chExt cx="756920" cy="7569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CCFBF1"/>
            </a:solidFill>
            <a:ln w="19050" cap="sq">
              <a:solidFill>
                <a:srgbClr val="CCFBF1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052560" y="8339328"/>
            <a:ext cx="548640" cy="548640"/>
            <a:chOff x="0" y="0"/>
            <a:chExt cx="73152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F76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806940" y="8270748"/>
            <a:ext cx="7653528" cy="685800"/>
            <a:chOff x="0" y="0"/>
            <a:chExt cx="10204704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204704" cy="914400"/>
            </a:xfrm>
            <a:custGeom>
              <a:avLst/>
              <a:gdLst/>
              <a:ahLst/>
              <a:cxnLst/>
              <a:rect r="r" b="b" t="t" l="l"/>
              <a:pathLst>
                <a:path h="914400" w="10204704">
                  <a:moveTo>
                    <a:pt x="0" y="0"/>
                  </a:moveTo>
                  <a:lnTo>
                    <a:pt x="10204704" y="0"/>
                  </a:lnTo>
                  <a:lnTo>
                    <a:pt x="102047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453" r="0" b="-16745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0204704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76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Outcome: </a:t>
              </a: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citizens pick when to arrive, easing lobby crowding.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822960" y="1229868"/>
            <a:ext cx="1659636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Live Queue Tracking &amp; Announcements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550640" y="9608820"/>
            <a:ext cx="81838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SQMS  ·  DAO Kathmandu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5816" y="678656"/>
            <a:ext cx="4012502" cy="480632"/>
            <a:chOff x="0" y="0"/>
            <a:chExt cx="5350002" cy="6408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50002" cy="640842"/>
            </a:xfrm>
            <a:custGeom>
              <a:avLst/>
              <a:gdLst/>
              <a:ahLst/>
              <a:cxnLst/>
              <a:rect r="r" b="b" t="t" l="l"/>
              <a:pathLst>
                <a:path h="640842" w="5350002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lnTo>
                    <a:pt x="5029581" y="0"/>
                  </a:lnTo>
                  <a:cubicBezTo>
                    <a:pt x="5206492" y="0"/>
                    <a:pt x="5350002" y="143510"/>
                    <a:pt x="5350002" y="320421"/>
                  </a:cubicBezTo>
                  <a:cubicBezTo>
                    <a:pt x="5350002" y="497332"/>
                    <a:pt x="5206492" y="640842"/>
                    <a:pt x="5029581" y="640842"/>
                  </a:cubicBezTo>
                  <a:lnTo>
                    <a:pt x="320421" y="640842"/>
                  </a:ln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CCFBF1"/>
            </a:solidFill>
            <a:ln w="14288" cap="sq">
              <a:solidFill>
                <a:srgbClr val="CCFBF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685800"/>
            <a:ext cx="3998214" cy="466344"/>
            <a:chOff x="0" y="0"/>
            <a:chExt cx="5330952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30952" cy="621792"/>
            </a:xfrm>
            <a:custGeom>
              <a:avLst/>
              <a:gdLst/>
              <a:ahLst/>
              <a:cxnLst/>
              <a:rect r="r" b="b" t="t" l="l"/>
              <a:pathLst>
                <a:path h="621792" w="5330952">
                  <a:moveTo>
                    <a:pt x="0" y="0"/>
                  </a:moveTo>
                  <a:lnTo>
                    <a:pt x="5330952" y="0"/>
                  </a:lnTo>
                  <a:lnTo>
                    <a:pt x="533095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55" r="0" b="-11705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5330952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25">
                  <a:solidFill>
                    <a:srgbClr val="0F76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CITIZEN PORTAL  ·  05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5816" y="2667476"/>
            <a:ext cx="7695247" cy="1660208"/>
            <a:chOff x="0" y="0"/>
            <a:chExt cx="10260330" cy="22136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6033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260330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02012" y="0"/>
                  </a:lnTo>
                  <a:cubicBezTo>
                    <a:pt x="10144760" y="0"/>
                    <a:pt x="10260330" y="115570"/>
                    <a:pt x="10260330" y="258318"/>
                  </a:cubicBezTo>
                  <a:lnTo>
                    <a:pt x="10260330" y="1955292"/>
                  </a:lnTo>
                  <a:cubicBezTo>
                    <a:pt x="10260330" y="2097913"/>
                    <a:pt x="10144761" y="2213610"/>
                    <a:pt x="10002012" y="2213610"/>
                  </a:cubicBezTo>
                  <a:lnTo>
                    <a:pt x="258318" y="2213610"/>
                  </a:lnTo>
                  <a:cubicBezTo>
                    <a:pt x="115570" y="2213610"/>
                    <a:pt x="0" y="2098040"/>
                    <a:pt x="0" y="195529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61098" y="3115628"/>
            <a:ext cx="763905" cy="763905"/>
            <a:chOff x="0" y="0"/>
            <a:chExt cx="1018540" cy="10185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8540" cy="1018540"/>
            </a:xfrm>
            <a:custGeom>
              <a:avLst/>
              <a:gdLst/>
              <a:ahLst/>
              <a:cxnLst/>
              <a:rect r="r" b="b" t="t" l="l"/>
              <a:pathLst>
                <a:path h="1018540" w="1018540">
                  <a:moveTo>
                    <a:pt x="0" y="509270"/>
                  </a:moveTo>
                  <a:cubicBezTo>
                    <a:pt x="0" y="227965"/>
                    <a:pt x="227965" y="0"/>
                    <a:pt x="509270" y="0"/>
                  </a:cubicBezTo>
                  <a:cubicBezTo>
                    <a:pt x="790575" y="0"/>
                    <a:pt x="1018540" y="227965"/>
                    <a:pt x="1018540" y="509270"/>
                  </a:cubicBezTo>
                  <a:cubicBezTo>
                    <a:pt x="1018540" y="790575"/>
                    <a:pt x="790575" y="1018540"/>
                    <a:pt x="509270" y="1018540"/>
                  </a:cubicBezTo>
                  <a:cubicBezTo>
                    <a:pt x="227965" y="1018540"/>
                    <a:pt x="0" y="790575"/>
                    <a:pt x="0" y="509270"/>
                  </a:cubicBezTo>
                  <a:close/>
                </a:path>
              </a:pathLst>
            </a:custGeom>
            <a:solidFill>
              <a:srgbClr val="CCFBF1"/>
            </a:solidFill>
            <a:ln w="9525" cap="sq">
              <a:solidFill>
                <a:srgbClr val="CCFBF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54455" y="3308985"/>
            <a:ext cx="377190" cy="377190"/>
            <a:chOff x="0" y="0"/>
            <a:chExt cx="502920" cy="50292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194560" y="2674620"/>
            <a:ext cx="6103620" cy="1645920"/>
            <a:chOff x="0" y="0"/>
            <a:chExt cx="8138160" cy="2194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38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194" r="0" b="-5719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381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Dynamic document checklist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Descent, naturalized and marriage-based citizenship.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15816" y="4519136"/>
            <a:ext cx="7695247" cy="1660208"/>
            <a:chOff x="0" y="0"/>
            <a:chExt cx="10260330" cy="22136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6033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260330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02012" y="0"/>
                  </a:lnTo>
                  <a:cubicBezTo>
                    <a:pt x="10144760" y="0"/>
                    <a:pt x="10260330" y="115570"/>
                    <a:pt x="10260330" y="258318"/>
                  </a:cubicBezTo>
                  <a:lnTo>
                    <a:pt x="10260330" y="1955292"/>
                  </a:lnTo>
                  <a:cubicBezTo>
                    <a:pt x="10260330" y="2097913"/>
                    <a:pt x="10144761" y="2213610"/>
                    <a:pt x="10002012" y="2213610"/>
                  </a:cubicBezTo>
                  <a:lnTo>
                    <a:pt x="258318" y="2213610"/>
                  </a:lnTo>
                  <a:cubicBezTo>
                    <a:pt x="115570" y="2213610"/>
                    <a:pt x="0" y="2098040"/>
                    <a:pt x="0" y="195529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61098" y="4967288"/>
            <a:ext cx="763905" cy="763905"/>
            <a:chOff x="0" y="0"/>
            <a:chExt cx="1018540" cy="10185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8540" cy="1018540"/>
            </a:xfrm>
            <a:custGeom>
              <a:avLst/>
              <a:gdLst/>
              <a:ahLst/>
              <a:cxnLst/>
              <a:rect r="r" b="b" t="t" l="l"/>
              <a:pathLst>
                <a:path h="1018540" w="1018540">
                  <a:moveTo>
                    <a:pt x="0" y="509270"/>
                  </a:moveTo>
                  <a:cubicBezTo>
                    <a:pt x="0" y="227965"/>
                    <a:pt x="227965" y="0"/>
                    <a:pt x="509270" y="0"/>
                  </a:cubicBezTo>
                  <a:cubicBezTo>
                    <a:pt x="790575" y="0"/>
                    <a:pt x="1018540" y="227965"/>
                    <a:pt x="1018540" y="509270"/>
                  </a:cubicBezTo>
                  <a:cubicBezTo>
                    <a:pt x="1018540" y="790575"/>
                    <a:pt x="790575" y="1018540"/>
                    <a:pt x="509270" y="1018540"/>
                  </a:cubicBezTo>
                  <a:cubicBezTo>
                    <a:pt x="227965" y="1018540"/>
                    <a:pt x="0" y="790575"/>
                    <a:pt x="0" y="509270"/>
                  </a:cubicBezTo>
                  <a:close/>
                </a:path>
              </a:pathLst>
            </a:custGeom>
            <a:solidFill>
              <a:srgbClr val="CCFBF1"/>
            </a:solidFill>
            <a:ln w="9525" cap="sq">
              <a:solidFill>
                <a:srgbClr val="CCFBF1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54455" y="5160645"/>
            <a:ext cx="377190" cy="377190"/>
            <a:chOff x="0" y="0"/>
            <a:chExt cx="502920" cy="50292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194560" y="4526280"/>
            <a:ext cx="6103620" cy="1645920"/>
            <a:chOff x="0" y="0"/>
            <a:chExt cx="8138160" cy="2194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38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57" r="0" b="-2225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1381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Accessibility toolbar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Screen reader, high contrast, dyslexic font, text scaling, pause motion.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5816" y="6370796"/>
            <a:ext cx="7695247" cy="1660208"/>
            <a:chOff x="0" y="0"/>
            <a:chExt cx="10260330" cy="22136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6033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260330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02012" y="0"/>
                  </a:lnTo>
                  <a:cubicBezTo>
                    <a:pt x="10144760" y="0"/>
                    <a:pt x="10260330" y="115570"/>
                    <a:pt x="10260330" y="258318"/>
                  </a:cubicBezTo>
                  <a:lnTo>
                    <a:pt x="10260330" y="1955292"/>
                  </a:lnTo>
                  <a:cubicBezTo>
                    <a:pt x="10260330" y="2097913"/>
                    <a:pt x="10144761" y="2213610"/>
                    <a:pt x="10002012" y="2213610"/>
                  </a:cubicBezTo>
                  <a:lnTo>
                    <a:pt x="258318" y="2213610"/>
                  </a:lnTo>
                  <a:cubicBezTo>
                    <a:pt x="115570" y="2213610"/>
                    <a:pt x="0" y="2098040"/>
                    <a:pt x="0" y="195529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61098" y="6818947"/>
            <a:ext cx="763905" cy="763905"/>
            <a:chOff x="0" y="0"/>
            <a:chExt cx="1018540" cy="10185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8540" cy="1018540"/>
            </a:xfrm>
            <a:custGeom>
              <a:avLst/>
              <a:gdLst/>
              <a:ahLst/>
              <a:cxnLst/>
              <a:rect r="r" b="b" t="t" l="l"/>
              <a:pathLst>
                <a:path h="1018540" w="1018540">
                  <a:moveTo>
                    <a:pt x="0" y="509270"/>
                  </a:moveTo>
                  <a:cubicBezTo>
                    <a:pt x="0" y="227965"/>
                    <a:pt x="227965" y="0"/>
                    <a:pt x="509270" y="0"/>
                  </a:cubicBezTo>
                  <a:cubicBezTo>
                    <a:pt x="790575" y="0"/>
                    <a:pt x="1018540" y="227965"/>
                    <a:pt x="1018540" y="509270"/>
                  </a:cubicBezTo>
                  <a:cubicBezTo>
                    <a:pt x="1018540" y="790575"/>
                    <a:pt x="790575" y="1018540"/>
                    <a:pt x="509270" y="1018540"/>
                  </a:cubicBezTo>
                  <a:cubicBezTo>
                    <a:pt x="227965" y="1018540"/>
                    <a:pt x="0" y="790575"/>
                    <a:pt x="0" y="509270"/>
                  </a:cubicBezTo>
                  <a:close/>
                </a:path>
              </a:pathLst>
            </a:custGeom>
            <a:solidFill>
              <a:srgbClr val="CCFBF1"/>
            </a:solidFill>
            <a:ln w="9525" cap="sq">
              <a:solidFill>
                <a:srgbClr val="CCFBF1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54455" y="7012305"/>
            <a:ext cx="377190" cy="377190"/>
            <a:chOff x="0" y="0"/>
            <a:chExt cx="502920" cy="50292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194560" y="6377940"/>
            <a:ext cx="6103620" cy="1645920"/>
            <a:chOff x="0" y="0"/>
            <a:chExt cx="8138160" cy="21945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38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57" r="0" b="-2225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1381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English / Nepali switcher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One-click language change across the portal.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43035" y="8329803"/>
            <a:ext cx="567690" cy="567690"/>
            <a:chOff x="0" y="0"/>
            <a:chExt cx="756920" cy="756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CCFBF1"/>
            </a:solidFill>
            <a:ln w="19050" cap="sq">
              <a:solidFill>
                <a:srgbClr val="CCFBF1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052560" y="8339328"/>
            <a:ext cx="548640" cy="548640"/>
            <a:chOff x="0" y="0"/>
            <a:chExt cx="7315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F76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806940" y="8270748"/>
            <a:ext cx="7653528" cy="685800"/>
            <a:chOff x="0" y="0"/>
            <a:chExt cx="10204704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04704" cy="914400"/>
            </a:xfrm>
            <a:custGeom>
              <a:avLst/>
              <a:gdLst/>
              <a:ahLst/>
              <a:cxnLst/>
              <a:rect r="r" b="b" t="t" l="l"/>
              <a:pathLst>
                <a:path h="914400" w="10204704">
                  <a:moveTo>
                    <a:pt x="0" y="0"/>
                  </a:moveTo>
                  <a:lnTo>
                    <a:pt x="10204704" y="0"/>
                  </a:lnTo>
                  <a:lnTo>
                    <a:pt x="102047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453" r="0" b="-16745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204704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76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Outcome: </a:t>
              </a: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citizens arrive prepared and every citizen can use it.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8977789" y="2822941"/>
            <a:ext cx="8526103" cy="4929153"/>
          </a:xfrm>
          <a:custGeom>
            <a:avLst/>
            <a:gdLst/>
            <a:ahLst/>
            <a:cxnLst/>
            <a:rect r="r" b="b" t="t" l="l"/>
            <a:pathLst>
              <a:path h="4929153" w="8526103">
                <a:moveTo>
                  <a:pt x="0" y="0"/>
                </a:moveTo>
                <a:lnTo>
                  <a:pt x="8526103" y="0"/>
                </a:lnTo>
                <a:lnTo>
                  <a:pt x="8526103" y="4929154"/>
                </a:lnTo>
                <a:lnTo>
                  <a:pt x="0" y="49291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822960" y="1229868"/>
            <a:ext cx="1659636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Interactive Checklist &amp; Accessibility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550640" y="9608820"/>
            <a:ext cx="81838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SQMS  ·  DAO Kathmandu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5816" y="678656"/>
            <a:ext cx="4012502" cy="480632"/>
            <a:chOff x="0" y="0"/>
            <a:chExt cx="5350002" cy="6408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50002" cy="640842"/>
            </a:xfrm>
            <a:custGeom>
              <a:avLst/>
              <a:gdLst/>
              <a:ahLst/>
              <a:cxnLst/>
              <a:rect r="r" b="b" t="t" l="l"/>
              <a:pathLst>
                <a:path h="640842" w="5350002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lnTo>
                    <a:pt x="5029581" y="0"/>
                  </a:lnTo>
                  <a:cubicBezTo>
                    <a:pt x="5206492" y="0"/>
                    <a:pt x="5350002" y="143510"/>
                    <a:pt x="5350002" y="320421"/>
                  </a:cubicBezTo>
                  <a:cubicBezTo>
                    <a:pt x="5350002" y="497332"/>
                    <a:pt x="5206492" y="640842"/>
                    <a:pt x="5029581" y="640842"/>
                  </a:cubicBezTo>
                  <a:lnTo>
                    <a:pt x="320421" y="640842"/>
                  </a:ln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CCFBF1"/>
            </a:solidFill>
            <a:ln w="14288" cap="sq">
              <a:solidFill>
                <a:srgbClr val="CCFBF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685800"/>
            <a:ext cx="3998214" cy="466344"/>
            <a:chOff x="0" y="0"/>
            <a:chExt cx="5330952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30952" cy="621792"/>
            </a:xfrm>
            <a:custGeom>
              <a:avLst/>
              <a:gdLst/>
              <a:ahLst/>
              <a:cxnLst/>
              <a:rect r="r" b="b" t="t" l="l"/>
              <a:pathLst>
                <a:path h="621792" w="5330952">
                  <a:moveTo>
                    <a:pt x="0" y="0"/>
                  </a:moveTo>
                  <a:lnTo>
                    <a:pt x="5330952" y="0"/>
                  </a:lnTo>
                  <a:lnTo>
                    <a:pt x="533095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55" r="0" b="-11705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5330952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25">
                  <a:solidFill>
                    <a:srgbClr val="0F76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CITIZEN PORTAL  ·  06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5816" y="2667476"/>
            <a:ext cx="7695247" cy="1660208"/>
            <a:chOff x="0" y="0"/>
            <a:chExt cx="10260330" cy="22136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6033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260330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02012" y="0"/>
                  </a:lnTo>
                  <a:cubicBezTo>
                    <a:pt x="10144760" y="0"/>
                    <a:pt x="10260330" y="115570"/>
                    <a:pt x="10260330" y="258318"/>
                  </a:cubicBezTo>
                  <a:lnTo>
                    <a:pt x="10260330" y="1955292"/>
                  </a:lnTo>
                  <a:cubicBezTo>
                    <a:pt x="10260330" y="2097913"/>
                    <a:pt x="10144761" y="2213610"/>
                    <a:pt x="10002012" y="2213610"/>
                  </a:cubicBezTo>
                  <a:lnTo>
                    <a:pt x="258318" y="2213610"/>
                  </a:lnTo>
                  <a:cubicBezTo>
                    <a:pt x="115570" y="2213610"/>
                    <a:pt x="0" y="2098040"/>
                    <a:pt x="0" y="195529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61098" y="3115628"/>
            <a:ext cx="763905" cy="763905"/>
            <a:chOff x="0" y="0"/>
            <a:chExt cx="1018540" cy="10185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8540" cy="1018540"/>
            </a:xfrm>
            <a:custGeom>
              <a:avLst/>
              <a:gdLst/>
              <a:ahLst/>
              <a:cxnLst/>
              <a:rect r="r" b="b" t="t" l="l"/>
              <a:pathLst>
                <a:path h="1018540" w="1018540">
                  <a:moveTo>
                    <a:pt x="0" y="509270"/>
                  </a:moveTo>
                  <a:cubicBezTo>
                    <a:pt x="0" y="227965"/>
                    <a:pt x="227965" y="0"/>
                    <a:pt x="509270" y="0"/>
                  </a:cubicBezTo>
                  <a:cubicBezTo>
                    <a:pt x="790575" y="0"/>
                    <a:pt x="1018540" y="227965"/>
                    <a:pt x="1018540" y="509270"/>
                  </a:cubicBezTo>
                  <a:cubicBezTo>
                    <a:pt x="1018540" y="790575"/>
                    <a:pt x="790575" y="1018540"/>
                    <a:pt x="509270" y="1018540"/>
                  </a:cubicBezTo>
                  <a:cubicBezTo>
                    <a:pt x="227965" y="1018540"/>
                    <a:pt x="0" y="790575"/>
                    <a:pt x="0" y="509270"/>
                  </a:cubicBezTo>
                  <a:close/>
                </a:path>
              </a:pathLst>
            </a:custGeom>
            <a:solidFill>
              <a:srgbClr val="CCFBF1"/>
            </a:solidFill>
            <a:ln w="9525" cap="sq">
              <a:solidFill>
                <a:srgbClr val="CCFBF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54455" y="3308985"/>
            <a:ext cx="377190" cy="377190"/>
            <a:chOff x="0" y="0"/>
            <a:chExt cx="502920" cy="50292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194560" y="2674620"/>
            <a:ext cx="6103620" cy="1645920"/>
            <a:chOff x="0" y="0"/>
            <a:chExt cx="8138160" cy="2194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38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57" r="0" b="-2225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381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Rule-based + AI knowledge base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Answers on DAO services and circulars, any time.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15816" y="4519136"/>
            <a:ext cx="7695247" cy="1660208"/>
            <a:chOff x="0" y="0"/>
            <a:chExt cx="10260330" cy="22136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6033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260330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02012" y="0"/>
                  </a:lnTo>
                  <a:cubicBezTo>
                    <a:pt x="10144760" y="0"/>
                    <a:pt x="10260330" y="115570"/>
                    <a:pt x="10260330" y="258318"/>
                  </a:cubicBezTo>
                  <a:lnTo>
                    <a:pt x="10260330" y="1955292"/>
                  </a:lnTo>
                  <a:cubicBezTo>
                    <a:pt x="10260330" y="2097913"/>
                    <a:pt x="10144761" y="2213610"/>
                    <a:pt x="10002012" y="2213610"/>
                  </a:cubicBezTo>
                  <a:lnTo>
                    <a:pt x="258318" y="2213610"/>
                  </a:lnTo>
                  <a:cubicBezTo>
                    <a:pt x="115570" y="2213610"/>
                    <a:pt x="0" y="2098040"/>
                    <a:pt x="0" y="195529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61098" y="4967288"/>
            <a:ext cx="763905" cy="763905"/>
            <a:chOff x="0" y="0"/>
            <a:chExt cx="1018540" cy="10185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8540" cy="1018540"/>
            </a:xfrm>
            <a:custGeom>
              <a:avLst/>
              <a:gdLst/>
              <a:ahLst/>
              <a:cxnLst/>
              <a:rect r="r" b="b" t="t" l="l"/>
              <a:pathLst>
                <a:path h="1018540" w="1018540">
                  <a:moveTo>
                    <a:pt x="0" y="509270"/>
                  </a:moveTo>
                  <a:cubicBezTo>
                    <a:pt x="0" y="227965"/>
                    <a:pt x="227965" y="0"/>
                    <a:pt x="509270" y="0"/>
                  </a:cubicBezTo>
                  <a:cubicBezTo>
                    <a:pt x="790575" y="0"/>
                    <a:pt x="1018540" y="227965"/>
                    <a:pt x="1018540" y="509270"/>
                  </a:cubicBezTo>
                  <a:cubicBezTo>
                    <a:pt x="1018540" y="790575"/>
                    <a:pt x="790575" y="1018540"/>
                    <a:pt x="509270" y="1018540"/>
                  </a:cubicBezTo>
                  <a:cubicBezTo>
                    <a:pt x="227965" y="1018540"/>
                    <a:pt x="0" y="790575"/>
                    <a:pt x="0" y="509270"/>
                  </a:cubicBezTo>
                  <a:close/>
                </a:path>
              </a:pathLst>
            </a:custGeom>
            <a:solidFill>
              <a:srgbClr val="CCFBF1"/>
            </a:solidFill>
            <a:ln w="9525" cap="sq">
              <a:solidFill>
                <a:srgbClr val="CCFBF1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54455" y="5160645"/>
            <a:ext cx="377190" cy="377190"/>
            <a:chOff x="0" y="0"/>
            <a:chExt cx="502920" cy="50292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194560" y="4526280"/>
            <a:ext cx="6103620" cy="1645920"/>
            <a:chOff x="0" y="0"/>
            <a:chExt cx="8138160" cy="2194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38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57" r="0" b="-2225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1381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suggestion chips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Instant answers: fees, hours, documents, lost certificates.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5816" y="6370796"/>
            <a:ext cx="7695247" cy="1660208"/>
            <a:chOff x="0" y="0"/>
            <a:chExt cx="10260330" cy="22136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6033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260330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02012" y="0"/>
                  </a:lnTo>
                  <a:cubicBezTo>
                    <a:pt x="10144760" y="0"/>
                    <a:pt x="10260330" y="115570"/>
                    <a:pt x="10260330" y="258318"/>
                  </a:cubicBezTo>
                  <a:lnTo>
                    <a:pt x="10260330" y="1955292"/>
                  </a:lnTo>
                  <a:cubicBezTo>
                    <a:pt x="10260330" y="2097913"/>
                    <a:pt x="10144761" y="2213610"/>
                    <a:pt x="10002012" y="2213610"/>
                  </a:cubicBezTo>
                  <a:lnTo>
                    <a:pt x="258318" y="2213610"/>
                  </a:lnTo>
                  <a:cubicBezTo>
                    <a:pt x="115570" y="2213610"/>
                    <a:pt x="0" y="2098040"/>
                    <a:pt x="0" y="195529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61098" y="6818947"/>
            <a:ext cx="763905" cy="763905"/>
            <a:chOff x="0" y="0"/>
            <a:chExt cx="1018540" cy="10185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8540" cy="1018540"/>
            </a:xfrm>
            <a:custGeom>
              <a:avLst/>
              <a:gdLst/>
              <a:ahLst/>
              <a:cxnLst/>
              <a:rect r="r" b="b" t="t" l="l"/>
              <a:pathLst>
                <a:path h="1018540" w="1018540">
                  <a:moveTo>
                    <a:pt x="0" y="509270"/>
                  </a:moveTo>
                  <a:cubicBezTo>
                    <a:pt x="0" y="227965"/>
                    <a:pt x="227965" y="0"/>
                    <a:pt x="509270" y="0"/>
                  </a:cubicBezTo>
                  <a:cubicBezTo>
                    <a:pt x="790575" y="0"/>
                    <a:pt x="1018540" y="227965"/>
                    <a:pt x="1018540" y="509270"/>
                  </a:cubicBezTo>
                  <a:cubicBezTo>
                    <a:pt x="1018540" y="790575"/>
                    <a:pt x="790575" y="1018540"/>
                    <a:pt x="509270" y="1018540"/>
                  </a:cubicBezTo>
                  <a:cubicBezTo>
                    <a:pt x="227965" y="1018540"/>
                    <a:pt x="0" y="790575"/>
                    <a:pt x="0" y="509270"/>
                  </a:cubicBezTo>
                  <a:close/>
                </a:path>
              </a:pathLst>
            </a:custGeom>
            <a:solidFill>
              <a:srgbClr val="CCFBF1"/>
            </a:solidFill>
            <a:ln w="9525" cap="sq">
              <a:solidFill>
                <a:srgbClr val="CCFBF1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54455" y="7012305"/>
            <a:ext cx="377190" cy="377190"/>
            <a:chOff x="0" y="0"/>
            <a:chExt cx="502920" cy="50292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194560" y="6377940"/>
            <a:ext cx="6103620" cy="1645920"/>
            <a:chOff x="0" y="0"/>
            <a:chExt cx="8138160" cy="21945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38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57" r="0" b="-2225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1381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Public inquiries wall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Citizen questions with administrative reply escalation.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43035" y="8329803"/>
            <a:ext cx="567690" cy="567690"/>
            <a:chOff x="0" y="0"/>
            <a:chExt cx="756920" cy="756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CCFBF1"/>
            </a:solidFill>
            <a:ln w="19050" cap="sq">
              <a:solidFill>
                <a:srgbClr val="CCFBF1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052560" y="8339328"/>
            <a:ext cx="548640" cy="548640"/>
            <a:chOff x="0" y="0"/>
            <a:chExt cx="7315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F76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806940" y="8270748"/>
            <a:ext cx="7653528" cy="685800"/>
            <a:chOff x="0" y="0"/>
            <a:chExt cx="10204704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04704" cy="914400"/>
            </a:xfrm>
            <a:custGeom>
              <a:avLst/>
              <a:gdLst/>
              <a:ahLst/>
              <a:cxnLst/>
              <a:rect r="r" b="b" t="t" l="l"/>
              <a:pathLst>
                <a:path h="914400" w="10204704">
                  <a:moveTo>
                    <a:pt x="0" y="0"/>
                  </a:moveTo>
                  <a:lnTo>
                    <a:pt x="10204704" y="0"/>
                  </a:lnTo>
                  <a:lnTo>
                    <a:pt x="102047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453" r="0" b="-16745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204704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76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Outcome: </a:t>
              </a: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routine questions are answered before the counter.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8777764" y="3026790"/>
            <a:ext cx="8902652" cy="4267709"/>
          </a:xfrm>
          <a:custGeom>
            <a:avLst/>
            <a:gdLst/>
            <a:ahLst/>
            <a:cxnLst/>
            <a:rect r="r" b="b" t="t" l="l"/>
            <a:pathLst>
              <a:path h="4267709" w="8902652">
                <a:moveTo>
                  <a:pt x="0" y="0"/>
                </a:moveTo>
                <a:lnTo>
                  <a:pt x="8902652" y="0"/>
                </a:lnTo>
                <a:lnTo>
                  <a:pt x="8902652" y="4267710"/>
                </a:lnTo>
                <a:lnTo>
                  <a:pt x="0" y="42677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822960" y="1229868"/>
            <a:ext cx="1659636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24/7 AI Citizen Assistant &amp; Inquiries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550640" y="9608820"/>
            <a:ext cx="81838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SQMS  ·  DAO Kathmandu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5816" y="678656"/>
            <a:ext cx="3697034" cy="480632"/>
            <a:chOff x="0" y="0"/>
            <a:chExt cx="4929378" cy="6408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29378" cy="640842"/>
            </a:xfrm>
            <a:custGeom>
              <a:avLst/>
              <a:gdLst/>
              <a:ahLst/>
              <a:cxnLst/>
              <a:rect r="r" b="b" t="t" l="l"/>
              <a:pathLst>
                <a:path h="640842" w="4929378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lnTo>
                    <a:pt x="4608957" y="0"/>
                  </a:lnTo>
                  <a:cubicBezTo>
                    <a:pt x="4785868" y="0"/>
                    <a:pt x="4929378" y="143510"/>
                    <a:pt x="4929378" y="320421"/>
                  </a:cubicBezTo>
                  <a:cubicBezTo>
                    <a:pt x="4929378" y="497332"/>
                    <a:pt x="4785868" y="640842"/>
                    <a:pt x="4608957" y="640842"/>
                  </a:cubicBezTo>
                  <a:lnTo>
                    <a:pt x="320421" y="640842"/>
                  </a:ln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E0E7FF"/>
            </a:solidFill>
            <a:ln w="14288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685800"/>
            <a:ext cx="3682746" cy="466344"/>
            <a:chOff x="0" y="0"/>
            <a:chExt cx="4910328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10328" cy="621792"/>
            </a:xfrm>
            <a:custGeom>
              <a:avLst/>
              <a:gdLst/>
              <a:ahLst/>
              <a:cxnLst/>
              <a:rect r="r" b="b" t="t" l="l"/>
              <a:pathLst>
                <a:path h="621792" w="4910328">
                  <a:moveTo>
                    <a:pt x="0" y="0"/>
                  </a:moveTo>
                  <a:lnTo>
                    <a:pt x="4910328" y="0"/>
                  </a:lnTo>
                  <a:lnTo>
                    <a:pt x="491032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874" r="0" b="-10387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910328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25">
                  <a:solidFill>
                    <a:srgbClr val="4338C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 PORTAL  ·  07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5816" y="2667476"/>
            <a:ext cx="7695247" cy="1660208"/>
            <a:chOff x="0" y="0"/>
            <a:chExt cx="10260330" cy="22136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6033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260330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02012" y="0"/>
                  </a:lnTo>
                  <a:cubicBezTo>
                    <a:pt x="10144760" y="0"/>
                    <a:pt x="10260330" y="115570"/>
                    <a:pt x="10260330" y="258318"/>
                  </a:cubicBezTo>
                  <a:lnTo>
                    <a:pt x="10260330" y="1955292"/>
                  </a:lnTo>
                  <a:cubicBezTo>
                    <a:pt x="10260330" y="2097913"/>
                    <a:pt x="10144761" y="2213610"/>
                    <a:pt x="10002012" y="2213610"/>
                  </a:cubicBezTo>
                  <a:lnTo>
                    <a:pt x="258318" y="2213610"/>
                  </a:lnTo>
                  <a:cubicBezTo>
                    <a:pt x="115570" y="2213610"/>
                    <a:pt x="0" y="2098040"/>
                    <a:pt x="0" y="195529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61098" y="3115628"/>
            <a:ext cx="763905" cy="763905"/>
            <a:chOff x="0" y="0"/>
            <a:chExt cx="1018540" cy="10185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8540" cy="1018540"/>
            </a:xfrm>
            <a:custGeom>
              <a:avLst/>
              <a:gdLst/>
              <a:ahLst/>
              <a:cxnLst/>
              <a:rect r="r" b="b" t="t" l="l"/>
              <a:pathLst>
                <a:path h="1018540" w="1018540">
                  <a:moveTo>
                    <a:pt x="0" y="509270"/>
                  </a:moveTo>
                  <a:cubicBezTo>
                    <a:pt x="0" y="227965"/>
                    <a:pt x="227965" y="0"/>
                    <a:pt x="509270" y="0"/>
                  </a:cubicBezTo>
                  <a:cubicBezTo>
                    <a:pt x="790575" y="0"/>
                    <a:pt x="1018540" y="227965"/>
                    <a:pt x="1018540" y="509270"/>
                  </a:cubicBezTo>
                  <a:cubicBezTo>
                    <a:pt x="1018540" y="790575"/>
                    <a:pt x="790575" y="1018540"/>
                    <a:pt x="509270" y="1018540"/>
                  </a:cubicBezTo>
                  <a:cubicBezTo>
                    <a:pt x="227965" y="1018540"/>
                    <a:pt x="0" y="790575"/>
                    <a:pt x="0" y="509270"/>
                  </a:cubicBezTo>
                  <a:close/>
                </a:path>
              </a:pathLst>
            </a:custGeom>
            <a:solidFill>
              <a:srgbClr val="E0E7FF"/>
            </a:solidFill>
            <a:ln w="9525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54455" y="3308985"/>
            <a:ext cx="377190" cy="377190"/>
            <a:chOff x="0" y="0"/>
            <a:chExt cx="502920" cy="50292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194560" y="2674620"/>
            <a:ext cx="6103620" cy="1645920"/>
            <a:chOff x="0" y="0"/>
            <a:chExt cx="8138160" cy="2194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38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57" r="0" b="-2225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381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Role-based departments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Citizenship Division and NID Division kept separate.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15816" y="4519136"/>
            <a:ext cx="7695247" cy="1660208"/>
            <a:chOff x="0" y="0"/>
            <a:chExt cx="10260330" cy="22136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6033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260330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02012" y="0"/>
                  </a:lnTo>
                  <a:cubicBezTo>
                    <a:pt x="10144760" y="0"/>
                    <a:pt x="10260330" y="115570"/>
                    <a:pt x="10260330" y="258318"/>
                  </a:cubicBezTo>
                  <a:lnTo>
                    <a:pt x="10260330" y="1955292"/>
                  </a:lnTo>
                  <a:cubicBezTo>
                    <a:pt x="10260330" y="2097913"/>
                    <a:pt x="10144761" y="2213610"/>
                    <a:pt x="10002012" y="2213610"/>
                  </a:cubicBezTo>
                  <a:lnTo>
                    <a:pt x="258318" y="2213610"/>
                  </a:lnTo>
                  <a:cubicBezTo>
                    <a:pt x="115570" y="2213610"/>
                    <a:pt x="0" y="2098040"/>
                    <a:pt x="0" y="195529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61098" y="4967288"/>
            <a:ext cx="763905" cy="763905"/>
            <a:chOff x="0" y="0"/>
            <a:chExt cx="1018540" cy="10185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8540" cy="1018540"/>
            </a:xfrm>
            <a:custGeom>
              <a:avLst/>
              <a:gdLst/>
              <a:ahLst/>
              <a:cxnLst/>
              <a:rect r="r" b="b" t="t" l="l"/>
              <a:pathLst>
                <a:path h="1018540" w="1018540">
                  <a:moveTo>
                    <a:pt x="0" y="509270"/>
                  </a:moveTo>
                  <a:cubicBezTo>
                    <a:pt x="0" y="227965"/>
                    <a:pt x="227965" y="0"/>
                    <a:pt x="509270" y="0"/>
                  </a:cubicBezTo>
                  <a:cubicBezTo>
                    <a:pt x="790575" y="0"/>
                    <a:pt x="1018540" y="227965"/>
                    <a:pt x="1018540" y="509270"/>
                  </a:cubicBezTo>
                  <a:cubicBezTo>
                    <a:pt x="1018540" y="790575"/>
                    <a:pt x="790575" y="1018540"/>
                    <a:pt x="509270" y="1018540"/>
                  </a:cubicBezTo>
                  <a:cubicBezTo>
                    <a:pt x="227965" y="1018540"/>
                    <a:pt x="0" y="790575"/>
                    <a:pt x="0" y="509270"/>
                  </a:cubicBezTo>
                  <a:close/>
                </a:path>
              </a:pathLst>
            </a:custGeom>
            <a:solidFill>
              <a:srgbClr val="E0E7FF"/>
            </a:solidFill>
            <a:ln w="9525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54455" y="5160645"/>
            <a:ext cx="377190" cy="377190"/>
            <a:chOff x="0" y="0"/>
            <a:chExt cx="502920" cy="50292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194560" y="4526280"/>
            <a:ext cx="6103620" cy="1645920"/>
            <a:chOff x="0" y="0"/>
            <a:chExt cx="8138160" cy="2194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38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57" r="0" b="-2225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1381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Captcha-protected sign-in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government sign-in viewport.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5816" y="6370796"/>
            <a:ext cx="7695247" cy="1660208"/>
            <a:chOff x="0" y="0"/>
            <a:chExt cx="10260330" cy="22136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6033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260330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02012" y="0"/>
                  </a:lnTo>
                  <a:cubicBezTo>
                    <a:pt x="10144760" y="0"/>
                    <a:pt x="10260330" y="115570"/>
                    <a:pt x="10260330" y="258318"/>
                  </a:cubicBezTo>
                  <a:lnTo>
                    <a:pt x="10260330" y="1955292"/>
                  </a:lnTo>
                  <a:cubicBezTo>
                    <a:pt x="10260330" y="2097913"/>
                    <a:pt x="10144761" y="2213610"/>
                    <a:pt x="10002012" y="2213610"/>
                  </a:cubicBezTo>
                  <a:lnTo>
                    <a:pt x="258318" y="2213610"/>
                  </a:lnTo>
                  <a:cubicBezTo>
                    <a:pt x="115570" y="2213610"/>
                    <a:pt x="0" y="2098040"/>
                    <a:pt x="0" y="195529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61098" y="6818947"/>
            <a:ext cx="763905" cy="763905"/>
            <a:chOff x="0" y="0"/>
            <a:chExt cx="1018540" cy="10185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8540" cy="1018540"/>
            </a:xfrm>
            <a:custGeom>
              <a:avLst/>
              <a:gdLst/>
              <a:ahLst/>
              <a:cxnLst/>
              <a:rect r="r" b="b" t="t" l="l"/>
              <a:pathLst>
                <a:path h="1018540" w="1018540">
                  <a:moveTo>
                    <a:pt x="0" y="509270"/>
                  </a:moveTo>
                  <a:cubicBezTo>
                    <a:pt x="0" y="227965"/>
                    <a:pt x="227965" y="0"/>
                    <a:pt x="509270" y="0"/>
                  </a:cubicBezTo>
                  <a:cubicBezTo>
                    <a:pt x="790575" y="0"/>
                    <a:pt x="1018540" y="227965"/>
                    <a:pt x="1018540" y="509270"/>
                  </a:cubicBezTo>
                  <a:cubicBezTo>
                    <a:pt x="1018540" y="790575"/>
                    <a:pt x="790575" y="1018540"/>
                    <a:pt x="509270" y="1018540"/>
                  </a:cubicBezTo>
                  <a:cubicBezTo>
                    <a:pt x="227965" y="1018540"/>
                    <a:pt x="0" y="790575"/>
                    <a:pt x="0" y="509270"/>
                  </a:cubicBezTo>
                  <a:close/>
                </a:path>
              </a:pathLst>
            </a:custGeom>
            <a:solidFill>
              <a:srgbClr val="E0E7FF"/>
            </a:solidFill>
            <a:ln w="9525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54455" y="7012305"/>
            <a:ext cx="377190" cy="377190"/>
            <a:chOff x="0" y="0"/>
            <a:chExt cx="502920" cy="50292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194560" y="6377940"/>
            <a:ext cx="6103620" cy="1645920"/>
            <a:chOff x="0" y="0"/>
            <a:chExt cx="8138160" cy="21945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38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57" r="0" b="-2225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1381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Isolated counter routing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cross-department data clutter for operators.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43035" y="8329803"/>
            <a:ext cx="567690" cy="567690"/>
            <a:chOff x="0" y="0"/>
            <a:chExt cx="756920" cy="756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E0E7FF"/>
            </a:solidFill>
            <a:ln w="1905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052560" y="8339328"/>
            <a:ext cx="548640" cy="548640"/>
            <a:chOff x="0" y="0"/>
            <a:chExt cx="7315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338C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806940" y="8270748"/>
            <a:ext cx="7653528" cy="685800"/>
            <a:chOff x="0" y="0"/>
            <a:chExt cx="10204704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04704" cy="914400"/>
            </a:xfrm>
            <a:custGeom>
              <a:avLst/>
              <a:gdLst/>
              <a:ahLst/>
              <a:cxnLst/>
              <a:rect r="r" b="b" t="t" l="l"/>
              <a:pathLst>
                <a:path h="914400" w="10204704">
                  <a:moveTo>
                    <a:pt x="0" y="0"/>
                  </a:moveTo>
                  <a:lnTo>
                    <a:pt x="10204704" y="0"/>
                  </a:lnTo>
                  <a:lnTo>
                    <a:pt x="102047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453" r="0" b="-16745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204704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4338C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Outcome: </a:t>
              </a: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operators see only their own division’s queue.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8977789" y="2770827"/>
            <a:ext cx="8859638" cy="5033382"/>
          </a:xfrm>
          <a:custGeom>
            <a:avLst/>
            <a:gdLst/>
            <a:ahLst/>
            <a:cxnLst/>
            <a:rect r="r" b="b" t="t" l="l"/>
            <a:pathLst>
              <a:path h="5033382" w="8859638">
                <a:moveTo>
                  <a:pt x="0" y="0"/>
                </a:moveTo>
                <a:lnTo>
                  <a:pt x="8859638" y="0"/>
                </a:lnTo>
                <a:lnTo>
                  <a:pt x="8859638" y="5033382"/>
                </a:lnTo>
                <a:lnTo>
                  <a:pt x="0" y="50333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822960" y="1229868"/>
            <a:ext cx="1659636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Secure Login &amp; Department Partitioning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550640" y="9608820"/>
            <a:ext cx="81838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SQMS  ·  DAO Kathmandu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5816" y="678656"/>
            <a:ext cx="3697034" cy="480632"/>
            <a:chOff x="0" y="0"/>
            <a:chExt cx="4929378" cy="6408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29378" cy="640842"/>
            </a:xfrm>
            <a:custGeom>
              <a:avLst/>
              <a:gdLst/>
              <a:ahLst/>
              <a:cxnLst/>
              <a:rect r="r" b="b" t="t" l="l"/>
              <a:pathLst>
                <a:path h="640842" w="4929378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lnTo>
                    <a:pt x="4608957" y="0"/>
                  </a:lnTo>
                  <a:cubicBezTo>
                    <a:pt x="4785868" y="0"/>
                    <a:pt x="4929378" y="143510"/>
                    <a:pt x="4929378" y="320421"/>
                  </a:cubicBezTo>
                  <a:cubicBezTo>
                    <a:pt x="4929378" y="497332"/>
                    <a:pt x="4785868" y="640842"/>
                    <a:pt x="4608957" y="640842"/>
                  </a:cubicBezTo>
                  <a:lnTo>
                    <a:pt x="320421" y="640842"/>
                  </a:ln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E0E7FF"/>
            </a:solidFill>
            <a:ln w="14288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685800"/>
            <a:ext cx="3682746" cy="466344"/>
            <a:chOff x="0" y="0"/>
            <a:chExt cx="4910328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10328" cy="621792"/>
            </a:xfrm>
            <a:custGeom>
              <a:avLst/>
              <a:gdLst/>
              <a:ahLst/>
              <a:cxnLst/>
              <a:rect r="r" b="b" t="t" l="l"/>
              <a:pathLst>
                <a:path h="621792" w="4910328">
                  <a:moveTo>
                    <a:pt x="0" y="0"/>
                  </a:moveTo>
                  <a:lnTo>
                    <a:pt x="4910328" y="0"/>
                  </a:lnTo>
                  <a:lnTo>
                    <a:pt x="491032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874" r="0" b="-10387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910328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25">
                  <a:solidFill>
                    <a:srgbClr val="4338C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 PORTAL  ·  08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1229868"/>
            <a:ext cx="1659636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Operator Counter Terminal &amp; Workstation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5816" y="2667476"/>
            <a:ext cx="7695247" cy="1660208"/>
            <a:chOff x="0" y="0"/>
            <a:chExt cx="10260330" cy="22136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6033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260330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02012" y="0"/>
                  </a:lnTo>
                  <a:cubicBezTo>
                    <a:pt x="10144760" y="0"/>
                    <a:pt x="10260330" y="115570"/>
                    <a:pt x="10260330" y="258318"/>
                  </a:cubicBezTo>
                  <a:lnTo>
                    <a:pt x="10260330" y="1955292"/>
                  </a:lnTo>
                  <a:cubicBezTo>
                    <a:pt x="10260330" y="2097913"/>
                    <a:pt x="10144761" y="2213610"/>
                    <a:pt x="10002012" y="2213610"/>
                  </a:cubicBezTo>
                  <a:lnTo>
                    <a:pt x="258318" y="2213610"/>
                  </a:lnTo>
                  <a:cubicBezTo>
                    <a:pt x="115570" y="2213610"/>
                    <a:pt x="0" y="2098040"/>
                    <a:pt x="0" y="195529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61098" y="3115628"/>
            <a:ext cx="763905" cy="763905"/>
            <a:chOff x="0" y="0"/>
            <a:chExt cx="1018540" cy="10185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8540" cy="1018540"/>
            </a:xfrm>
            <a:custGeom>
              <a:avLst/>
              <a:gdLst/>
              <a:ahLst/>
              <a:cxnLst/>
              <a:rect r="r" b="b" t="t" l="l"/>
              <a:pathLst>
                <a:path h="1018540" w="1018540">
                  <a:moveTo>
                    <a:pt x="0" y="509270"/>
                  </a:moveTo>
                  <a:cubicBezTo>
                    <a:pt x="0" y="227965"/>
                    <a:pt x="227965" y="0"/>
                    <a:pt x="509270" y="0"/>
                  </a:cubicBezTo>
                  <a:cubicBezTo>
                    <a:pt x="790575" y="0"/>
                    <a:pt x="1018540" y="227965"/>
                    <a:pt x="1018540" y="509270"/>
                  </a:cubicBezTo>
                  <a:cubicBezTo>
                    <a:pt x="1018540" y="790575"/>
                    <a:pt x="790575" y="1018540"/>
                    <a:pt x="509270" y="1018540"/>
                  </a:cubicBezTo>
                  <a:cubicBezTo>
                    <a:pt x="227965" y="1018540"/>
                    <a:pt x="0" y="790575"/>
                    <a:pt x="0" y="509270"/>
                  </a:cubicBezTo>
                  <a:close/>
                </a:path>
              </a:pathLst>
            </a:custGeom>
            <a:solidFill>
              <a:srgbClr val="E0E7FF"/>
            </a:solidFill>
            <a:ln w="9525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354455" y="3308985"/>
            <a:ext cx="377190" cy="377190"/>
            <a:chOff x="0" y="0"/>
            <a:chExt cx="502920" cy="50292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194560" y="2674620"/>
            <a:ext cx="6103620" cy="1645920"/>
            <a:chOff x="0" y="0"/>
            <a:chExt cx="8138160" cy="2194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38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57" r="0" b="-2225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381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Counter operator console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Call Next, Recall, Mark Completed, Skip / No-Show.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5816" y="4519136"/>
            <a:ext cx="7695247" cy="1660208"/>
            <a:chOff x="0" y="0"/>
            <a:chExt cx="10260330" cy="22136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6033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260330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02012" y="0"/>
                  </a:lnTo>
                  <a:cubicBezTo>
                    <a:pt x="10144760" y="0"/>
                    <a:pt x="10260330" y="115570"/>
                    <a:pt x="10260330" y="258318"/>
                  </a:cubicBezTo>
                  <a:lnTo>
                    <a:pt x="10260330" y="1955292"/>
                  </a:lnTo>
                  <a:cubicBezTo>
                    <a:pt x="10260330" y="2097913"/>
                    <a:pt x="10144761" y="2213610"/>
                    <a:pt x="10002012" y="2213610"/>
                  </a:cubicBezTo>
                  <a:lnTo>
                    <a:pt x="258318" y="2213610"/>
                  </a:lnTo>
                  <a:cubicBezTo>
                    <a:pt x="115570" y="2213610"/>
                    <a:pt x="0" y="2098040"/>
                    <a:pt x="0" y="195529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61098" y="4967288"/>
            <a:ext cx="763905" cy="763905"/>
            <a:chOff x="0" y="0"/>
            <a:chExt cx="1018540" cy="10185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18540" cy="1018540"/>
            </a:xfrm>
            <a:custGeom>
              <a:avLst/>
              <a:gdLst/>
              <a:ahLst/>
              <a:cxnLst/>
              <a:rect r="r" b="b" t="t" l="l"/>
              <a:pathLst>
                <a:path h="1018540" w="1018540">
                  <a:moveTo>
                    <a:pt x="0" y="509270"/>
                  </a:moveTo>
                  <a:cubicBezTo>
                    <a:pt x="0" y="227965"/>
                    <a:pt x="227965" y="0"/>
                    <a:pt x="509270" y="0"/>
                  </a:cubicBezTo>
                  <a:cubicBezTo>
                    <a:pt x="790575" y="0"/>
                    <a:pt x="1018540" y="227965"/>
                    <a:pt x="1018540" y="509270"/>
                  </a:cubicBezTo>
                  <a:cubicBezTo>
                    <a:pt x="1018540" y="790575"/>
                    <a:pt x="790575" y="1018540"/>
                    <a:pt x="509270" y="1018540"/>
                  </a:cubicBezTo>
                  <a:cubicBezTo>
                    <a:pt x="227965" y="1018540"/>
                    <a:pt x="0" y="790575"/>
                    <a:pt x="0" y="509270"/>
                  </a:cubicBezTo>
                  <a:close/>
                </a:path>
              </a:pathLst>
            </a:custGeom>
            <a:solidFill>
              <a:srgbClr val="E0E7FF"/>
            </a:solidFill>
            <a:ln w="9525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54455" y="5160645"/>
            <a:ext cx="377190" cy="377190"/>
            <a:chOff x="0" y="0"/>
            <a:chExt cx="502920" cy="50292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194560" y="4526280"/>
            <a:ext cx="6103620" cy="1645920"/>
            <a:chOff x="0" y="0"/>
            <a:chExt cx="8138160" cy="21945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38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57" r="0" b="-2225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1381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Priority &amp; window transfer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Prioritize citizens; transfer tokens between desks.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15816" y="6370796"/>
            <a:ext cx="7695247" cy="1660208"/>
            <a:chOff x="0" y="0"/>
            <a:chExt cx="10260330" cy="221361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6033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260330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02012" y="0"/>
                  </a:lnTo>
                  <a:cubicBezTo>
                    <a:pt x="10144760" y="0"/>
                    <a:pt x="10260330" y="115570"/>
                    <a:pt x="10260330" y="258318"/>
                  </a:cubicBezTo>
                  <a:lnTo>
                    <a:pt x="10260330" y="1955292"/>
                  </a:lnTo>
                  <a:cubicBezTo>
                    <a:pt x="10260330" y="2097913"/>
                    <a:pt x="10144761" y="2213610"/>
                    <a:pt x="10002012" y="2213610"/>
                  </a:cubicBezTo>
                  <a:lnTo>
                    <a:pt x="258318" y="2213610"/>
                  </a:lnTo>
                  <a:cubicBezTo>
                    <a:pt x="115570" y="2213610"/>
                    <a:pt x="0" y="2098040"/>
                    <a:pt x="0" y="195529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161098" y="6818947"/>
            <a:ext cx="763905" cy="763905"/>
            <a:chOff x="0" y="0"/>
            <a:chExt cx="1018540" cy="10185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18540" cy="1018540"/>
            </a:xfrm>
            <a:custGeom>
              <a:avLst/>
              <a:gdLst/>
              <a:ahLst/>
              <a:cxnLst/>
              <a:rect r="r" b="b" t="t" l="l"/>
              <a:pathLst>
                <a:path h="1018540" w="1018540">
                  <a:moveTo>
                    <a:pt x="0" y="509270"/>
                  </a:moveTo>
                  <a:cubicBezTo>
                    <a:pt x="0" y="227965"/>
                    <a:pt x="227965" y="0"/>
                    <a:pt x="509270" y="0"/>
                  </a:cubicBezTo>
                  <a:cubicBezTo>
                    <a:pt x="790575" y="0"/>
                    <a:pt x="1018540" y="227965"/>
                    <a:pt x="1018540" y="509270"/>
                  </a:cubicBezTo>
                  <a:cubicBezTo>
                    <a:pt x="1018540" y="790575"/>
                    <a:pt x="790575" y="1018540"/>
                    <a:pt x="509270" y="1018540"/>
                  </a:cubicBezTo>
                  <a:cubicBezTo>
                    <a:pt x="227965" y="1018540"/>
                    <a:pt x="0" y="790575"/>
                    <a:pt x="0" y="509270"/>
                  </a:cubicBezTo>
                  <a:close/>
                </a:path>
              </a:pathLst>
            </a:custGeom>
            <a:solidFill>
              <a:srgbClr val="E0E7FF"/>
            </a:solidFill>
            <a:ln w="9525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354455" y="7012305"/>
            <a:ext cx="377190" cy="377190"/>
            <a:chOff x="0" y="0"/>
            <a:chExt cx="502920" cy="50292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194560" y="6377940"/>
            <a:ext cx="6103620" cy="1645920"/>
            <a:chOff x="0" y="0"/>
            <a:chExt cx="8138160" cy="21945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38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57" r="0" b="-2225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1381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serving-token banner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Callout synced in real time with the public portal.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43035" y="8329803"/>
            <a:ext cx="567690" cy="567690"/>
            <a:chOff x="0" y="0"/>
            <a:chExt cx="756920" cy="7569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E0E7FF"/>
            </a:solidFill>
            <a:ln w="1905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052560" y="8339328"/>
            <a:ext cx="548640" cy="548640"/>
            <a:chOff x="0" y="0"/>
            <a:chExt cx="73152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338C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806940" y="8270748"/>
            <a:ext cx="7653528" cy="685800"/>
            <a:chOff x="0" y="0"/>
            <a:chExt cx="10204704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204704" cy="914400"/>
            </a:xfrm>
            <a:custGeom>
              <a:avLst/>
              <a:gdLst/>
              <a:ahLst/>
              <a:cxnLst/>
              <a:rect r="r" b="b" t="t" l="l"/>
              <a:pathLst>
                <a:path h="914400" w="10204704">
                  <a:moveTo>
                    <a:pt x="0" y="0"/>
                  </a:moveTo>
                  <a:lnTo>
                    <a:pt x="10204704" y="0"/>
                  </a:lnTo>
                  <a:lnTo>
                    <a:pt x="102047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453" r="0" b="-16745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0204704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4338C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Outcome: </a:t>
              </a: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consistent workflow, live status shared everywhere.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6550640" y="9608820"/>
            <a:ext cx="81838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8777764" y="2757158"/>
            <a:ext cx="9159322" cy="4865890"/>
          </a:xfrm>
          <a:custGeom>
            <a:avLst/>
            <a:gdLst/>
            <a:ahLst/>
            <a:cxnLst/>
            <a:rect r="r" b="b" t="t" l="l"/>
            <a:pathLst>
              <a:path h="4865890" w="9159322">
                <a:moveTo>
                  <a:pt x="0" y="0"/>
                </a:moveTo>
                <a:lnTo>
                  <a:pt x="9159322" y="0"/>
                </a:lnTo>
                <a:lnTo>
                  <a:pt x="9159322" y="4865890"/>
                </a:lnTo>
                <a:lnTo>
                  <a:pt x="0" y="48658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SQMS  ·  DAO Kathmandu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5816" y="678656"/>
            <a:ext cx="3697034" cy="480632"/>
            <a:chOff x="0" y="0"/>
            <a:chExt cx="4929378" cy="6408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29378" cy="640842"/>
            </a:xfrm>
            <a:custGeom>
              <a:avLst/>
              <a:gdLst/>
              <a:ahLst/>
              <a:cxnLst/>
              <a:rect r="r" b="b" t="t" l="l"/>
              <a:pathLst>
                <a:path h="640842" w="4929378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lnTo>
                    <a:pt x="4608957" y="0"/>
                  </a:lnTo>
                  <a:cubicBezTo>
                    <a:pt x="4785868" y="0"/>
                    <a:pt x="4929378" y="143510"/>
                    <a:pt x="4929378" y="320421"/>
                  </a:cubicBezTo>
                  <a:cubicBezTo>
                    <a:pt x="4929378" y="497332"/>
                    <a:pt x="4785868" y="640842"/>
                    <a:pt x="4608957" y="640842"/>
                  </a:cubicBezTo>
                  <a:lnTo>
                    <a:pt x="320421" y="640842"/>
                  </a:ln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E0E7FF"/>
            </a:solidFill>
            <a:ln w="14288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685800"/>
            <a:ext cx="3682746" cy="466344"/>
            <a:chOff x="0" y="0"/>
            <a:chExt cx="4910328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10328" cy="621792"/>
            </a:xfrm>
            <a:custGeom>
              <a:avLst/>
              <a:gdLst/>
              <a:ahLst/>
              <a:cxnLst/>
              <a:rect r="r" b="b" t="t" l="l"/>
              <a:pathLst>
                <a:path h="621792" w="4910328">
                  <a:moveTo>
                    <a:pt x="0" y="0"/>
                  </a:moveTo>
                  <a:lnTo>
                    <a:pt x="4910328" y="0"/>
                  </a:lnTo>
                  <a:lnTo>
                    <a:pt x="491032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874" r="0" b="-10387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910328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25">
                  <a:solidFill>
                    <a:srgbClr val="4338C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 PORTAL  ·  09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5816" y="2667476"/>
            <a:ext cx="7695247" cy="1660208"/>
            <a:chOff x="0" y="0"/>
            <a:chExt cx="10260330" cy="22136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6033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260330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02012" y="0"/>
                  </a:lnTo>
                  <a:cubicBezTo>
                    <a:pt x="10144760" y="0"/>
                    <a:pt x="10260330" y="115570"/>
                    <a:pt x="10260330" y="258318"/>
                  </a:cubicBezTo>
                  <a:lnTo>
                    <a:pt x="10260330" y="1955292"/>
                  </a:lnTo>
                  <a:cubicBezTo>
                    <a:pt x="10260330" y="2097913"/>
                    <a:pt x="10144761" y="2213610"/>
                    <a:pt x="10002012" y="2213610"/>
                  </a:cubicBezTo>
                  <a:lnTo>
                    <a:pt x="258318" y="2213610"/>
                  </a:lnTo>
                  <a:cubicBezTo>
                    <a:pt x="115570" y="2213610"/>
                    <a:pt x="0" y="2098040"/>
                    <a:pt x="0" y="195529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61098" y="3115628"/>
            <a:ext cx="763905" cy="763905"/>
            <a:chOff x="0" y="0"/>
            <a:chExt cx="1018540" cy="10185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8540" cy="1018540"/>
            </a:xfrm>
            <a:custGeom>
              <a:avLst/>
              <a:gdLst/>
              <a:ahLst/>
              <a:cxnLst/>
              <a:rect r="r" b="b" t="t" l="l"/>
              <a:pathLst>
                <a:path h="1018540" w="1018540">
                  <a:moveTo>
                    <a:pt x="0" y="509270"/>
                  </a:moveTo>
                  <a:cubicBezTo>
                    <a:pt x="0" y="227965"/>
                    <a:pt x="227965" y="0"/>
                    <a:pt x="509270" y="0"/>
                  </a:cubicBezTo>
                  <a:cubicBezTo>
                    <a:pt x="790575" y="0"/>
                    <a:pt x="1018540" y="227965"/>
                    <a:pt x="1018540" y="509270"/>
                  </a:cubicBezTo>
                  <a:cubicBezTo>
                    <a:pt x="1018540" y="790575"/>
                    <a:pt x="790575" y="1018540"/>
                    <a:pt x="509270" y="1018540"/>
                  </a:cubicBezTo>
                  <a:cubicBezTo>
                    <a:pt x="227965" y="1018540"/>
                    <a:pt x="0" y="790575"/>
                    <a:pt x="0" y="509270"/>
                  </a:cubicBezTo>
                  <a:close/>
                </a:path>
              </a:pathLst>
            </a:custGeom>
            <a:solidFill>
              <a:srgbClr val="E0E7FF"/>
            </a:solidFill>
            <a:ln w="9525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54455" y="3308985"/>
            <a:ext cx="377190" cy="377190"/>
            <a:chOff x="0" y="0"/>
            <a:chExt cx="502920" cy="50292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194560" y="2674620"/>
            <a:ext cx="6103620" cy="1645920"/>
            <a:chOff x="0" y="0"/>
            <a:chExt cx="8138160" cy="2194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38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57" r="0" b="-2225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381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Department queue monitoring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Waiting, in-service, completed and abandoned tokens.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15816" y="4519136"/>
            <a:ext cx="7695247" cy="1660208"/>
            <a:chOff x="0" y="0"/>
            <a:chExt cx="10260330" cy="22136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6033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260330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02012" y="0"/>
                  </a:lnTo>
                  <a:cubicBezTo>
                    <a:pt x="10144760" y="0"/>
                    <a:pt x="10260330" y="115570"/>
                    <a:pt x="10260330" y="258318"/>
                  </a:cubicBezTo>
                  <a:lnTo>
                    <a:pt x="10260330" y="1955292"/>
                  </a:lnTo>
                  <a:cubicBezTo>
                    <a:pt x="10260330" y="2097913"/>
                    <a:pt x="10144761" y="2213610"/>
                    <a:pt x="10002012" y="2213610"/>
                  </a:cubicBezTo>
                  <a:lnTo>
                    <a:pt x="258318" y="2213610"/>
                  </a:lnTo>
                  <a:cubicBezTo>
                    <a:pt x="115570" y="2213610"/>
                    <a:pt x="0" y="2098040"/>
                    <a:pt x="0" y="195529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61098" y="4967288"/>
            <a:ext cx="763905" cy="763905"/>
            <a:chOff x="0" y="0"/>
            <a:chExt cx="1018540" cy="10185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8540" cy="1018540"/>
            </a:xfrm>
            <a:custGeom>
              <a:avLst/>
              <a:gdLst/>
              <a:ahLst/>
              <a:cxnLst/>
              <a:rect r="r" b="b" t="t" l="l"/>
              <a:pathLst>
                <a:path h="1018540" w="1018540">
                  <a:moveTo>
                    <a:pt x="0" y="509270"/>
                  </a:moveTo>
                  <a:cubicBezTo>
                    <a:pt x="0" y="227965"/>
                    <a:pt x="227965" y="0"/>
                    <a:pt x="509270" y="0"/>
                  </a:cubicBezTo>
                  <a:cubicBezTo>
                    <a:pt x="790575" y="0"/>
                    <a:pt x="1018540" y="227965"/>
                    <a:pt x="1018540" y="509270"/>
                  </a:cubicBezTo>
                  <a:cubicBezTo>
                    <a:pt x="1018540" y="790575"/>
                    <a:pt x="790575" y="1018540"/>
                    <a:pt x="509270" y="1018540"/>
                  </a:cubicBezTo>
                  <a:cubicBezTo>
                    <a:pt x="227965" y="1018540"/>
                    <a:pt x="0" y="790575"/>
                    <a:pt x="0" y="509270"/>
                  </a:cubicBezTo>
                  <a:close/>
                </a:path>
              </a:pathLst>
            </a:custGeom>
            <a:solidFill>
              <a:srgbClr val="E0E7FF"/>
            </a:solidFill>
            <a:ln w="9525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54455" y="5160645"/>
            <a:ext cx="377190" cy="377190"/>
            <a:chOff x="0" y="0"/>
            <a:chExt cx="502920" cy="50292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194560" y="4526280"/>
            <a:ext cx="6103620" cy="1645920"/>
            <a:chOff x="0" y="0"/>
            <a:chExt cx="8138160" cy="2194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38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57" r="0" b="-2225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1381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counter status board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Status across Counters 1 through 5 at a glance.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5816" y="6370796"/>
            <a:ext cx="7695247" cy="1660208"/>
            <a:chOff x="0" y="0"/>
            <a:chExt cx="10260330" cy="22136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6033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260330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10002012" y="0"/>
                  </a:lnTo>
                  <a:cubicBezTo>
                    <a:pt x="10144760" y="0"/>
                    <a:pt x="10260330" y="115570"/>
                    <a:pt x="10260330" y="258318"/>
                  </a:cubicBezTo>
                  <a:lnTo>
                    <a:pt x="10260330" y="1955292"/>
                  </a:lnTo>
                  <a:cubicBezTo>
                    <a:pt x="10260330" y="2097913"/>
                    <a:pt x="10144761" y="2213610"/>
                    <a:pt x="10002012" y="2213610"/>
                  </a:cubicBezTo>
                  <a:lnTo>
                    <a:pt x="258318" y="2213610"/>
                  </a:lnTo>
                  <a:cubicBezTo>
                    <a:pt x="115570" y="2213610"/>
                    <a:pt x="0" y="2098040"/>
                    <a:pt x="0" y="195529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5DEE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61098" y="6818947"/>
            <a:ext cx="763905" cy="763905"/>
            <a:chOff x="0" y="0"/>
            <a:chExt cx="1018540" cy="10185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8540" cy="1018540"/>
            </a:xfrm>
            <a:custGeom>
              <a:avLst/>
              <a:gdLst/>
              <a:ahLst/>
              <a:cxnLst/>
              <a:rect r="r" b="b" t="t" l="l"/>
              <a:pathLst>
                <a:path h="1018540" w="1018540">
                  <a:moveTo>
                    <a:pt x="0" y="509270"/>
                  </a:moveTo>
                  <a:cubicBezTo>
                    <a:pt x="0" y="227965"/>
                    <a:pt x="227965" y="0"/>
                    <a:pt x="509270" y="0"/>
                  </a:cubicBezTo>
                  <a:cubicBezTo>
                    <a:pt x="790575" y="0"/>
                    <a:pt x="1018540" y="227965"/>
                    <a:pt x="1018540" y="509270"/>
                  </a:cubicBezTo>
                  <a:cubicBezTo>
                    <a:pt x="1018540" y="790575"/>
                    <a:pt x="790575" y="1018540"/>
                    <a:pt x="509270" y="1018540"/>
                  </a:cubicBezTo>
                  <a:cubicBezTo>
                    <a:pt x="227965" y="1018540"/>
                    <a:pt x="0" y="790575"/>
                    <a:pt x="0" y="509270"/>
                  </a:cubicBezTo>
                  <a:close/>
                </a:path>
              </a:pathLst>
            </a:custGeom>
            <a:solidFill>
              <a:srgbClr val="E0E7FF"/>
            </a:solidFill>
            <a:ln w="9525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54455" y="7012305"/>
            <a:ext cx="377190" cy="377190"/>
            <a:chOff x="0" y="0"/>
            <a:chExt cx="502920" cy="50292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194560" y="6377940"/>
            <a:ext cx="6103620" cy="1645920"/>
            <a:chOff x="0" y="0"/>
            <a:chExt cx="8138160" cy="21945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38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57" r="0" b="-2225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1381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Benchmarks &amp; daily volume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Service speed benchmarks and daily volume counters.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43035" y="8329803"/>
            <a:ext cx="567690" cy="567690"/>
            <a:chOff x="0" y="0"/>
            <a:chExt cx="756920" cy="756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E0E7FF"/>
            </a:solidFill>
            <a:ln w="1905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052560" y="8339328"/>
            <a:ext cx="548640" cy="548640"/>
            <a:chOff x="0" y="0"/>
            <a:chExt cx="7315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338C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806940" y="8270748"/>
            <a:ext cx="7653528" cy="685800"/>
            <a:chOff x="0" y="0"/>
            <a:chExt cx="10204704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04704" cy="914400"/>
            </a:xfrm>
            <a:custGeom>
              <a:avLst/>
              <a:gdLst/>
              <a:ahLst/>
              <a:cxnLst/>
              <a:rect r="r" b="b" t="t" l="l"/>
              <a:pathLst>
                <a:path h="914400" w="10204704">
                  <a:moveTo>
                    <a:pt x="0" y="0"/>
                  </a:moveTo>
                  <a:lnTo>
                    <a:pt x="10204704" y="0"/>
                  </a:lnTo>
                  <a:lnTo>
                    <a:pt x="102047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453" r="0" b="-16745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204704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4338C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Outcome: </a:t>
              </a: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supervisors rebalance counters from live data.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8977789" y="2512467"/>
            <a:ext cx="8926780" cy="5110581"/>
          </a:xfrm>
          <a:custGeom>
            <a:avLst/>
            <a:gdLst/>
            <a:ahLst/>
            <a:cxnLst/>
            <a:rect r="r" b="b" t="t" l="l"/>
            <a:pathLst>
              <a:path h="5110581" w="8926780">
                <a:moveTo>
                  <a:pt x="0" y="0"/>
                </a:moveTo>
                <a:lnTo>
                  <a:pt x="8926779" y="0"/>
                </a:lnTo>
                <a:lnTo>
                  <a:pt x="8926779" y="5110581"/>
                </a:lnTo>
                <a:lnTo>
                  <a:pt x="0" y="51105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822960" y="1229868"/>
            <a:ext cx="1659636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Real-time Queue Monitor &amp; Analytics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550640" y="9608820"/>
            <a:ext cx="81838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5816" y="678656"/>
            <a:ext cx="3223831" cy="480632"/>
            <a:chOff x="0" y="0"/>
            <a:chExt cx="4298442" cy="6408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98442" cy="640842"/>
            </a:xfrm>
            <a:custGeom>
              <a:avLst/>
              <a:gdLst/>
              <a:ahLst/>
              <a:cxnLst/>
              <a:rect r="r" b="b" t="t" l="l"/>
              <a:pathLst>
                <a:path h="640842" w="4298442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lnTo>
                    <a:pt x="3978021" y="0"/>
                  </a:lnTo>
                  <a:cubicBezTo>
                    <a:pt x="4154932" y="0"/>
                    <a:pt x="4298442" y="143510"/>
                    <a:pt x="4298442" y="320421"/>
                  </a:cubicBezTo>
                  <a:cubicBezTo>
                    <a:pt x="4298442" y="497332"/>
                    <a:pt x="4154932" y="640842"/>
                    <a:pt x="3978021" y="640842"/>
                  </a:cubicBezTo>
                  <a:lnTo>
                    <a:pt x="320421" y="640842"/>
                  </a:ln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85800"/>
            <a:ext cx="3209544" cy="466344"/>
            <a:chOff x="0" y="0"/>
            <a:chExt cx="4279392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9392" cy="621792"/>
            </a:xfrm>
            <a:custGeom>
              <a:avLst/>
              <a:gdLst/>
              <a:ahLst/>
              <a:cxnLst/>
              <a:rect r="r" b="b" t="t" l="l"/>
              <a:pathLst>
                <a:path h="621792" w="4279392">
                  <a:moveTo>
                    <a:pt x="0" y="0"/>
                  </a:moveTo>
                  <a:lnTo>
                    <a:pt x="4279392" y="0"/>
                  </a:lnTo>
                  <a:lnTo>
                    <a:pt x="42793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02" r="0" b="-8410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4279392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25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 &amp; ROADMAP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22960" y="1229868"/>
            <a:ext cx="1659636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Operational Impact &amp; What’s Next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15816" y="2667476"/>
            <a:ext cx="5363528" cy="3306128"/>
            <a:chOff x="0" y="0"/>
            <a:chExt cx="7151370" cy="44081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51370" cy="4408170"/>
            </a:xfrm>
            <a:custGeom>
              <a:avLst/>
              <a:gdLst/>
              <a:ahLst/>
              <a:cxnLst/>
              <a:rect r="r" b="b" t="t" l="l"/>
              <a:pathLst>
                <a:path h="4408170" w="7151370">
                  <a:moveTo>
                    <a:pt x="0" y="257175"/>
                  </a:moveTo>
                  <a:cubicBezTo>
                    <a:pt x="0" y="115062"/>
                    <a:pt x="115062" y="0"/>
                    <a:pt x="257175" y="0"/>
                  </a:cubicBezTo>
                  <a:lnTo>
                    <a:pt x="6894195" y="0"/>
                  </a:lnTo>
                  <a:cubicBezTo>
                    <a:pt x="7036181" y="0"/>
                    <a:pt x="7151370" y="115062"/>
                    <a:pt x="7151370" y="257175"/>
                  </a:cubicBezTo>
                  <a:lnTo>
                    <a:pt x="7151370" y="4150995"/>
                  </a:lnTo>
                  <a:cubicBezTo>
                    <a:pt x="7151370" y="4292981"/>
                    <a:pt x="7036308" y="4408170"/>
                    <a:pt x="6894195" y="4408170"/>
                  </a:cubicBezTo>
                  <a:lnTo>
                    <a:pt x="257175" y="4408170"/>
                  </a:lnTo>
                  <a:cubicBezTo>
                    <a:pt x="115062" y="4408170"/>
                    <a:pt x="0" y="4293108"/>
                    <a:pt x="0" y="4150995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3017520"/>
            <a:ext cx="4389120" cy="1508760"/>
            <a:chOff x="0" y="0"/>
            <a:chExt cx="5852160" cy="2011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521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0"/>
              <a:ext cx="5852160" cy="2202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0"/>
                </a:lnSpc>
              </a:pPr>
              <a:r>
                <a:rPr lang="en-US" sz="90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40%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03020" y="4606290"/>
            <a:ext cx="4389120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reduction in on-premise waiting lobby congestion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459950" y="2667476"/>
            <a:ext cx="5363528" cy="3306128"/>
            <a:chOff x="0" y="0"/>
            <a:chExt cx="7151370" cy="44081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51370" cy="4408170"/>
            </a:xfrm>
            <a:custGeom>
              <a:avLst/>
              <a:gdLst/>
              <a:ahLst/>
              <a:cxnLst/>
              <a:rect r="r" b="b" t="t" l="l"/>
              <a:pathLst>
                <a:path h="4408170" w="7151370">
                  <a:moveTo>
                    <a:pt x="0" y="257175"/>
                  </a:moveTo>
                  <a:cubicBezTo>
                    <a:pt x="0" y="115062"/>
                    <a:pt x="115062" y="0"/>
                    <a:pt x="257175" y="0"/>
                  </a:cubicBezTo>
                  <a:lnTo>
                    <a:pt x="6894195" y="0"/>
                  </a:lnTo>
                  <a:cubicBezTo>
                    <a:pt x="7036181" y="0"/>
                    <a:pt x="7151370" y="115062"/>
                    <a:pt x="7151370" y="257175"/>
                  </a:cubicBezTo>
                  <a:lnTo>
                    <a:pt x="7151370" y="4150995"/>
                  </a:lnTo>
                  <a:cubicBezTo>
                    <a:pt x="7151370" y="4292981"/>
                    <a:pt x="7036308" y="4408170"/>
                    <a:pt x="6894195" y="4408170"/>
                  </a:cubicBezTo>
                  <a:lnTo>
                    <a:pt x="257175" y="4408170"/>
                  </a:lnTo>
                  <a:cubicBezTo>
                    <a:pt x="115062" y="4408170"/>
                    <a:pt x="0" y="4293108"/>
                    <a:pt x="0" y="4150995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947154" y="3017520"/>
            <a:ext cx="4389120" cy="1508760"/>
            <a:chOff x="0" y="0"/>
            <a:chExt cx="5852160" cy="2011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521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0"/>
              <a:ext cx="5852160" cy="2202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0"/>
                </a:lnSpc>
              </a:pPr>
              <a:r>
                <a:rPr lang="en-US" sz="90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85%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947154" y="4606290"/>
            <a:ext cx="4389120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drop in document-rejection rates via pre-visit checklists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104084" y="2667476"/>
            <a:ext cx="5363528" cy="3306128"/>
            <a:chOff x="0" y="0"/>
            <a:chExt cx="7151370" cy="44081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51370" cy="4408170"/>
            </a:xfrm>
            <a:custGeom>
              <a:avLst/>
              <a:gdLst/>
              <a:ahLst/>
              <a:cxnLst/>
              <a:rect r="r" b="b" t="t" l="l"/>
              <a:pathLst>
                <a:path h="4408170" w="7151370">
                  <a:moveTo>
                    <a:pt x="0" y="257175"/>
                  </a:moveTo>
                  <a:cubicBezTo>
                    <a:pt x="0" y="115062"/>
                    <a:pt x="115062" y="0"/>
                    <a:pt x="257175" y="0"/>
                  </a:cubicBezTo>
                  <a:lnTo>
                    <a:pt x="6894195" y="0"/>
                  </a:lnTo>
                  <a:cubicBezTo>
                    <a:pt x="7036181" y="0"/>
                    <a:pt x="7151370" y="115062"/>
                    <a:pt x="7151370" y="257175"/>
                  </a:cubicBezTo>
                  <a:lnTo>
                    <a:pt x="7151370" y="4150995"/>
                  </a:lnTo>
                  <a:cubicBezTo>
                    <a:pt x="7151370" y="4292981"/>
                    <a:pt x="7036308" y="4408170"/>
                    <a:pt x="6894195" y="4408170"/>
                  </a:cubicBezTo>
                  <a:lnTo>
                    <a:pt x="257175" y="4408170"/>
                  </a:lnTo>
                  <a:cubicBezTo>
                    <a:pt x="115062" y="4408170"/>
                    <a:pt x="0" y="4293108"/>
                    <a:pt x="0" y="4150995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591288" y="3017520"/>
            <a:ext cx="4389120" cy="1508760"/>
            <a:chOff x="0" y="0"/>
            <a:chExt cx="5852160" cy="2011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521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0"/>
              <a:ext cx="5852160" cy="2202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0"/>
                </a:lnSpc>
              </a:pPr>
              <a:r>
                <a:rPr lang="en-US" sz="90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591288" y="4606290"/>
            <a:ext cx="4389120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transparency through a public digital audit trail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2960" y="6614160"/>
            <a:ext cx="68580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300">
                <a:solidFill>
                  <a:srgbClr val="94A3B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NEXT STEPS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18198" y="7333297"/>
            <a:ext cx="832485" cy="832485"/>
            <a:chOff x="0" y="0"/>
            <a:chExt cx="1109980" cy="11099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9980" cy="1109980"/>
            </a:xfrm>
            <a:custGeom>
              <a:avLst/>
              <a:gdLst/>
              <a:ahLst/>
              <a:cxnLst/>
              <a:rect r="r" b="b" t="t" l="l"/>
              <a:pathLst>
                <a:path h="1109980" w="1109980">
                  <a:moveTo>
                    <a:pt x="0" y="554990"/>
                  </a:moveTo>
                  <a:cubicBezTo>
                    <a:pt x="0" y="248539"/>
                    <a:pt x="248539" y="0"/>
                    <a:pt x="554990" y="0"/>
                  </a:cubicBezTo>
                  <a:cubicBezTo>
                    <a:pt x="861441" y="0"/>
                    <a:pt x="1109980" y="248539"/>
                    <a:pt x="1109980" y="554990"/>
                  </a:cubicBezTo>
                  <a:cubicBezTo>
                    <a:pt x="1109980" y="861441"/>
                    <a:pt x="861441" y="1109980"/>
                    <a:pt x="554990" y="1109980"/>
                  </a:cubicBezTo>
                  <a:cubicBezTo>
                    <a:pt x="248539" y="1109980"/>
                    <a:pt x="0" y="861441"/>
                    <a:pt x="0" y="554990"/>
                  </a:cubicBezTo>
                  <a:close/>
                </a:path>
              </a:pathLst>
            </a:custGeom>
            <a:solidFill>
              <a:srgbClr val="1E293B"/>
            </a:solidFill>
            <a:ln w="9525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28700" y="7543800"/>
            <a:ext cx="411480" cy="411480"/>
            <a:chOff x="0" y="0"/>
            <a:chExt cx="548640" cy="54864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920240" y="7231380"/>
            <a:ext cx="4114800" cy="127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Nagarik App integration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Tokens and live status inside the mobile app.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462332" y="7333297"/>
            <a:ext cx="832485" cy="832485"/>
            <a:chOff x="0" y="0"/>
            <a:chExt cx="1109980" cy="11099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09980" cy="1109980"/>
            </a:xfrm>
            <a:custGeom>
              <a:avLst/>
              <a:gdLst/>
              <a:ahLst/>
              <a:cxnLst/>
              <a:rect r="r" b="b" t="t" l="l"/>
              <a:pathLst>
                <a:path h="1109980" w="1109980">
                  <a:moveTo>
                    <a:pt x="0" y="554990"/>
                  </a:moveTo>
                  <a:cubicBezTo>
                    <a:pt x="0" y="248539"/>
                    <a:pt x="248539" y="0"/>
                    <a:pt x="554990" y="0"/>
                  </a:cubicBezTo>
                  <a:cubicBezTo>
                    <a:pt x="861441" y="0"/>
                    <a:pt x="1109980" y="248539"/>
                    <a:pt x="1109980" y="554990"/>
                  </a:cubicBezTo>
                  <a:cubicBezTo>
                    <a:pt x="1109980" y="861441"/>
                    <a:pt x="861441" y="1109980"/>
                    <a:pt x="554990" y="1109980"/>
                  </a:cubicBezTo>
                  <a:cubicBezTo>
                    <a:pt x="248539" y="1109980"/>
                    <a:pt x="0" y="861441"/>
                    <a:pt x="0" y="554990"/>
                  </a:cubicBezTo>
                  <a:close/>
                </a:path>
              </a:pathLst>
            </a:custGeom>
            <a:solidFill>
              <a:srgbClr val="1E293B"/>
            </a:solidFill>
            <a:ln w="9525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672834" y="7543800"/>
            <a:ext cx="411480" cy="411480"/>
            <a:chOff x="0" y="0"/>
            <a:chExt cx="548640" cy="54864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7564374" y="7231380"/>
            <a:ext cx="4114800" cy="127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Automated SMS pinging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Alert citizens as their turn approaches.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106466" y="7333297"/>
            <a:ext cx="832485" cy="832485"/>
            <a:chOff x="0" y="0"/>
            <a:chExt cx="1109980" cy="11099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09980" cy="1109980"/>
            </a:xfrm>
            <a:custGeom>
              <a:avLst/>
              <a:gdLst/>
              <a:ahLst/>
              <a:cxnLst/>
              <a:rect r="r" b="b" t="t" l="l"/>
              <a:pathLst>
                <a:path h="1109980" w="1109980">
                  <a:moveTo>
                    <a:pt x="0" y="554990"/>
                  </a:moveTo>
                  <a:cubicBezTo>
                    <a:pt x="0" y="248539"/>
                    <a:pt x="248539" y="0"/>
                    <a:pt x="554990" y="0"/>
                  </a:cubicBezTo>
                  <a:cubicBezTo>
                    <a:pt x="861441" y="0"/>
                    <a:pt x="1109980" y="248539"/>
                    <a:pt x="1109980" y="554990"/>
                  </a:cubicBezTo>
                  <a:cubicBezTo>
                    <a:pt x="1109980" y="861441"/>
                    <a:pt x="861441" y="1109980"/>
                    <a:pt x="554990" y="1109980"/>
                  </a:cubicBezTo>
                  <a:cubicBezTo>
                    <a:pt x="248539" y="1109980"/>
                    <a:pt x="0" y="861441"/>
                    <a:pt x="0" y="554990"/>
                  </a:cubicBezTo>
                  <a:close/>
                </a:path>
              </a:pathLst>
            </a:custGeom>
            <a:solidFill>
              <a:srgbClr val="1E293B"/>
            </a:solidFill>
            <a:ln w="9525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316968" y="7543800"/>
            <a:ext cx="411480" cy="411480"/>
            <a:chOff x="0" y="0"/>
            <a:chExt cx="548640" cy="54864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3208508" y="7231380"/>
            <a:ext cx="4114800" cy="127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Multi-district scaling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Replicate beyond DAO Kathmandu.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5816" y="678656"/>
            <a:ext cx="2757488" cy="480632"/>
            <a:chOff x="0" y="0"/>
            <a:chExt cx="3676650" cy="6408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6650" cy="640842"/>
            </a:xfrm>
            <a:custGeom>
              <a:avLst/>
              <a:gdLst/>
              <a:ahLst/>
              <a:cxnLst/>
              <a:rect r="r" b="b" t="t" l="l"/>
              <a:pathLst>
                <a:path h="640842" w="3676650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lnTo>
                    <a:pt x="3356229" y="0"/>
                  </a:lnTo>
                  <a:cubicBezTo>
                    <a:pt x="3533140" y="0"/>
                    <a:pt x="3676650" y="143510"/>
                    <a:pt x="3676650" y="320421"/>
                  </a:cubicBezTo>
                  <a:cubicBezTo>
                    <a:pt x="3676650" y="497332"/>
                    <a:pt x="3533140" y="640842"/>
                    <a:pt x="3356229" y="640842"/>
                  </a:cubicBezTo>
                  <a:lnTo>
                    <a:pt x="320421" y="640842"/>
                  </a:ln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85800"/>
            <a:ext cx="2743200" cy="466344"/>
            <a:chOff x="0" y="0"/>
            <a:chExt cx="3657600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7600" cy="621792"/>
            </a:xfrm>
            <a:custGeom>
              <a:avLst/>
              <a:gdLst/>
              <a:ahLst/>
              <a:cxnLst/>
              <a:rect r="r" b="b" t="t" l="l"/>
              <a:pathLst>
                <a:path h="6217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657600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25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22960" y="1229868"/>
            <a:ext cx="1659636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 &amp; Discussion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15816" y="2667476"/>
            <a:ext cx="9066848" cy="1934527"/>
            <a:chOff x="0" y="0"/>
            <a:chExt cx="12089130" cy="25793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89130" cy="2579370"/>
            </a:xfrm>
            <a:custGeom>
              <a:avLst/>
              <a:gdLst/>
              <a:ahLst/>
              <a:cxnLst/>
              <a:rect r="r" b="b" t="t" l="l"/>
              <a:pathLst>
                <a:path h="2579370" w="12089130">
                  <a:moveTo>
                    <a:pt x="0" y="257937"/>
                  </a:moveTo>
                  <a:cubicBezTo>
                    <a:pt x="0" y="115443"/>
                    <a:pt x="115443" y="0"/>
                    <a:pt x="257937" y="0"/>
                  </a:cubicBezTo>
                  <a:lnTo>
                    <a:pt x="11831193" y="0"/>
                  </a:lnTo>
                  <a:cubicBezTo>
                    <a:pt x="11973687" y="0"/>
                    <a:pt x="12089130" y="115443"/>
                    <a:pt x="12089130" y="257937"/>
                  </a:cubicBezTo>
                  <a:lnTo>
                    <a:pt x="12089130" y="2321433"/>
                  </a:lnTo>
                  <a:cubicBezTo>
                    <a:pt x="12089130" y="2463927"/>
                    <a:pt x="11973687" y="2579370"/>
                    <a:pt x="11831193" y="2579370"/>
                  </a:cubicBezTo>
                  <a:lnTo>
                    <a:pt x="257937" y="2579370"/>
                  </a:lnTo>
                  <a:cubicBezTo>
                    <a:pt x="115443" y="2579370"/>
                    <a:pt x="0" y="2463927"/>
                    <a:pt x="0" y="2321433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29677" y="3218498"/>
            <a:ext cx="832485" cy="832485"/>
            <a:chOff x="0" y="0"/>
            <a:chExt cx="1109980" cy="11099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9980" cy="1109980"/>
            </a:xfrm>
            <a:custGeom>
              <a:avLst/>
              <a:gdLst/>
              <a:ahLst/>
              <a:cxnLst/>
              <a:rect r="r" b="b" t="t" l="l"/>
              <a:pathLst>
                <a:path h="1109980" w="1109980">
                  <a:moveTo>
                    <a:pt x="0" y="554990"/>
                  </a:moveTo>
                  <a:cubicBezTo>
                    <a:pt x="0" y="248539"/>
                    <a:pt x="248539" y="0"/>
                    <a:pt x="554990" y="0"/>
                  </a:cubicBezTo>
                  <a:cubicBezTo>
                    <a:pt x="861441" y="0"/>
                    <a:pt x="1109980" y="248539"/>
                    <a:pt x="1109980" y="554990"/>
                  </a:cubicBezTo>
                  <a:cubicBezTo>
                    <a:pt x="1109980" y="861441"/>
                    <a:pt x="861441" y="1109980"/>
                    <a:pt x="554990" y="1109980"/>
                  </a:cubicBezTo>
                  <a:cubicBezTo>
                    <a:pt x="248539" y="1109980"/>
                    <a:pt x="0" y="861441"/>
                    <a:pt x="0" y="554990"/>
                  </a:cubicBezTo>
                  <a:close/>
                </a:path>
              </a:pathLst>
            </a:custGeom>
            <a:solidFill>
              <a:srgbClr val="1E293B"/>
            </a:solidFill>
            <a:ln w="9525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440180" y="3429000"/>
            <a:ext cx="411480" cy="411480"/>
            <a:chOff x="0" y="0"/>
            <a:chExt cx="548640" cy="54864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68880" y="2674620"/>
            <a:ext cx="7132320" cy="1920240"/>
            <a:chOff x="0" y="0"/>
            <a:chExt cx="9509760" cy="25603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097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509760" cy="261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Better citizen experience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tracking, AI assistance and checklists cut waiting and confusion.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5816" y="4793456"/>
            <a:ext cx="9066848" cy="1934527"/>
            <a:chOff x="0" y="0"/>
            <a:chExt cx="12089130" cy="25793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089130" cy="2579370"/>
            </a:xfrm>
            <a:custGeom>
              <a:avLst/>
              <a:gdLst/>
              <a:ahLst/>
              <a:cxnLst/>
              <a:rect r="r" b="b" t="t" l="l"/>
              <a:pathLst>
                <a:path h="2579370" w="12089130">
                  <a:moveTo>
                    <a:pt x="0" y="257937"/>
                  </a:moveTo>
                  <a:cubicBezTo>
                    <a:pt x="0" y="115443"/>
                    <a:pt x="115443" y="0"/>
                    <a:pt x="257937" y="0"/>
                  </a:cubicBezTo>
                  <a:lnTo>
                    <a:pt x="11831193" y="0"/>
                  </a:lnTo>
                  <a:cubicBezTo>
                    <a:pt x="11973687" y="0"/>
                    <a:pt x="12089130" y="115443"/>
                    <a:pt x="12089130" y="257937"/>
                  </a:cubicBezTo>
                  <a:lnTo>
                    <a:pt x="12089130" y="2321433"/>
                  </a:lnTo>
                  <a:cubicBezTo>
                    <a:pt x="12089130" y="2463927"/>
                    <a:pt x="11973687" y="2579370"/>
                    <a:pt x="11831193" y="2579370"/>
                  </a:cubicBezTo>
                  <a:lnTo>
                    <a:pt x="257937" y="2579370"/>
                  </a:lnTo>
                  <a:cubicBezTo>
                    <a:pt x="115443" y="2579370"/>
                    <a:pt x="0" y="2463927"/>
                    <a:pt x="0" y="2321433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29677" y="5344478"/>
            <a:ext cx="832485" cy="832485"/>
            <a:chOff x="0" y="0"/>
            <a:chExt cx="1109980" cy="11099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9980" cy="1109980"/>
            </a:xfrm>
            <a:custGeom>
              <a:avLst/>
              <a:gdLst/>
              <a:ahLst/>
              <a:cxnLst/>
              <a:rect r="r" b="b" t="t" l="l"/>
              <a:pathLst>
                <a:path h="1109980" w="1109980">
                  <a:moveTo>
                    <a:pt x="0" y="554990"/>
                  </a:moveTo>
                  <a:cubicBezTo>
                    <a:pt x="0" y="248539"/>
                    <a:pt x="248539" y="0"/>
                    <a:pt x="554990" y="0"/>
                  </a:cubicBezTo>
                  <a:cubicBezTo>
                    <a:pt x="861441" y="0"/>
                    <a:pt x="1109980" y="248539"/>
                    <a:pt x="1109980" y="554990"/>
                  </a:cubicBezTo>
                  <a:cubicBezTo>
                    <a:pt x="1109980" y="861441"/>
                    <a:pt x="861441" y="1109980"/>
                    <a:pt x="554990" y="1109980"/>
                  </a:cubicBezTo>
                  <a:cubicBezTo>
                    <a:pt x="248539" y="1109980"/>
                    <a:pt x="0" y="861441"/>
                    <a:pt x="0" y="554990"/>
                  </a:cubicBezTo>
                  <a:close/>
                </a:path>
              </a:pathLst>
            </a:custGeom>
            <a:solidFill>
              <a:srgbClr val="1E293B"/>
            </a:solidFill>
            <a:ln w="9525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440180" y="5554980"/>
            <a:ext cx="411480" cy="411480"/>
            <a:chOff x="0" y="0"/>
            <a:chExt cx="548640" cy="54864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468880" y="4800600"/>
            <a:ext cx="7132320" cy="1920240"/>
            <a:chOff x="0" y="0"/>
            <a:chExt cx="9509760" cy="2560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097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509760" cy="261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Smarter counter operations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Operator console, transfers and live monitoring balance the workload.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15816" y="6919436"/>
            <a:ext cx="9066848" cy="1934527"/>
            <a:chOff x="0" y="0"/>
            <a:chExt cx="12089130" cy="25793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089130" cy="2579370"/>
            </a:xfrm>
            <a:custGeom>
              <a:avLst/>
              <a:gdLst/>
              <a:ahLst/>
              <a:cxnLst/>
              <a:rect r="r" b="b" t="t" l="l"/>
              <a:pathLst>
                <a:path h="2579370" w="12089130">
                  <a:moveTo>
                    <a:pt x="0" y="257937"/>
                  </a:moveTo>
                  <a:cubicBezTo>
                    <a:pt x="0" y="115443"/>
                    <a:pt x="115443" y="0"/>
                    <a:pt x="257937" y="0"/>
                  </a:cubicBezTo>
                  <a:lnTo>
                    <a:pt x="11831193" y="0"/>
                  </a:lnTo>
                  <a:cubicBezTo>
                    <a:pt x="11973687" y="0"/>
                    <a:pt x="12089130" y="115443"/>
                    <a:pt x="12089130" y="257937"/>
                  </a:cubicBezTo>
                  <a:lnTo>
                    <a:pt x="12089130" y="2321433"/>
                  </a:lnTo>
                  <a:cubicBezTo>
                    <a:pt x="12089130" y="2463927"/>
                    <a:pt x="11973687" y="2579370"/>
                    <a:pt x="11831193" y="2579370"/>
                  </a:cubicBezTo>
                  <a:lnTo>
                    <a:pt x="257937" y="2579370"/>
                  </a:lnTo>
                  <a:cubicBezTo>
                    <a:pt x="115443" y="2579370"/>
                    <a:pt x="0" y="2463927"/>
                    <a:pt x="0" y="2321433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29677" y="7470457"/>
            <a:ext cx="832485" cy="832485"/>
            <a:chOff x="0" y="0"/>
            <a:chExt cx="1109980" cy="11099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09980" cy="1109980"/>
            </a:xfrm>
            <a:custGeom>
              <a:avLst/>
              <a:gdLst/>
              <a:ahLst/>
              <a:cxnLst/>
              <a:rect r="r" b="b" t="t" l="l"/>
              <a:pathLst>
                <a:path h="1109980" w="1109980">
                  <a:moveTo>
                    <a:pt x="0" y="554990"/>
                  </a:moveTo>
                  <a:cubicBezTo>
                    <a:pt x="0" y="248539"/>
                    <a:pt x="248539" y="0"/>
                    <a:pt x="554990" y="0"/>
                  </a:cubicBezTo>
                  <a:cubicBezTo>
                    <a:pt x="861441" y="0"/>
                    <a:pt x="1109980" y="248539"/>
                    <a:pt x="1109980" y="554990"/>
                  </a:cubicBezTo>
                  <a:cubicBezTo>
                    <a:pt x="1109980" y="861441"/>
                    <a:pt x="861441" y="1109980"/>
                    <a:pt x="554990" y="1109980"/>
                  </a:cubicBezTo>
                  <a:cubicBezTo>
                    <a:pt x="248539" y="1109980"/>
                    <a:pt x="0" y="861441"/>
                    <a:pt x="0" y="554990"/>
                  </a:cubicBezTo>
                  <a:close/>
                </a:path>
              </a:pathLst>
            </a:custGeom>
            <a:solidFill>
              <a:srgbClr val="1E293B"/>
            </a:solidFill>
            <a:ln w="9525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440180" y="7680960"/>
            <a:ext cx="411480" cy="411480"/>
            <a:chOff x="0" y="0"/>
            <a:chExt cx="548640" cy="54864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468880" y="6926580"/>
            <a:ext cx="7132320" cy="1920240"/>
            <a:chOff x="0" y="0"/>
            <a:chExt cx="9509760" cy="25603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097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9509760" cy="261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Ready to scale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Nagarik App, SMS alerts and multi-district rollout come next.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414635" y="2665095"/>
            <a:ext cx="7055358" cy="6191250"/>
            <a:chOff x="0" y="0"/>
            <a:chExt cx="9407144" cy="8255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07144" cy="8255000"/>
            </a:xfrm>
            <a:custGeom>
              <a:avLst/>
              <a:gdLst/>
              <a:ahLst/>
              <a:cxnLst/>
              <a:rect r="r" b="b" t="t" l="l"/>
              <a:pathLst>
                <a:path h="8255000" w="9407144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9150350" y="0"/>
                  </a:lnTo>
                  <a:cubicBezTo>
                    <a:pt x="9292209" y="0"/>
                    <a:pt x="9407144" y="114935"/>
                    <a:pt x="9407144" y="256794"/>
                  </a:cubicBezTo>
                  <a:lnTo>
                    <a:pt x="9407144" y="7998206"/>
                  </a:lnTo>
                  <a:cubicBezTo>
                    <a:pt x="9407144" y="8140065"/>
                    <a:pt x="9292209" y="8255000"/>
                    <a:pt x="9150350" y="8255000"/>
                  </a:cubicBezTo>
                  <a:lnTo>
                    <a:pt x="256794" y="8255000"/>
                  </a:lnTo>
                  <a:cubicBezTo>
                    <a:pt x="114935" y="8255000"/>
                    <a:pt x="0" y="8140065"/>
                    <a:pt x="0" y="7998206"/>
                  </a:cubicBezTo>
                  <a:close/>
                </a:path>
              </a:pathLst>
            </a:custGeom>
            <a:solidFill>
              <a:srgbClr val="2DD4BF"/>
            </a:solidFill>
            <a:ln w="19050" cap="sq">
              <a:solidFill>
                <a:srgbClr val="2DD4BF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1361420" y="4383405"/>
            <a:ext cx="5897880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361420" y="5424487"/>
            <a:ext cx="589788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DAHXCmKZRCE</dc:identifier>
  <dcterms:modified xsi:type="dcterms:W3CDTF">2011-08-01T06:04:30Z</dcterms:modified>
  <cp:revision>1</cp:revision>
  <dc:title>SQMS_DAO_Kathmandu.pptx</dc:title>
</cp:coreProperties>
</file>